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end result, not the steps. Tell them: by the end of this session a server will exist in a data centre, you will log into it, and then you will destroy it. Emphasise that the last part is graded.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to guess how many resources a single VM creates before revealing this list. Most will say one. This slide corrects that assumption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board as well. Students remember what they watch being drawn far better than what appears fully formed on 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this slide back on screen whenever someone is stuck. Nine times out of ten the problem is that they typed a different name somewhere.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who signed up with a personal account and are handed a college tenant will land in the wrong directory. Check this before anyone creates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region question comes up every single time. Pre-empt it: the group's region stores the group's metadata, nothing more. A VM in Central India and a storage account in West Europe can share one resource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estimated monthly cost next to the size. For most students this is the first time they see infrastructure with a visible price tag. Let that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public/private IP distinction is the seed of the entire networking module. Plant it here even though you will not develop it until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CLI block live if the network allows. Three commands after forty clicks is the moment the argument for automation actually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one key away at all times. When three hands go up at once, put it on screen and let them self-diagnose instead of walking to each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cleanup together, on screen, as a class. Do not set it as homework - a third of them will forget and burn their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F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   |   AZ-104   |   PRACTICAL SERIES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103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01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BD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Group and Virtual Machine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3703320"/>
            <a:ext cx="1280160" cy="45720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C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Azure resource two ways - through the portal and through the CLI - then verify it and delete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892040"/>
            <a:ext cx="1737360" cy="384048"/>
          </a:xfrm>
          <a:prstGeom prst="rect">
            <a:avLst/>
          </a:prstGeom>
          <a:solidFill>
            <a:srgbClr val="13405F"/>
          </a:solidFill>
          <a:ln w="9525">
            <a:solidFill>
              <a:srgbClr val="2C5E8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892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BD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steps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4892040"/>
            <a:ext cx="1737360" cy="384048"/>
          </a:xfrm>
          <a:prstGeom prst="rect">
            <a:avLst/>
          </a:prstGeom>
          <a:solidFill>
            <a:srgbClr val="13405F"/>
          </a:solidFill>
          <a:ln w="9525">
            <a:solidFill>
              <a:srgbClr val="2C5E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4892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BD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minutes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4892040"/>
            <a:ext cx="1737360" cy="384048"/>
          </a:xfrm>
          <a:prstGeom prst="rect">
            <a:avLst/>
          </a:prstGeom>
          <a:solidFill>
            <a:srgbClr val="13405F"/>
          </a:solidFill>
          <a:ln w="9525">
            <a:solidFill>
              <a:srgbClr val="2C5E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48920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BD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eligible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8C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IIMT University, Meerut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build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request creates seven resources. Most students assume a virtual machine is a single object. It is 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3977640"/>
          </a:xfrm>
          <a:prstGeom prst="rect">
            <a:avLst/>
          </a:prstGeom>
          <a:solidFill>
            <a:srgbClr val="F7FAFD"/>
          </a:solidFill>
          <a:ln w="19050">
            <a:solidFill>
              <a:srgbClr val="0078D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13232" y="1901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    rg-lab01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630936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E876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40864"/>
            <a:ext cx="201168" cy="201168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43584" y="22402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402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2402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create this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2724912"/>
            <a:ext cx="6309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825496"/>
            <a:ext cx="201168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43584" y="2724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Disk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7249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disk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7249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3209544"/>
            <a:ext cx="6309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10128"/>
            <a:ext cx="201168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43584" y="32095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2095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vm-lab01-vnet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32095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3694176"/>
            <a:ext cx="6309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3794760"/>
            <a:ext cx="201168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43584" y="36941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566160" y="36941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941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7240" y="4178808"/>
            <a:ext cx="6309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279392"/>
            <a:ext cx="201168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43584" y="4178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Interface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41788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vm-lab01-nic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41788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" y="4663440"/>
            <a:ext cx="6309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764024"/>
            <a:ext cx="201168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43584" y="4663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IP Address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566160" y="46634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vm-lab01-ip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46634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" y="5148072"/>
            <a:ext cx="6309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5248656"/>
            <a:ext cx="201168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243584" y="51480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 Group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566160" y="514807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vm-lab01-nsg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0" y="51480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80960" y="1783080"/>
            <a:ext cx="3931920" cy="187452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82128" y="1920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to remember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882128" y="221284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resource in Azure belongs to exactly one resource group. Delete the group and everything inside it is deleted with it - permanently, with no recycle bin.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680960" y="3886200"/>
            <a:ext cx="3931920" cy="1874520"/>
          </a:xfrm>
          <a:prstGeom prst="rect">
            <a:avLst/>
          </a:prstGeom>
          <a:solidFill>
            <a:srgbClr val="FDF0E7"/>
          </a:solidFill>
          <a:ln w="9525">
            <a:solidFill>
              <a:srgbClr val="E876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82128" y="40233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from AWS?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882128" y="431596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has no resource group. Resources sit directly under the account. In Azure the resource group is a real container with real consequences - treat it as a project folder.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resource actually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6400800" cy="786384"/>
          </a:xfrm>
          <a:prstGeom prst="rect">
            <a:avLst/>
          </a:prstGeom>
          <a:solidFill>
            <a:srgbClr val="FFFFFF"/>
          </a:solidFill>
          <a:ln w="22225">
            <a:solidFill>
              <a:srgbClr val="0B2E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28016" cy="786384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4447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 Tenant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7190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organisation's identity directory - users and groups live here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2304288"/>
            <a:ext cx="6149340" cy="786384"/>
          </a:xfrm>
          <a:prstGeom prst="rect">
            <a:avLst/>
          </a:prstGeom>
          <a:solidFill>
            <a:srgbClr val="FFFFFF"/>
          </a:solidFill>
          <a:ln w="22225">
            <a:solidFill>
              <a:srgbClr val="1352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304288"/>
            <a:ext cx="128016" cy="786384"/>
          </a:xfrm>
          <a:prstGeom prst="rect">
            <a:avLst/>
          </a:prstGeom>
          <a:solidFill>
            <a:srgbClr val="13527D"/>
          </a:solidFill>
          <a:ln w="12700">
            <a:solidFill>
              <a:srgbClr val="1352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2377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5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Group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651760"/>
            <a:ext cx="4777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Optional. Applies policy across many subscriptions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00200" y="3236976"/>
            <a:ext cx="5897880" cy="786384"/>
          </a:xfrm>
          <a:prstGeom prst="rect">
            <a:avLst/>
          </a:prstGeom>
          <a:solidFill>
            <a:srgbClr val="FFFFFF"/>
          </a:solidFill>
          <a:ln w="22225">
            <a:solidFill>
              <a:srgbClr val="007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3236976"/>
            <a:ext cx="128016" cy="7863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47088" y="33101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47088" y="3584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billing boundary. Every resource bills to exactly 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57400" y="4169664"/>
            <a:ext cx="5646420" cy="786384"/>
          </a:xfrm>
          <a:prstGeom prst="rect">
            <a:avLst/>
          </a:prstGeom>
          <a:solidFill>
            <a:srgbClr val="FFFFFF"/>
          </a:solidFill>
          <a:ln w="22225">
            <a:solidFill>
              <a:srgbClr val="E876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4169664"/>
            <a:ext cx="128016" cy="786384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04288" y="42428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304288" y="4517136"/>
            <a:ext cx="4274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lifecycle boundary. Delete it, delete everything inside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5102352"/>
            <a:ext cx="5394960" cy="786384"/>
          </a:xfrm>
          <a:prstGeom prst="rect">
            <a:avLst/>
          </a:prstGeom>
          <a:solidFill>
            <a:srgbClr val="FFFFFF"/>
          </a:solidFill>
          <a:ln w="22225">
            <a:solidFill>
              <a:srgbClr val="3A8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5102352"/>
            <a:ext cx="128016" cy="786384"/>
          </a:xfrm>
          <a:prstGeom prst="rect">
            <a:avLst/>
          </a:prstGeom>
          <a:solidFill>
            <a:srgbClr val="3A8F5E"/>
          </a:solidFill>
          <a:ln w="12700">
            <a:solidFill>
              <a:srgbClr val="3A8F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61488" y="5175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761488" y="54498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virtual machine, disk, network or storage account itself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737360"/>
            <a:ext cx="3383280" cy="3017520"/>
          </a:xfrm>
          <a:prstGeom prst="rect">
            <a:avLst/>
          </a:prstGeom>
          <a:solidFill>
            <a:srgbClr val="F4F7FA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49056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this answers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49056" y="22860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am I?  -  Entra ID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pays?  -  Subscription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it live?  -  Resource Group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cannot answer all three about a resource, you do not understand where it is.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Concept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exactly these values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Sixty students using sixty different names makes troubleshooting impossible. Matching names make it trivial.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11064240" cy="365760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719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11064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208483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8483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rg-lab01-&lt;roll number&gt;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08483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 keeps it unique per student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596896"/>
            <a:ext cx="1106424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59689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25968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59689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predictable, easy to type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11064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10896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31089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 India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10896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latency from Meerut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21024"/>
            <a:ext cx="1106424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3621024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62102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Server 22.04 LTS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62102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eligible, widely used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33088"/>
            <a:ext cx="11064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1330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41330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Standard_B1s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13308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vCPU, 1 GB RAM - free tier eligible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645152"/>
            <a:ext cx="11064240" cy="512064"/>
          </a:xfrm>
          <a:prstGeom prst="rect">
            <a:avLst/>
          </a:prstGeom>
          <a:solidFill>
            <a:srgbClr val="F4F7FA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464515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46451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public key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64515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password for an internet-facing Linux VM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157216"/>
            <a:ext cx="11064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5157216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515721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azureuser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0" y="515721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Microsoft documentation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Setup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and confirm your directory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Azure portal in a browser.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the account that holds your subscription.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prompted to choose a directory, pick the one containing your subscription.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account name in the top right corner.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297680"/>
            <a:ext cx="4114800" cy="132588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4074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MOVING 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62686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directory shown top right must be the one holding your subscription. Wrong directory means every resource lands in the wrong place.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2286000"/>
            <a:ext cx="1143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2432304"/>
            <a:ext cx="237744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92824" y="272491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818120" y="2286000"/>
            <a:ext cx="1143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432304"/>
            <a:ext cx="237744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72984" y="272491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098280" y="2286000"/>
            <a:ext cx="1143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2432304"/>
            <a:ext cx="237744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53144" y="272491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378440" y="2286000"/>
            <a:ext cx="1143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35640" y="2432304"/>
            <a:ext cx="237744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3304" y="272491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537960" y="3246120"/>
            <a:ext cx="1143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95160" y="3392424"/>
            <a:ext cx="237744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92824" y="368503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818120" y="3246120"/>
            <a:ext cx="1143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3392424"/>
            <a:ext cx="237744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72984" y="368503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databases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098280" y="3246120"/>
            <a:ext cx="1143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55480" y="3392424"/>
            <a:ext cx="237744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53144" y="368503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378440" y="3246120"/>
            <a:ext cx="1143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35640" y="3392424"/>
            <a:ext cx="237744" cy="23774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433304" y="3685032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6473952" y="4343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resources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473952" y="4617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720" dirty="0"/>
          </a:p>
        </p:txBody>
      </p:sp>
      <p:sp>
        <p:nvSpPr>
          <p:cNvPr id="51" name="Text 49"/>
          <p:cNvSpPr txBox="1"/>
          <p:nvPr/>
        </p:nvSpPr>
        <p:spPr>
          <a:xfrm>
            <a:off x="8668512" y="4617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20" dirty="0"/>
          </a:p>
        </p:txBody>
      </p:sp>
      <p:sp>
        <p:nvSpPr>
          <p:cNvPr id="52" name="Text 50"/>
          <p:cNvSpPr txBox="1"/>
          <p:nvPr/>
        </p:nvSpPr>
        <p:spPr>
          <a:xfrm>
            <a:off x="10314432" y="4617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viewed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6473952" y="4818888"/>
            <a:ext cx="502920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73952" y="4846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recent resources)</a:t>
            </a:r>
            <a:endParaRPr lang="en-US" sz="720" dirty="0"/>
          </a:p>
        </p:txBody>
      </p:sp>
      <p:sp>
        <p:nvSpPr>
          <p:cNvPr id="55" name="Text 53"/>
          <p:cNvSpPr txBox="1"/>
          <p:nvPr/>
        </p:nvSpPr>
        <p:spPr>
          <a:xfrm>
            <a:off x="8668512" y="4846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6" name="Text 54"/>
          <p:cNvSpPr txBox="1"/>
          <p:nvPr/>
        </p:nvSpPr>
        <p:spPr>
          <a:xfrm>
            <a:off x="10314432" y="48463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6473952" y="5047488"/>
            <a:ext cx="502920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78440" y="1261872"/>
            <a:ext cx="1234440" cy="201168"/>
          </a:xfrm>
          <a:prstGeom prst="rect">
            <a:avLst/>
          </a:prstGeom>
          <a:solidFill>
            <a:srgbClr val="1B4E7A"/>
          </a:solidFill>
          <a:ln w="19050">
            <a:solidFill>
              <a:srgbClr val="E8763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378440" y="12618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your.name@...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10076688" y="1243584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076688" y="1243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portal home page. Marker 1 is the account and directory indicator.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you have an active subscription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Subscriptions in the top bar.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and read the Status column.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subscription name - you will select it repeatedly.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4114800" cy="132588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36758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MOVING 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8953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must read Active. If it reads Disabled, Expired or Warned, stop here. Nothing in this lab will work without an active subscription.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5029200"/>
            <a:ext cx="4114800" cy="1325880"/>
          </a:xfrm>
          <a:prstGeom prst="rect">
            <a:avLst/>
          </a:prstGeom>
          <a:solidFill>
            <a:srgbClr val="FDF0E7"/>
          </a:solidFill>
          <a:ln w="9525">
            <a:solidFill>
              <a:srgbClr val="E876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51389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535838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and tenant IDs are identifiers, not secrets - but crop them out before sharing a screenshot. Students copy the habits they see you demonstrate.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&gt;  Subscriptions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73952" y="2121408"/>
            <a:ext cx="21945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37960" y="2121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name...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name</a:t>
            </a:r>
            <a:endParaRPr lang="en-US" sz="720" dirty="0"/>
          </a:p>
        </p:txBody>
      </p:sp>
      <p:sp>
        <p:nvSpPr>
          <p:cNvPr id="31" name="Text 29"/>
          <p:cNvSpPr txBox="1"/>
          <p:nvPr/>
        </p:nvSpPr>
        <p:spPr>
          <a:xfrm>
            <a:off x="8302752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ID</a:t>
            </a:r>
            <a:endParaRPr lang="en-US" sz="720" dirty="0"/>
          </a:p>
        </p:txBody>
      </p:sp>
      <p:sp>
        <p:nvSpPr>
          <p:cNvPr id="32" name="Text 30"/>
          <p:cNvSpPr txBox="1"/>
          <p:nvPr/>
        </p:nvSpPr>
        <p:spPr>
          <a:xfrm>
            <a:off x="9857232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720" dirty="0"/>
          </a:p>
        </p:txBody>
      </p:sp>
      <p:sp>
        <p:nvSpPr>
          <p:cNvPr id="33" name="Text 31"/>
          <p:cNvSpPr txBox="1"/>
          <p:nvPr/>
        </p:nvSpPr>
        <p:spPr>
          <a:xfrm>
            <a:off x="10771632" y="2487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6473952" y="2688336"/>
            <a:ext cx="502920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73952" y="2743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</a:t>
            </a:r>
            <a:endParaRPr lang="en-US" sz="720" dirty="0"/>
          </a:p>
        </p:txBody>
      </p:sp>
      <p:sp>
        <p:nvSpPr>
          <p:cNvPr id="36" name="Text 34"/>
          <p:cNvSpPr txBox="1"/>
          <p:nvPr/>
        </p:nvSpPr>
        <p:spPr>
          <a:xfrm>
            <a:off x="8302752" y="27432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xxxxxxxx - xxxx - ...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9857232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20" dirty="0"/>
          </a:p>
        </p:txBody>
      </p:sp>
      <p:sp>
        <p:nvSpPr>
          <p:cNvPr id="38" name="Text 36"/>
          <p:cNvSpPr txBox="1"/>
          <p:nvPr/>
        </p:nvSpPr>
        <p:spPr>
          <a:xfrm>
            <a:off x="10771632" y="2743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6473952" y="2944368"/>
            <a:ext cx="502920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771632" y="2724912"/>
            <a:ext cx="658368" cy="201168"/>
          </a:xfrm>
          <a:prstGeom prst="rect">
            <a:avLst/>
          </a:prstGeom>
          <a:solidFill>
            <a:srgbClr val="E6F4EA"/>
          </a:solidFill>
          <a:ln w="12700">
            <a:solidFill>
              <a:srgbClr val="3A8F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771632" y="27249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11265408" y="2706624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1265408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955280" y="2724912"/>
            <a:ext cx="1417320" cy="201168"/>
          </a:xfrm>
          <a:prstGeom prst="rect">
            <a:avLst/>
          </a:prstGeom>
          <a:solidFill>
            <a:srgbClr val="FDF0E7"/>
          </a:solidFill>
          <a:ln w="15875">
            <a:solidFill>
              <a:srgbClr val="E876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955280" y="29626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this before sharing</a:t>
            </a:r>
            <a:endParaRPr lang="en-US" sz="6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Subscriptions blade. Status must read Active before you continue.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resource group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Resource groups, then select Create.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subscription.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resource group name from the naming slide.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Central India as the region.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create.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480560"/>
            <a:ext cx="4114800" cy="132588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5902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MOVING 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8097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 here applies only to the group's own metadata. Resources inside it can live in other regions. Every class asks this - answer it before they 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&gt;  Resource groups  &gt;  Create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resource group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2139696"/>
            <a:ext cx="44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73952" y="2359152"/>
            <a:ext cx="358445" cy="0"/>
          </a:xfrm>
          <a:prstGeom prst="line">
            <a:avLst/>
          </a:prstGeom>
          <a:noFill/>
          <a:ln w="22225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15277" y="2139696"/>
            <a:ext cx="336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443216" y="21396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create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276148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*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473952" y="2916936"/>
            <a:ext cx="35661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2916936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9857232" y="2916936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6473952" y="331012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 *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473952" y="3465576"/>
            <a:ext cx="3566160" cy="237744"/>
          </a:xfrm>
          <a:prstGeom prst="rect">
            <a:avLst/>
          </a:prstGeom>
          <a:solidFill>
            <a:srgbClr val="FFFFFF"/>
          </a:solidFill>
          <a:ln w="22225">
            <a:solidFill>
              <a:srgbClr val="E876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3465576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rg-lab01-2301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0186416" y="3401568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86416" y="3401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73952" y="3913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details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473952" y="41879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*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473952" y="4343400"/>
            <a:ext cx="3566160" cy="237744"/>
          </a:xfrm>
          <a:prstGeom prst="rect">
            <a:avLst/>
          </a:prstGeom>
          <a:solidFill>
            <a:srgbClr val="FFFFFF"/>
          </a:solidFill>
          <a:ln w="22225">
            <a:solidFill>
              <a:srgbClr val="E8763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4343400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(Asia Pacific) Central India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9857232" y="4343400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0186416" y="4279392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186416" y="4279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73952" y="5349240"/>
            <a:ext cx="1234440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5349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create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845552" y="5349240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45552" y="5349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1: the name must be unique in your subscription. Marker 2: metadata region only.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virtual machine wizard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Virtual machines, then Create, then Azure virtual machine.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same subscription.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resource group you just created.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virtual machine name and region.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160520"/>
            <a:ext cx="4114800" cy="132588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2702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MOVING 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48970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resource group dropdown must list the group from Step 3. If it is empty, that group was created under a different subscription.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&gt;  Virtual machines  &gt;  Create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virtual machine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2139696"/>
            <a:ext cx="44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73952" y="2359152"/>
            <a:ext cx="358445" cy="0"/>
          </a:xfrm>
          <a:prstGeom prst="line">
            <a:avLst/>
          </a:prstGeom>
          <a:noFill/>
          <a:ln w="22225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15277" y="213969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499909" y="213969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8268005" y="213969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9036101" y="21396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create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details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473952" y="274320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*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473952" y="2898648"/>
            <a:ext cx="3840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37960" y="289864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2898648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6473952" y="32552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 *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73952" y="3410712"/>
            <a:ext cx="3840480" cy="237744"/>
          </a:xfrm>
          <a:prstGeom prst="rect">
            <a:avLst/>
          </a:prstGeom>
          <a:solidFill>
            <a:srgbClr val="FFFFFF"/>
          </a:solidFill>
          <a:ln w="22225">
            <a:solidFill>
              <a:srgbClr val="E876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341071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rg-lab01-2301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10131552" y="3410712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479024" y="3346704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479024" y="3346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473952" y="3840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details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473952" y="409651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 name *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473952" y="4251960"/>
            <a:ext cx="3840480" cy="237744"/>
          </a:xfrm>
          <a:prstGeom prst="rect">
            <a:avLst/>
          </a:prstGeom>
          <a:solidFill>
            <a:srgbClr val="FFFFFF"/>
          </a:solidFill>
          <a:ln w="22225">
            <a:solidFill>
              <a:srgbClr val="E876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37960" y="425196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vm-lab01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479024" y="4187952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479024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473952" y="46085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*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473952" y="4764024"/>
            <a:ext cx="3840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37960" y="476402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(Asia Pacific) Central India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10131552" y="4764024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6473952" y="51206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options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473952" y="5276088"/>
            <a:ext cx="3840480" cy="237744"/>
          </a:xfrm>
          <a:prstGeom prst="rect">
            <a:avLst/>
          </a:prstGeom>
          <a:solidFill>
            <a:srgbClr val="F2F5F8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37960" y="527608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infrastructure redundancy required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10131552" y="5276088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 tab, upper half. Everything below scrolls - continue on the next slide.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Image, size and authentication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down on the same Basics tab.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Ubuntu 22.04 LTS image.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Standard_B1s size and read the price beside it.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SSH public key authentication.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username to azureuser.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480560"/>
            <a:ext cx="4114800" cy="1325880"/>
          </a:xfrm>
          <a:prstGeom prst="rect">
            <a:avLst/>
          </a:prstGeom>
          <a:solidFill>
            <a:srgbClr val="FDF0E7"/>
          </a:solidFill>
          <a:ln w="9525">
            <a:solidFill>
              <a:srgbClr val="E87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5902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8097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offers password authentication too. Do not use it. A password-protected Linux VM open on port 22 starts receiving automated login attempts within hours.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&gt;  Virtual machines  &gt;  Create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virtual machine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2139696"/>
            <a:ext cx="44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473952" y="2359152"/>
            <a:ext cx="358445" cy="0"/>
          </a:xfrm>
          <a:prstGeom prst="line">
            <a:avLst/>
          </a:prstGeom>
          <a:noFill/>
          <a:ln w="22225">
            <a:solidFill>
              <a:srgbClr val="0078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15277" y="213969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499909" y="213969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8268005" y="213969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9036101" y="21396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create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6473952" y="248716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*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473952" y="2642616"/>
            <a:ext cx="3840480" cy="237744"/>
          </a:xfrm>
          <a:prstGeom prst="rect">
            <a:avLst/>
          </a:prstGeom>
          <a:solidFill>
            <a:srgbClr val="FFFFFF"/>
          </a:solidFill>
          <a:ln w="22225">
            <a:solidFill>
              <a:srgbClr val="E876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37960" y="2642616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Server 22.04 LTS - x64 Gen2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10131552" y="2642616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479024" y="2578608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79024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29992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*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473952" y="3154680"/>
            <a:ext cx="3840480" cy="237744"/>
          </a:xfrm>
          <a:prstGeom prst="rect">
            <a:avLst/>
          </a:prstGeom>
          <a:solidFill>
            <a:srgbClr val="FFFFFF"/>
          </a:solidFill>
          <a:ln w="22225">
            <a:solidFill>
              <a:srgbClr val="E876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37960" y="315468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Standard_B1s - 1 vcpu, 1 GiB memory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10131552" y="3154680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479024" y="3090672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479024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473952" y="34015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 shown here</a:t>
            </a:r>
            <a:endParaRPr lang="en-US" sz="680" dirty="0"/>
          </a:p>
        </p:txBody>
      </p:sp>
      <p:sp>
        <p:nvSpPr>
          <p:cNvPr id="44" name="Text 42"/>
          <p:cNvSpPr txBox="1"/>
          <p:nvPr/>
        </p:nvSpPr>
        <p:spPr>
          <a:xfrm>
            <a:off x="6473952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account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473952" y="38953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type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473952" y="4142232"/>
            <a:ext cx="109728" cy="1097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38544" y="4114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public key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138160" y="414223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E9B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02752" y="4114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0479024" y="4059936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479024" y="4059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473952" y="438912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*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473952" y="4544568"/>
            <a:ext cx="3840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37960" y="454456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azureuser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6473952" y="490118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public key source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473952" y="5056632"/>
            <a:ext cx="3840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537960" y="505663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new key pair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10131552" y="5056632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6473952" y="541324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pair name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473952" y="5568696"/>
            <a:ext cx="38404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537960" y="5568696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vm-lab01_key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3: SSH key, never password. This is what the exam expects and what production requires.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Review, validate and create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the Review + create tab.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the validation result.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cost estimate and the configuration summary.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Create.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4023360"/>
            <a:ext cx="4114800" cy="132588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1330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MOVING 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3525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must say Validation passed. If it fails, the message names the exact field that is wrong. Read it rather than starting the wizard again.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&gt;  Virtual machines  &gt;  Create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virtual machine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2139696"/>
            <a:ext cx="44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Basics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7015277" y="2139696"/>
            <a:ext cx="393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Disks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7499909" y="213969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268005" y="213969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9036101" y="213969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+ create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036101" y="2359152"/>
            <a:ext cx="868680" cy="0"/>
          </a:xfrm>
          <a:prstGeom prst="line">
            <a:avLst/>
          </a:prstGeom>
          <a:noFill/>
          <a:ln w="22225">
            <a:solidFill>
              <a:srgbClr val="007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2505456"/>
            <a:ext cx="4846320" cy="384048"/>
          </a:xfrm>
          <a:prstGeom prst="rect">
            <a:avLst/>
          </a:prstGeom>
          <a:solidFill>
            <a:srgbClr val="E6F4EA"/>
          </a:solidFill>
          <a:ln w="15875">
            <a:solidFill>
              <a:srgbClr val="3A8F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2606040"/>
            <a:ext cx="182880" cy="182880"/>
          </a:xfrm>
          <a:prstGeom prst="ellipse">
            <a:avLst/>
          </a:prstGeom>
          <a:solidFill>
            <a:srgbClr val="3A8F5E"/>
          </a:solidFill>
          <a:ln w="12700">
            <a:solidFill>
              <a:srgbClr val="3A8F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25054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passed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375136" y="2578608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375136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73952" y="3017520"/>
            <a:ext cx="4846320" cy="457200"/>
          </a:xfrm>
          <a:prstGeom prst="rect">
            <a:avLst/>
          </a:prstGeom>
          <a:solidFill>
            <a:srgbClr val="FDF0E7"/>
          </a:solidFill>
          <a:ln w="15875">
            <a:solidFill>
              <a:srgbClr val="E876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20256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   Rs. 0.65/hour    Subscription credits apply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1375136" y="3127248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375136" y="3127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473952" y="36210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473952" y="3895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720" dirty="0"/>
          </a:p>
        </p:txBody>
      </p:sp>
      <p:sp>
        <p:nvSpPr>
          <p:cNvPr id="42" name="Text 40"/>
          <p:cNvSpPr txBox="1"/>
          <p:nvPr/>
        </p:nvSpPr>
        <p:spPr>
          <a:xfrm>
            <a:off x="8485632" y="38953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for Students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6473952" y="4096512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73952" y="41513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</a:t>
            </a:r>
            <a:endParaRPr lang="en-US" sz="720" dirty="0"/>
          </a:p>
        </p:txBody>
      </p:sp>
      <p:sp>
        <p:nvSpPr>
          <p:cNvPr id="45" name="Text 43"/>
          <p:cNvSpPr txBox="1"/>
          <p:nvPr/>
        </p:nvSpPr>
        <p:spPr>
          <a:xfrm>
            <a:off x="8485632" y="41513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rg-lab01-2301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473952" y="4352544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44074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 name</a:t>
            </a:r>
            <a:endParaRPr lang="en-US" sz="720" dirty="0"/>
          </a:p>
        </p:txBody>
      </p:sp>
      <p:sp>
        <p:nvSpPr>
          <p:cNvPr id="48" name="Text 46"/>
          <p:cNvSpPr txBox="1"/>
          <p:nvPr/>
        </p:nvSpPr>
        <p:spPr>
          <a:xfrm>
            <a:off x="8485632" y="4407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vm-lab01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6473952" y="4608576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73952" y="4663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720" dirty="0"/>
          </a:p>
        </p:txBody>
      </p:sp>
      <p:sp>
        <p:nvSpPr>
          <p:cNvPr id="51" name="Text 49"/>
          <p:cNvSpPr txBox="1"/>
          <p:nvPr/>
        </p:nvSpPr>
        <p:spPr>
          <a:xfrm>
            <a:off x="8485632" y="4663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India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473952" y="4864608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73952" y="49194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720" dirty="0"/>
          </a:p>
        </p:txBody>
      </p:sp>
      <p:sp>
        <p:nvSpPr>
          <p:cNvPr id="54" name="Text 52"/>
          <p:cNvSpPr txBox="1"/>
          <p:nvPr/>
        </p:nvSpPr>
        <p:spPr>
          <a:xfrm>
            <a:off x="8485632" y="49194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Server 22.04 LTS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6473952" y="5120640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73952" y="5175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720" dirty="0"/>
          </a:p>
        </p:txBody>
      </p:sp>
      <p:sp>
        <p:nvSpPr>
          <p:cNvPr id="57" name="Text 55"/>
          <p:cNvSpPr txBox="1"/>
          <p:nvPr/>
        </p:nvSpPr>
        <p:spPr>
          <a:xfrm>
            <a:off x="8485632" y="51755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Standard_B1s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6473952" y="5376672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73952" y="5559552"/>
            <a:ext cx="914400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73952" y="5559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516368" y="5559552"/>
            <a:ext cx="914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516368" y="5559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1: validation must pass. Marker 2: the price, before you commit to it.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private key - you get one chance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prompts you to download the generated private key.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it and save it somewhere you will find again.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then does deployment begin.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4114800" cy="1325880"/>
          </a:xfrm>
          <a:prstGeom prst="rect">
            <a:avLst/>
          </a:prstGeom>
          <a:solidFill>
            <a:srgbClr val="FDF0E7"/>
          </a:solidFill>
          <a:ln w="9525">
            <a:solidFill>
              <a:srgbClr val="E87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36758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8953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dialog appears exactly once. Miss it and the VM still deploys - but you will never be able to connect to it. Announce this to the class BEFORE they reach this step, not after.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2578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key is the only thing that proves you are you. Azure keeps the public half on the virtual machine and never stores your private half.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&gt;  Virtual machines  &gt;  Create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0" y="1517904"/>
            <a:ext cx="6675120" cy="4398264"/>
          </a:xfrm>
          <a:prstGeom prst="rect">
            <a:avLst/>
          </a:prstGeom>
          <a:solidFill>
            <a:srgbClr val="1B2733">
              <a:alpha val="38000"/>
            </a:srgbClr>
          </a:solidFill>
          <a:ln w="12700">
            <a:solidFill>
              <a:srgbClr val="1B27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46888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2940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new key pair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0175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key pair will be generated. Download the private key now - you will not be able to download it again after the deployment starts.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29400" y="3794760"/>
            <a:ext cx="2514600" cy="292608"/>
          </a:xfrm>
          <a:prstGeom prst="rect">
            <a:avLst/>
          </a:prstGeom>
          <a:solidFill>
            <a:srgbClr val="0078D4"/>
          </a:solidFill>
          <a:ln w="25400">
            <a:solidFill>
              <a:srgbClr val="E876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3794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private key and create resource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9253728" y="3813048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53728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29400" y="4206240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8E9B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29400" y="4206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moment in the lab that cannot be undone.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deployment build seven resources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takes one to three minutes.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Deployment details and expand the operations list.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resources being created.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3794760"/>
            <a:ext cx="4114800" cy="132588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3904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MOVING 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12394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instructive screen in the lab. Do not click past it. Ask the class how many resources they expected - then let them count what actually appears.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&gt;  Deployments  &gt;  CreateVm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is in progress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73952" y="2121408"/>
            <a:ext cx="4846320" cy="365760"/>
          </a:xfrm>
          <a:prstGeom prst="rect">
            <a:avLst/>
          </a:prstGeom>
          <a:solidFill>
            <a:srgbClr val="E8F2FB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0256" y="2121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name: CreateVm-...    Start time: 10:42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26334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details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473952" y="2907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720" dirty="0"/>
          </a:p>
        </p:txBody>
      </p:sp>
      <p:sp>
        <p:nvSpPr>
          <p:cNvPr id="29" name="Text 27"/>
          <p:cNvSpPr txBox="1"/>
          <p:nvPr/>
        </p:nvSpPr>
        <p:spPr>
          <a:xfrm>
            <a:off x="8577072" y="29077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20" dirty="0"/>
          </a:p>
        </p:txBody>
      </p:sp>
      <p:sp>
        <p:nvSpPr>
          <p:cNvPr id="30" name="Text 28"/>
          <p:cNvSpPr txBox="1"/>
          <p:nvPr/>
        </p:nvSpPr>
        <p:spPr>
          <a:xfrm>
            <a:off x="10497312" y="29077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473952" y="3108960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73952" y="3163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8577072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Microsoft.Compute/virtualMachines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0625328" y="3200400"/>
            <a:ext cx="621792" cy="201168"/>
          </a:xfrm>
          <a:prstGeom prst="rect">
            <a:avLst/>
          </a:prstGeom>
          <a:solidFill>
            <a:srgbClr val="E6F4EA"/>
          </a:solidFill>
          <a:ln w="9525">
            <a:solidFill>
              <a:srgbClr val="3A8F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25328" y="32004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6473952" y="3438144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73952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vm-lab01-nic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577072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Microsoft.Network/networkInterfaces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625328" y="3511296"/>
            <a:ext cx="621792" cy="201168"/>
          </a:xfrm>
          <a:prstGeom prst="rect">
            <a:avLst/>
          </a:prstGeom>
          <a:solidFill>
            <a:srgbClr val="E6F4EA"/>
          </a:solidFill>
          <a:ln w="9525">
            <a:solidFill>
              <a:srgbClr val="3A8F5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625328" y="351129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6473952" y="3749040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73952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vm-lab01-nsg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8577072" y="37856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Microsoft.Network/networkSecurityGroups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0625328" y="3822192"/>
            <a:ext cx="621792" cy="201168"/>
          </a:xfrm>
          <a:prstGeom prst="rect">
            <a:avLst/>
          </a:prstGeom>
          <a:solidFill>
            <a:srgbClr val="E6F4EA"/>
          </a:solidFill>
          <a:ln w="9525">
            <a:solidFill>
              <a:srgbClr val="3A8F5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625328" y="38221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6473952" y="4059936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vm-lab01-ip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8577072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Microsoft.Network/publicIPAddresses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0625328" y="4133088"/>
            <a:ext cx="621792" cy="201168"/>
          </a:xfrm>
          <a:prstGeom prst="rect">
            <a:avLst/>
          </a:prstGeom>
          <a:solidFill>
            <a:srgbClr val="E6F4EA"/>
          </a:solidFill>
          <a:ln w="9525">
            <a:solidFill>
              <a:srgbClr val="3A8F5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625328" y="413308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6473952" y="4370832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73952" y="4407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vm-lab01-vnet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8577072" y="4407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Microsoft.Network/virtualNetworks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0625328" y="4443984"/>
            <a:ext cx="621792" cy="201168"/>
          </a:xfrm>
          <a:prstGeom prst="rect">
            <a:avLst/>
          </a:prstGeom>
          <a:solidFill>
            <a:srgbClr val="E6F4EA"/>
          </a:solidFill>
          <a:ln w="9525">
            <a:solidFill>
              <a:srgbClr val="3A8F5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625328" y="444398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6473952" y="4681728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73952" y="47183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vm-lab01_OsDisk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8577072" y="4718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Microsoft.Compute/disks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0625328" y="4754880"/>
            <a:ext cx="621792" cy="201168"/>
          </a:xfrm>
          <a:prstGeom prst="rect">
            <a:avLst/>
          </a:prstGeom>
          <a:solidFill>
            <a:srgbClr val="E6F4EA"/>
          </a:solidFill>
          <a:ln w="9525">
            <a:solidFill>
              <a:srgbClr val="3A8F5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625328" y="47548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6473952" y="4992624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73952" y="5166360"/>
            <a:ext cx="4846320" cy="384048"/>
          </a:xfrm>
          <a:prstGeom prst="rect">
            <a:avLst/>
          </a:prstGeom>
          <a:solidFill>
            <a:srgbClr val="FDF0E7"/>
          </a:solidFill>
          <a:ln w="15875">
            <a:solidFill>
              <a:srgbClr val="E8763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620256" y="5166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supporting resources from one request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in the wizard, seven objects in the data centre.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4023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VM and connect to 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207008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Go to resource.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status, the public IP and the private IP.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from your terminal using the downloaded key.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2834640"/>
            <a:ext cx="4114800" cy="1481328"/>
          </a:xfrm>
          <a:prstGeom prst="rect">
            <a:avLst/>
          </a:prstGeom>
          <a:solidFill>
            <a:srgbClr val="16232E"/>
          </a:solidFill>
          <a:ln w="12700">
            <a:solidFill>
              <a:srgbClr val="1623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980944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400 vm-lab01_key.pem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vm-lab01_key.pem \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azureuser@&lt;public-ip&gt;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4526280"/>
            <a:ext cx="4114800" cy="132588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6360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MOVING ON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85546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hanging? Check in this order: NSG blocking port 22, campus network blocking outbound SSH, key file permissions, wrong username.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207008"/>
            <a:ext cx="667512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0DC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207008"/>
            <a:ext cx="6675120" cy="310896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8072" y="1225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1271016"/>
            <a:ext cx="2377440" cy="192024"/>
          </a:xfrm>
          <a:prstGeom prst="roundRect">
            <a:avLst>
              <a:gd name="adj" fmla="val 14286"/>
            </a:avLst>
          </a:prstGeom>
          <a:solidFill>
            <a:srgbClr val="1B4E7A"/>
          </a:solidFill>
          <a:ln w="6350">
            <a:solidFill>
              <a:srgbClr val="2F6C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84848" y="1271016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9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resources, services and docs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0" y="1517904"/>
            <a:ext cx="1325880" cy="43982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1627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18470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2066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2286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accounts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5054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networks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27249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355080" y="1517904"/>
            <a:ext cx="0" cy="4398264"/>
          </a:xfrm>
          <a:prstGeom prst="line">
            <a:avLst/>
          </a:prstGeom>
          <a:noFill/>
          <a:ln w="9525">
            <a:solidFill>
              <a:srgbClr val="C3D0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159105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&gt;  Virtual machines  &gt;  vm-lab01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1737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vm-lab01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73952" y="2139696"/>
            <a:ext cx="589788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2139696"/>
            <a:ext cx="5897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370064" y="2139696"/>
            <a:ext cx="452628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70064" y="2139696"/>
            <a:ext cx="452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266176" y="2139696"/>
            <a:ext cx="589788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66176" y="2139696"/>
            <a:ext cx="5897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9162288" y="2139696"/>
            <a:ext cx="384048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62288" y="21396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058400" y="2139696"/>
            <a:ext cx="521208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FBCC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0" y="2139696"/>
            <a:ext cx="521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3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2523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473952" y="2779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27797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rg-lab01-2301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73952" y="3054096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73952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8412480" y="3127248"/>
            <a:ext cx="685800" cy="201168"/>
          </a:xfrm>
          <a:prstGeom prst="rect">
            <a:avLst/>
          </a:prstGeom>
          <a:solidFill>
            <a:srgbClr val="E6F4EA"/>
          </a:solidFill>
          <a:ln w="9525">
            <a:solidFill>
              <a:srgbClr val="3A8F5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12480" y="31272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77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9217152" y="3108960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17152" y="3108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73952" y="3364992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34015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8412480" y="3401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India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473952" y="3675888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73952" y="3712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8412480" y="3712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Standard_B1s (1 vcpu, 1 GiB)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473952" y="3986784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73952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8412480" y="4023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(ubuntu 22.04)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473952" y="4297680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73952" y="4334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IP address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8412480" y="4334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20.xxx.xxx.xxx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473952" y="4608576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73952" y="4645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IP address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8412480" y="4645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10.0.0.4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473952" y="4919472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473952" y="4956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network / subnet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8412480" y="4956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vm-lab01-vnet / default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473952" y="5230368"/>
            <a:ext cx="4846320" cy="0"/>
          </a:xfrm>
          <a:prstGeom prst="line">
            <a:avLst/>
          </a:prstGeom>
          <a:noFill/>
          <a:ln w="6350">
            <a:solidFill>
              <a:srgbClr val="E2E9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320272" y="4498848"/>
            <a:ext cx="237744" cy="237744"/>
          </a:xfrm>
          <a:prstGeom prst="ellipse">
            <a:avLst/>
          </a:prstGeom>
          <a:solidFill>
            <a:srgbClr val="E8763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1320272" y="4498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6473952" y="5376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reaches it from outside.  Private is how other resources in the VNet reach it.</a:t>
            </a:r>
            <a:endParaRPr lang="en-US" sz="750" dirty="0"/>
          </a:p>
        </p:txBody>
      </p:sp>
      <p:sp>
        <p:nvSpPr>
          <p:cNvPr id="68" name="Text 66"/>
          <p:cNvSpPr txBox="1"/>
          <p:nvPr/>
        </p:nvSpPr>
        <p:spPr>
          <a:xfrm>
            <a:off x="5029200" y="60533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1: status must read Running. Marker 2: two IP addresses, two different purposes.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 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 in three commands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clicks, or three commands that can be saved, reviewed, repeated and put into version control. This is how infrastructure is actually managed.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confirm your context first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394960" cy="868680"/>
          </a:xfrm>
          <a:prstGeom prst="rect">
            <a:avLst/>
          </a:prstGeom>
          <a:solidFill>
            <a:srgbClr val="16232E"/>
          </a:solidFill>
          <a:ln w="12700">
            <a:solidFill>
              <a:srgbClr val="1623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762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account show --output table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account set --subscription "&lt;name&gt;"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906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build everything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5394960" cy="2697480"/>
          </a:xfrm>
          <a:prstGeom prst="rect">
            <a:avLst/>
          </a:prstGeom>
          <a:solidFill>
            <a:srgbClr val="16232E"/>
          </a:solidFill>
          <a:ln w="12700">
            <a:solidFill>
              <a:srgbClr val="1623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11296"/>
            <a:ext cx="5029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create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 rg-lab01-cli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--location centralindia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vm create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--resource-group rg-lab01-cli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 vm-lab01-cli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--image Ubuntu2204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--size Standard_B1s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--admin-username azureuser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--generate-ssh-keys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vm open-port -g rg-lab01-cli \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D6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-n vm-lab01-cli --port 22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5303520" cy="182880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9019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run these?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231136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Shell, from the portal toolbar. Choose Bash. The Azure CLI is already installed and already signed in as you - there is nothing to configure on the college machines, which is exactly why we use it in class.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303520" cy="2350008"/>
          </a:xfrm>
          <a:prstGeom prst="rect">
            <a:avLst/>
          </a:prstGeom>
          <a:solidFill>
            <a:srgbClr val="FDF0E7"/>
          </a:solidFill>
          <a:ln w="9525">
            <a:solidFill>
              <a:srgbClr val="E87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9136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to ask the class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2428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i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you had to build this fifty times, which method would you choose?"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answer it for them. That question is the entire argument for infrastructure as code, and they will arrive at it themselves in about four seconds.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Steps 10-11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looked right is not the same as it worked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384048"/>
          </a:xfrm>
          <a:prstGeom prst="rect">
            <a:avLst/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check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11064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8653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resource group exists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186537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list --output table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6537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lab groups listed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11064240" cy="603504"/>
          </a:xfrm>
          <a:prstGeom prst="rect">
            <a:avLst/>
          </a:prstGeom>
          <a:solidFill>
            <a:srgbClr val="F4F7FA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VM is running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46888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vm list -d --output table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4688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PowerState: VM running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11064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7238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 IP is assigned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07238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vm list-ip-addresses -o table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07238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address is shown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75888"/>
            <a:ext cx="11064240" cy="603504"/>
          </a:xfrm>
          <a:prstGeom prst="rect">
            <a:avLst/>
          </a:prstGeom>
          <a:solidFill>
            <a:srgbClr val="F4F7FA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6758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works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67588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&lt;key&gt; azureuser@&lt;ip&gt;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67588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reach a shell prompt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11064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27939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resources exist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427939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resource list -g rg-lab01-cli -o table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27939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Disk, NIC, IP, NSG, VNet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E8F2FB"/>
          </a:solidFill>
          <a:ln w="9525">
            <a:solidFill>
              <a:srgbClr val="007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1937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verification a habit, not a step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44982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 nobody asks whether the screen looked correct. They ask what the command returned. Students who learn to verify now will not deploy broken infrastructure later.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Verify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actually go wrong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252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sixty students, you will see all six of these in the first session. Knowing them in advance saves the class.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19072"/>
            <a:ext cx="91440" cy="658368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7190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 exceeded for this region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7190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subscription's core limit for that VM family is reached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7190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region, smaller size, or request a quota increase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91440" cy="658368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4688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not available in this region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4688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size exists in every region or zone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2468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another size or another region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218688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18688"/>
            <a:ext cx="91440" cy="658368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2186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denied (publickey)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2186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key, wrong username, or permissions too open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321868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chmod 400 the key, confirm username is azureuser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968496"/>
            <a:ext cx="91440" cy="658368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96849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times out on port 22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9684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NSG blocking it, or the campus network blocks outbound SSH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96849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vm open-port, or use the browser-based connection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18304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18304"/>
            <a:ext cx="91440" cy="658368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7183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not found in Cloud Shell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47183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in to a directory that lacks the subscription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471830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directory in the portal, reopen Cloud Shell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468112"/>
            <a:ext cx="11064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468112"/>
            <a:ext cx="91440" cy="658368"/>
          </a:xfrm>
          <a:prstGeom prst="rect">
            <a:avLst/>
          </a:prstGeom>
          <a:solidFill>
            <a:srgbClr val="E8763A"/>
          </a:solidFill>
          <a:ln w="12700">
            <a:solidFill>
              <a:srgbClr val="E876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46811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group name already exists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114800" y="546811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must be unique within a subscription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54681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the roll number, as the naming slide says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Errors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A12"/>
          </a:solidFill>
          <a:ln w="12700">
            <a:solidFill>
              <a:srgbClr val="2A1A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0A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SKIP THIS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everything you made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9B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B1s virtual machine left running for a month consumes a real share of your free credit. The disk keeps costing money even when the machine is stopped.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852160" cy="1371600"/>
          </a:xfrm>
          <a:prstGeom prst="rect">
            <a:avLst/>
          </a:prstGeom>
          <a:solidFill>
            <a:srgbClr val="16100C"/>
          </a:solidFill>
          <a:ln w="9525">
            <a:solidFill>
              <a:srgbClr val="4A32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926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0C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delete --name rg-lab01-cli --yes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0C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delete --name rg-lab01-2301 --yes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0C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list --output table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43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B79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open Cost Management and show the class what this lab actually cost. Usually a very small amount - and that number teaches the billing model better than any explanation.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288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states students confuse constantly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2286000"/>
            <a:ext cx="4389120" cy="914400"/>
          </a:xfrm>
          <a:prstGeom prst="rect">
            <a:avLst/>
          </a:prstGeom>
          <a:solidFill>
            <a:srgbClr val="16100C"/>
          </a:solidFill>
          <a:ln w="19050">
            <a:solidFill>
              <a:srgbClr val="B33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24928" y="2414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Stopped from inside the OS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24928" y="27249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still billed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3383280"/>
            <a:ext cx="4389120" cy="914400"/>
          </a:xfrm>
          <a:prstGeom prst="rect">
            <a:avLst/>
          </a:prstGeom>
          <a:solidFill>
            <a:srgbClr val="16100C"/>
          </a:solidFill>
          <a:ln w="19050">
            <a:solidFill>
              <a:srgbClr val="C9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24928" y="3511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Deallocated from the portal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24928" y="3822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stops, disk still billed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4480560"/>
            <a:ext cx="4389120" cy="914400"/>
          </a:xfrm>
          <a:prstGeom prst="rect">
            <a:avLst/>
          </a:prstGeom>
          <a:solidFill>
            <a:srgbClr val="16100C"/>
          </a:solidFill>
          <a:ln w="19050">
            <a:solidFill>
              <a:srgbClr val="3A8F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24928" y="4608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24928" y="4919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8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charges stop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Cleanup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being marked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19072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55448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Overview blade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554480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Running status, with the subscription ID cropped out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1064240" cy="694944"/>
          </a:xfrm>
          <a:prstGeom prst="rect">
            <a:avLst/>
          </a:prstGeom>
          <a:solidFill>
            <a:srgbClr val="F4F7FA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523744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359152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operations list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359152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every resource that was created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328416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163824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output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163824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vm list -d --output table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68496"/>
            <a:ext cx="11064240" cy="694944"/>
          </a:xfrm>
          <a:prstGeom prst="rect">
            <a:avLst/>
          </a:prstGeom>
          <a:solidFill>
            <a:srgbClr val="F4F7FA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133088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968496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cleanup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968496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resource groups gone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73168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937760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47731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written answer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77316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each automatic resource and say why it was needed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669280"/>
            <a:ext cx="11064240" cy="566928"/>
          </a:xfrm>
          <a:prstGeom prst="rect">
            <a:avLst/>
          </a:prstGeom>
          <a:solidFill>
            <a:srgbClr val="FDF0E7"/>
          </a:solidFill>
          <a:ln w="9525">
            <a:solidFill>
              <a:srgbClr val="E876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lab:  Storage accounts, Blob storage, redundancy options and shared access signatures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6419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01  |  Assessment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Lab 01 - Resource Group and Virtual Machine</dc:title>
  <dc:subject>PptxGenJS Presentation</dc:subject>
  <dc:creator>IIMT University, Meerut</dc:creator>
  <cp:lastModifiedBy>IIMT University, Meerut</cp:lastModifiedBy>
  <cp:revision>1</cp:revision>
  <dcterms:created xsi:type="dcterms:W3CDTF">2026-09-14T13:12:02Z</dcterms:created>
  <dcterms:modified xsi:type="dcterms:W3CDTF">2026-09-14T13:12:02Z</dcterms:modified>
</cp:coreProperties>
</file>