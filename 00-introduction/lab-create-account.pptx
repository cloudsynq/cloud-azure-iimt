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at the start: this session is not exciting, but it is the one that decides whether the next twelve labs work. Tell them plainly that anyone without an active subscription at the end of today will be paired with someone who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do not click the big green Start Free button on the main Azure page. That is the card-required route. Go to the students page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the under-18 question before anyone starts. It is easier to handle three students quietly at the start than to discover them mid-session.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both routes yourself before this class - personal Microsoft account with college email verification, and the college account directly. Whichever worked for you, teach that one as the default and keep the other as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write the account they used on the front page of their notebook. In week six someone will have forgotten, and that is a lost session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college mail domain on the board before this step so nobody types it wrong. A single character error here looks like a rejection and students give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one key away. When five hands go up at once, put it on screen and let them self-diagnose instead of walking desk to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let a student who cannot get an account simply sit and watch for three months. Pair them deliberately on day one and give the unpaired partner the CLI half of every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and physically confirm the Active status on each screen before the session ends. Do not accept a nod. Next week is too late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E4F"/>
          </a:solidFill>
          <a:ln w="12700">
            <a:solidFill>
              <a:srgbClr val="0B2E4F"/>
            </a:solidFill>
            <a:prstDash val="solid"/>
          </a:ln>
        </p:spPr>
      </p:sp>
      <p:sp>
        <p:nvSpPr>
          <p:cNvPr id="3" name="Text 1"/>
          <p:cNvSpPr txBox="1"/>
          <p:nvPr/>
        </p:nvSpPr>
        <p:spPr>
          <a:xfrm>
            <a:off x="914400" y="1691640"/>
            <a:ext cx="10058400" cy="274320"/>
          </a:xfrm>
          <a:prstGeom prst="rect">
            <a:avLst/>
          </a:prstGeom>
          <a:noFill/>
          <a:ln/>
        </p:spPr>
        <p:txBody>
          <a:bodyPr wrap="square" lIns="0" tIns="0" rIns="0" bIns="0" rtlCol="0" anchor="ctr"/>
          <a:lstStyle/>
          <a:p>
            <a:pPr indent="0" marL="0">
              <a:buNone/>
            </a:pPr>
            <a:r>
              <a:rPr lang="en-US" sz="1200" b="1" spc="250" kern="0" dirty="0">
                <a:solidFill>
                  <a:srgbClr val="6FB8E8"/>
                </a:solidFill>
                <a:latin typeface="Arial" pitchFamily="34" charset="0"/>
                <a:ea typeface="Arial" pitchFamily="34" charset="-122"/>
                <a:cs typeface="Arial" pitchFamily="34" charset="-120"/>
              </a:rPr>
              <a:t>MICROSOFT AZURE   |   AZ-104   |   PRACTICAL SERIES</a:t>
            </a:r>
            <a:endParaRPr lang="en-US" sz="1200" dirty="0"/>
          </a:p>
        </p:txBody>
      </p:sp>
      <p:sp>
        <p:nvSpPr>
          <p:cNvPr id="4" name="Text 2"/>
          <p:cNvSpPr txBox="1"/>
          <p:nvPr/>
        </p:nvSpPr>
        <p:spPr>
          <a:xfrm>
            <a:off x="914400" y="2103120"/>
            <a:ext cx="10058400" cy="6858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Lab 00</a:t>
            </a:r>
            <a:endParaRPr lang="en-US" sz="5200" dirty="0"/>
          </a:p>
        </p:txBody>
      </p:sp>
      <p:sp>
        <p:nvSpPr>
          <p:cNvPr id="5" name="Text 3"/>
          <p:cNvSpPr txBox="1"/>
          <p:nvPr/>
        </p:nvSpPr>
        <p:spPr>
          <a:xfrm>
            <a:off x="914400" y="2788920"/>
            <a:ext cx="10058400" cy="640080"/>
          </a:xfrm>
          <a:prstGeom prst="rect">
            <a:avLst/>
          </a:prstGeom>
          <a:noFill/>
          <a:ln/>
        </p:spPr>
        <p:txBody>
          <a:bodyPr wrap="square" lIns="0" tIns="0" rIns="0" bIns="0" rtlCol="0" anchor="ctr"/>
          <a:lstStyle/>
          <a:p>
            <a:pPr indent="0" marL="0">
              <a:buNone/>
            </a:pPr>
            <a:r>
              <a:rPr lang="en-US" sz="3400" dirty="0">
                <a:solidFill>
                  <a:srgbClr val="BBD9F0"/>
                </a:solidFill>
                <a:latin typeface="Cambria" pitchFamily="34" charset="0"/>
                <a:ea typeface="Cambria" pitchFamily="34" charset="-122"/>
                <a:cs typeface="Cambria" pitchFamily="34" charset="-120"/>
              </a:rPr>
              <a:t>Create your Azure account</a:t>
            </a:r>
            <a:endParaRPr lang="en-US" sz="3400" dirty="0"/>
          </a:p>
        </p:txBody>
      </p:sp>
      <p:sp>
        <p:nvSpPr>
          <p:cNvPr id="6" name="Shape 4"/>
          <p:cNvSpPr/>
          <p:nvPr/>
        </p:nvSpPr>
        <p:spPr>
          <a:xfrm>
            <a:off x="914400" y="3703320"/>
            <a:ext cx="1280160" cy="45720"/>
          </a:xfrm>
          <a:prstGeom prst="rect">
            <a:avLst/>
          </a:prstGeom>
          <a:solidFill>
            <a:srgbClr val="E8763A"/>
          </a:solidFill>
          <a:ln w="12700">
            <a:solidFill>
              <a:srgbClr val="E8763A"/>
            </a:solidFill>
            <a:prstDash val="solid"/>
          </a:ln>
        </p:spPr>
      </p:sp>
      <p:sp>
        <p:nvSpPr>
          <p:cNvPr id="7" name="Text 5"/>
          <p:cNvSpPr txBox="1"/>
          <p:nvPr/>
        </p:nvSpPr>
        <p:spPr>
          <a:xfrm>
            <a:off x="914400" y="3977640"/>
            <a:ext cx="7863840" cy="640080"/>
          </a:xfrm>
          <a:prstGeom prst="rect">
            <a:avLst/>
          </a:prstGeom>
          <a:noFill/>
          <a:ln/>
        </p:spPr>
        <p:txBody>
          <a:bodyPr wrap="square" lIns="0" tIns="0" rIns="0" bIns="0" rtlCol="0" anchor="ctr"/>
          <a:lstStyle/>
          <a:p>
            <a:pPr indent="0" marL="0">
              <a:lnSpc>
                <a:spcPts val="2100"/>
              </a:lnSpc>
              <a:buNone/>
            </a:pPr>
            <a:r>
              <a:rPr lang="en-US" sz="1400" dirty="0">
                <a:solidFill>
                  <a:srgbClr val="9FC4DF"/>
                </a:solidFill>
                <a:latin typeface="Arial" pitchFamily="34" charset="0"/>
                <a:ea typeface="Arial" pitchFamily="34" charset="-122"/>
                <a:cs typeface="Arial" pitchFamily="34" charset="-120"/>
              </a:rPr>
              <a:t>Everything in this course depends on this one session working. Nobody leaves the room until their subscription says Active.</a:t>
            </a:r>
            <a:endParaRPr lang="en-US" sz="1400" dirty="0"/>
          </a:p>
        </p:txBody>
      </p:sp>
      <p:sp>
        <p:nvSpPr>
          <p:cNvPr id="8" name="Shape 6"/>
          <p:cNvSpPr/>
          <p:nvPr/>
        </p:nvSpPr>
        <p:spPr>
          <a:xfrm>
            <a:off x="914400" y="4892040"/>
            <a:ext cx="1737360" cy="384048"/>
          </a:xfrm>
          <a:prstGeom prst="rect">
            <a:avLst/>
          </a:prstGeom>
          <a:solidFill>
            <a:srgbClr val="13405F"/>
          </a:solidFill>
          <a:ln w="9525">
            <a:solidFill>
              <a:srgbClr val="2C5E85"/>
            </a:solidFill>
            <a:prstDash val="solid"/>
          </a:ln>
        </p:spPr>
      </p:sp>
      <p:sp>
        <p:nvSpPr>
          <p:cNvPr id="9" name="Text 7"/>
          <p:cNvSpPr txBox="1"/>
          <p:nvPr/>
        </p:nvSpPr>
        <p:spPr>
          <a:xfrm>
            <a:off x="914400" y="4892040"/>
            <a:ext cx="1737360" cy="384048"/>
          </a:xfrm>
          <a:prstGeom prst="rect">
            <a:avLst/>
          </a:prstGeom>
          <a:noFill/>
          <a:ln/>
        </p:spPr>
        <p:txBody>
          <a:bodyPr wrap="square" lIns="0" tIns="0" rIns="0" bIns="0" rtlCol="0" anchor="ctr"/>
          <a:lstStyle/>
          <a:p>
            <a:pPr algn="ctr" indent="0" marL="0">
              <a:buNone/>
            </a:pPr>
            <a:r>
              <a:rPr lang="en-US" sz="1050" b="1" dirty="0">
                <a:solidFill>
                  <a:srgbClr val="BBD9F0"/>
                </a:solidFill>
                <a:latin typeface="Arial" pitchFamily="34" charset="0"/>
                <a:ea typeface="Arial" pitchFamily="34" charset="-122"/>
                <a:cs typeface="Arial" pitchFamily="34" charset="-120"/>
              </a:rPr>
              <a:t>7 steps</a:t>
            </a:r>
            <a:endParaRPr lang="en-US" sz="1050" dirty="0"/>
          </a:p>
        </p:txBody>
      </p:sp>
      <p:sp>
        <p:nvSpPr>
          <p:cNvPr id="10" name="Shape 8"/>
          <p:cNvSpPr/>
          <p:nvPr/>
        </p:nvSpPr>
        <p:spPr>
          <a:xfrm>
            <a:off x="2834640" y="4892040"/>
            <a:ext cx="1737360" cy="384048"/>
          </a:xfrm>
          <a:prstGeom prst="rect">
            <a:avLst/>
          </a:prstGeom>
          <a:solidFill>
            <a:srgbClr val="13405F"/>
          </a:solidFill>
          <a:ln w="9525">
            <a:solidFill>
              <a:srgbClr val="2C5E85"/>
            </a:solidFill>
            <a:prstDash val="solid"/>
          </a:ln>
        </p:spPr>
      </p:sp>
      <p:sp>
        <p:nvSpPr>
          <p:cNvPr id="11" name="Text 9"/>
          <p:cNvSpPr txBox="1"/>
          <p:nvPr/>
        </p:nvSpPr>
        <p:spPr>
          <a:xfrm>
            <a:off x="2834640" y="4892040"/>
            <a:ext cx="1737360" cy="384048"/>
          </a:xfrm>
          <a:prstGeom prst="rect">
            <a:avLst/>
          </a:prstGeom>
          <a:noFill/>
          <a:ln/>
        </p:spPr>
        <p:txBody>
          <a:bodyPr wrap="square" lIns="0" tIns="0" rIns="0" bIns="0" rtlCol="0" anchor="ctr"/>
          <a:lstStyle/>
          <a:p>
            <a:pPr algn="ctr" indent="0" marL="0">
              <a:buNone/>
            </a:pPr>
            <a:r>
              <a:rPr lang="en-US" sz="1050" b="1" dirty="0">
                <a:solidFill>
                  <a:srgbClr val="BBD9F0"/>
                </a:solidFill>
                <a:latin typeface="Arial" pitchFamily="34" charset="0"/>
                <a:ea typeface="Arial" pitchFamily="34" charset="-122"/>
                <a:cs typeface="Arial" pitchFamily="34" charset="-120"/>
              </a:rPr>
              <a:t>30 minutes</a:t>
            </a:r>
            <a:endParaRPr lang="en-US" sz="1050" dirty="0"/>
          </a:p>
        </p:txBody>
      </p:sp>
      <p:sp>
        <p:nvSpPr>
          <p:cNvPr id="12" name="Shape 10"/>
          <p:cNvSpPr/>
          <p:nvPr/>
        </p:nvSpPr>
        <p:spPr>
          <a:xfrm>
            <a:off x="4754880" y="4892040"/>
            <a:ext cx="1737360" cy="384048"/>
          </a:xfrm>
          <a:prstGeom prst="rect">
            <a:avLst/>
          </a:prstGeom>
          <a:solidFill>
            <a:srgbClr val="13405F"/>
          </a:solidFill>
          <a:ln w="9525">
            <a:solidFill>
              <a:srgbClr val="2C5E85"/>
            </a:solidFill>
            <a:prstDash val="solid"/>
          </a:ln>
        </p:spPr>
      </p:sp>
      <p:sp>
        <p:nvSpPr>
          <p:cNvPr id="13" name="Text 11"/>
          <p:cNvSpPr txBox="1"/>
          <p:nvPr/>
        </p:nvSpPr>
        <p:spPr>
          <a:xfrm>
            <a:off x="4754880" y="4892040"/>
            <a:ext cx="1737360" cy="384048"/>
          </a:xfrm>
          <a:prstGeom prst="rect">
            <a:avLst/>
          </a:prstGeom>
          <a:noFill/>
          <a:ln/>
        </p:spPr>
        <p:txBody>
          <a:bodyPr wrap="square" lIns="0" tIns="0" rIns="0" bIns="0" rtlCol="0" anchor="ctr"/>
          <a:lstStyle/>
          <a:p>
            <a:pPr algn="ctr" indent="0" marL="0">
              <a:buNone/>
            </a:pPr>
            <a:r>
              <a:rPr lang="en-US" sz="1050" b="1" dirty="0">
                <a:solidFill>
                  <a:srgbClr val="BBD9F0"/>
                </a:solidFill>
                <a:latin typeface="Arial" pitchFamily="34" charset="0"/>
                <a:ea typeface="Arial" pitchFamily="34" charset="-122"/>
                <a:cs typeface="Arial" pitchFamily="34" charset="-120"/>
              </a:rPr>
              <a:t>No credit card</a:t>
            </a:r>
            <a:endParaRPr lang="en-US" sz="1050" dirty="0"/>
          </a:p>
        </p:txBody>
      </p:sp>
      <p:sp>
        <p:nvSpPr>
          <p:cNvPr id="14" name="Text 12"/>
          <p:cNvSpPr txBox="1"/>
          <p:nvPr/>
        </p:nvSpPr>
        <p:spPr>
          <a:xfrm>
            <a:off x="914400" y="5943600"/>
            <a:ext cx="5486400" cy="274320"/>
          </a:xfrm>
          <a:prstGeom prst="rect">
            <a:avLst/>
          </a:prstGeom>
          <a:noFill/>
          <a:ln/>
        </p:spPr>
        <p:txBody>
          <a:bodyPr wrap="square" lIns="0" tIns="0" rIns="0" bIns="0" rtlCol="0" anchor="ctr"/>
          <a:lstStyle/>
          <a:p>
            <a:pPr indent="0" marL="0">
              <a:buNone/>
            </a:pPr>
            <a:r>
              <a:rPr lang="en-US" sz="1100" dirty="0">
                <a:solidFill>
                  <a:srgbClr val="6C8CA6"/>
                </a:solidFill>
                <a:latin typeface="Arial" pitchFamily="34" charset="0"/>
                <a:ea typeface="Arial" pitchFamily="34" charset="-122"/>
                <a:cs typeface="Arial" pitchFamily="34" charset="-120"/>
              </a:rPr>
              <a:t>IIMT University, Meerut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CHOOSE THE RIGHT DOOR</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Two ways into Azure - only one suits you</a:t>
            </a:r>
            <a:endParaRPr lang="en-US" sz="3000" dirty="0"/>
          </a:p>
        </p:txBody>
      </p:sp>
      <p:sp>
        <p:nvSpPr>
          <p:cNvPr id="4" name="Text 2"/>
          <p:cNvSpPr txBox="1"/>
          <p:nvPr/>
        </p:nvSpPr>
        <p:spPr>
          <a:xfrm>
            <a:off x="548640" y="1225296"/>
            <a:ext cx="10881360" cy="274320"/>
          </a:xfrm>
          <a:prstGeom prst="rect">
            <a:avLst/>
          </a:prstGeom>
          <a:noFill/>
          <a:ln/>
        </p:spPr>
        <p:txBody>
          <a:bodyPr wrap="square" lIns="0" tIns="0" rIns="0" bIns="0" rtlCol="0" anchor="ctr"/>
          <a:lstStyle/>
          <a:p>
            <a:pPr indent="0" marL="0">
              <a:buNone/>
            </a:pPr>
            <a:r>
              <a:rPr lang="en-US" sz="1400" dirty="0">
                <a:solidFill>
                  <a:srgbClr val="5A6570"/>
                </a:solidFill>
                <a:latin typeface="Arial" pitchFamily="34" charset="0"/>
                <a:ea typeface="Arial" pitchFamily="34" charset="-122"/>
                <a:cs typeface="Arial" pitchFamily="34" charset="-120"/>
              </a:rPr>
              <a:t>Most students walk into the wrong one, hit a card requirement, and stop. Take the student route.</a:t>
            </a:r>
            <a:endParaRPr lang="en-US" sz="1400" dirty="0"/>
          </a:p>
        </p:txBody>
      </p:sp>
      <p:sp>
        <p:nvSpPr>
          <p:cNvPr id="5" name="Shape 3"/>
          <p:cNvSpPr/>
          <p:nvPr/>
        </p:nvSpPr>
        <p:spPr>
          <a:xfrm>
            <a:off x="548640" y="1719072"/>
            <a:ext cx="5349240" cy="4206240"/>
          </a:xfrm>
          <a:prstGeom prst="rect">
            <a:avLst/>
          </a:prstGeom>
          <a:solidFill>
            <a:srgbClr val="FFFFFF"/>
          </a:solidFill>
          <a:ln w="25400">
            <a:solidFill>
              <a:srgbClr val="E8763A"/>
            </a:solidFill>
            <a:prstDash val="solid"/>
          </a:ln>
        </p:spPr>
      </p:sp>
      <p:sp>
        <p:nvSpPr>
          <p:cNvPr id="6" name="Shape 4"/>
          <p:cNvSpPr/>
          <p:nvPr/>
        </p:nvSpPr>
        <p:spPr>
          <a:xfrm>
            <a:off x="548640" y="1719072"/>
            <a:ext cx="5349240" cy="658368"/>
          </a:xfrm>
          <a:prstGeom prst="rect">
            <a:avLst/>
          </a:prstGeom>
          <a:solidFill>
            <a:srgbClr val="E8763A"/>
          </a:solidFill>
          <a:ln w="12700">
            <a:solidFill>
              <a:srgbClr val="E8763A"/>
            </a:solidFill>
            <a:prstDash val="solid"/>
          </a:ln>
        </p:spPr>
      </p:sp>
      <p:sp>
        <p:nvSpPr>
          <p:cNvPr id="7" name="Text 5"/>
          <p:cNvSpPr txBox="1"/>
          <p:nvPr/>
        </p:nvSpPr>
        <p:spPr>
          <a:xfrm>
            <a:off x="749808" y="1719072"/>
            <a:ext cx="3566160" cy="65836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Azure for Students</a:t>
            </a:r>
            <a:endParaRPr lang="en-US" sz="1500" dirty="0"/>
          </a:p>
        </p:txBody>
      </p:sp>
      <p:sp>
        <p:nvSpPr>
          <p:cNvPr id="8" name="Text 6"/>
          <p:cNvSpPr txBox="1"/>
          <p:nvPr/>
        </p:nvSpPr>
        <p:spPr>
          <a:xfrm>
            <a:off x="4297680" y="1719072"/>
            <a:ext cx="1417320" cy="658368"/>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THIS ONE</a:t>
            </a:r>
            <a:endParaRPr lang="en-US" sz="1000" dirty="0"/>
          </a:p>
        </p:txBody>
      </p:sp>
      <p:sp>
        <p:nvSpPr>
          <p:cNvPr id="9" name="Text 7"/>
          <p:cNvSpPr txBox="1"/>
          <p:nvPr/>
        </p:nvSpPr>
        <p:spPr>
          <a:xfrm>
            <a:off x="749808" y="2542032"/>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Credit card</a:t>
            </a:r>
            <a:endParaRPr lang="en-US" sz="1050" dirty="0"/>
          </a:p>
        </p:txBody>
      </p:sp>
      <p:sp>
        <p:nvSpPr>
          <p:cNvPr id="10" name="Text 8"/>
          <p:cNvSpPr txBox="1"/>
          <p:nvPr/>
        </p:nvSpPr>
        <p:spPr>
          <a:xfrm>
            <a:off x="2377440" y="2542032"/>
            <a:ext cx="3291840" cy="548640"/>
          </a:xfrm>
          <a:prstGeom prst="rect">
            <a:avLst/>
          </a:prstGeom>
          <a:noFill/>
          <a:ln/>
        </p:spPr>
        <p:txBody>
          <a:bodyPr wrap="square" lIns="0" tIns="0" rIns="0" bIns="0" rtlCol="0" anchor="ctr"/>
          <a:lstStyle/>
          <a:p>
            <a:pPr indent="0" marL="0">
              <a:buNone/>
            </a:pPr>
            <a:r>
              <a:rPr lang="en-US" sz="1100" b="1" dirty="0">
                <a:solidFill>
                  <a:srgbClr val="1B2733"/>
                </a:solidFill>
                <a:latin typeface="Arial" pitchFamily="34" charset="0"/>
                <a:ea typeface="Arial" pitchFamily="34" charset="-122"/>
                <a:cs typeface="Arial" pitchFamily="34" charset="-120"/>
              </a:rPr>
              <a:t>Not required</a:t>
            </a:r>
            <a:endParaRPr lang="en-US" sz="1100" dirty="0"/>
          </a:p>
        </p:txBody>
      </p:sp>
      <p:sp>
        <p:nvSpPr>
          <p:cNvPr id="11" name="Shape 9"/>
          <p:cNvSpPr/>
          <p:nvPr/>
        </p:nvSpPr>
        <p:spPr>
          <a:xfrm>
            <a:off x="749808" y="3108960"/>
            <a:ext cx="4937760" cy="0"/>
          </a:xfrm>
          <a:prstGeom prst="line">
            <a:avLst/>
          </a:prstGeom>
          <a:noFill/>
          <a:ln w="6350">
            <a:solidFill>
              <a:srgbClr val="E2E9F0"/>
            </a:solidFill>
            <a:prstDash val="solid"/>
          </a:ln>
        </p:spPr>
      </p:sp>
      <p:sp>
        <p:nvSpPr>
          <p:cNvPr id="12" name="Text 10"/>
          <p:cNvSpPr txBox="1"/>
          <p:nvPr/>
        </p:nvSpPr>
        <p:spPr>
          <a:xfrm>
            <a:off x="749808" y="3200400"/>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Credit</a:t>
            </a:r>
            <a:endParaRPr lang="en-US" sz="1050" dirty="0"/>
          </a:p>
        </p:txBody>
      </p:sp>
      <p:sp>
        <p:nvSpPr>
          <p:cNvPr id="13" name="Text 11"/>
          <p:cNvSpPr txBox="1"/>
          <p:nvPr/>
        </p:nvSpPr>
        <p:spPr>
          <a:xfrm>
            <a:off x="2377440" y="3200400"/>
            <a:ext cx="3291840" cy="548640"/>
          </a:xfrm>
          <a:prstGeom prst="rect">
            <a:avLst/>
          </a:prstGeom>
          <a:noFill/>
          <a:ln/>
        </p:spPr>
        <p:txBody>
          <a:bodyPr wrap="square" lIns="0" tIns="0" rIns="0" bIns="0" rtlCol="0" anchor="ctr"/>
          <a:lstStyle/>
          <a:p>
            <a:pPr indent="0" marL="0">
              <a:buNone/>
            </a:pPr>
            <a:r>
              <a:rPr lang="en-US" sz="1100" b="1" dirty="0">
                <a:solidFill>
                  <a:srgbClr val="1B2733"/>
                </a:solidFill>
                <a:latin typeface="Arial" pitchFamily="34" charset="0"/>
                <a:ea typeface="Arial" pitchFamily="34" charset="-122"/>
                <a:cs typeface="Arial" pitchFamily="34" charset="-120"/>
              </a:rPr>
              <a:t>USD 100</a:t>
            </a:r>
            <a:endParaRPr lang="en-US" sz="1100" dirty="0"/>
          </a:p>
        </p:txBody>
      </p:sp>
      <p:sp>
        <p:nvSpPr>
          <p:cNvPr id="14" name="Shape 12"/>
          <p:cNvSpPr/>
          <p:nvPr/>
        </p:nvSpPr>
        <p:spPr>
          <a:xfrm>
            <a:off x="749808" y="3767328"/>
            <a:ext cx="4937760" cy="0"/>
          </a:xfrm>
          <a:prstGeom prst="line">
            <a:avLst/>
          </a:prstGeom>
          <a:noFill/>
          <a:ln w="6350">
            <a:solidFill>
              <a:srgbClr val="E2E9F0"/>
            </a:solidFill>
            <a:prstDash val="solid"/>
          </a:ln>
        </p:spPr>
      </p:sp>
      <p:sp>
        <p:nvSpPr>
          <p:cNvPr id="15" name="Text 13"/>
          <p:cNvSpPr txBox="1"/>
          <p:nvPr/>
        </p:nvSpPr>
        <p:spPr>
          <a:xfrm>
            <a:off x="749808" y="3858768"/>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Valid for</a:t>
            </a:r>
            <a:endParaRPr lang="en-US" sz="1050" dirty="0"/>
          </a:p>
        </p:txBody>
      </p:sp>
      <p:sp>
        <p:nvSpPr>
          <p:cNvPr id="16" name="Text 14"/>
          <p:cNvSpPr txBox="1"/>
          <p:nvPr/>
        </p:nvSpPr>
        <p:spPr>
          <a:xfrm>
            <a:off x="2377440" y="3858768"/>
            <a:ext cx="3291840" cy="548640"/>
          </a:xfrm>
          <a:prstGeom prst="rect">
            <a:avLst/>
          </a:prstGeom>
          <a:noFill/>
          <a:ln/>
        </p:spPr>
        <p:txBody>
          <a:bodyPr wrap="square" lIns="0" tIns="0" rIns="0" bIns="0" rtlCol="0" anchor="ctr"/>
          <a:lstStyle/>
          <a:p>
            <a:pPr indent="0" marL="0">
              <a:buNone/>
            </a:pPr>
            <a:r>
              <a:rPr lang="en-US" sz="1100" b="1" dirty="0">
                <a:solidFill>
                  <a:srgbClr val="1B2733"/>
                </a:solidFill>
                <a:latin typeface="Arial" pitchFamily="34" charset="0"/>
                <a:ea typeface="Arial" pitchFamily="34" charset="-122"/>
                <a:cs typeface="Arial" pitchFamily="34" charset="-120"/>
              </a:rPr>
              <a:t>12 months, renewable while you stay a student</a:t>
            </a:r>
            <a:endParaRPr lang="en-US" sz="1100" dirty="0"/>
          </a:p>
        </p:txBody>
      </p:sp>
      <p:sp>
        <p:nvSpPr>
          <p:cNvPr id="17" name="Shape 15"/>
          <p:cNvSpPr/>
          <p:nvPr/>
        </p:nvSpPr>
        <p:spPr>
          <a:xfrm>
            <a:off x="749808" y="4425696"/>
            <a:ext cx="4937760" cy="0"/>
          </a:xfrm>
          <a:prstGeom prst="line">
            <a:avLst/>
          </a:prstGeom>
          <a:noFill/>
          <a:ln w="6350">
            <a:solidFill>
              <a:srgbClr val="E2E9F0"/>
            </a:solidFill>
            <a:prstDash val="solid"/>
          </a:ln>
        </p:spPr>
      </p:sp>
      <p:sp>
        <p:nvSpPr>
          <p:cNvPr id="18" name="Text 16"/>
          <p:cNvSpPr txBox="1"/>
          <p:nvPr/>
        </p:nvSpPr>
        <p:spPr>
          <a:xfrm>
            <a:off x="749808" y="4517136"/>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Proof needed</a:t>
            </a:r>
            <a:endParaRPr lang="en-US" sz="1050" dirty="0"/>
          </a:p>
        </p:txBody>
      </p:sp>
      <p:sp>
        <p:nvSpPr>
          <p:cNvPr id="19" name="Text 17"/>
          <p:cNvSpPr txBox="1"/>
          <p:nvPr/>
        </p:nvSpPr>
        <p:spPr>
          <a:xfrm>
            <a:off x="2377440" y="4517136"/>
            <a:ext cx="3291840" cy="548640"/>
          </a:xfrm>
          <a:prstGeom prst="rect">
            <a:avLst/>
          </a:prstGeom>
          <a:noFill/>
          <a:ln/>
        </p:spPr>
        <p:txBody>
          <a:bodyPr wrap="square" lIns="0" tIns="0" rIns="0" bIns="0" rtlCol="0" anchor="ctr"/>
          <a:lstStyle/>
          <a:p>
            <a:pPr indent="0" marL="0">
              <a:buNone/>
            </a:pPr>
            <a:r>
              <a:rPr lang="en-US" sz="1100" b="1" dirty="0">
                <a:solidFill>
                  <a:srgbClr val="1B2733"/>
                </a:solidFill>
                <a:latin typeface="Arial" pitchFamily="34" charset="0"/>
                <a:ea typeface="Arial" pitchFamily="34" charset="-122"/>
                <a:cs typeface="Arial" pitchFamily="34" charset="-120"/>
              </a:rPr>
              <a:t>Your college email address</a:t>
            </a:r>
            <a:endParaRPr lang="en-US" sz="1100" dirty="0"/>
          </a:p>
        </p:txBody>
      </p:sp>
      <p:sp>
        <p:nvSpPr>
          <p:cNvPr id="20" name="Shape 18"/>
          <p:cNvSpPr/>
          <p:nvPr/>
        </p:nvSpPr>
        <p:spPr>
          <a:xfrm>
            <a:off x="749808" y="5084064"/>
            <a:ext cx="4937760" cy="0"/>
          </a:xfrm>
          <a:prstGeom prst="line">
            <a:avLst/>
          </a:prstGeom>
          <a:noFill/>
          <a:ln w="6350">
            <a:solidFill>
              <a:srgbClr val="E2E9F0"/>
            </a:solidFill>
            <a:prstDash val="solid"/>
          </a:ln>
        </p:spPr>
      </p:sp>
      <p:sp>
        <p:nvSpPr>
          <p:cNvPr id="21" name="Text 19"/>
          <p:cNvSpPr txBox="1"/>
          <p:nvPr/>
        </p:nvSpPr>
        <p:spPr>
          <a:xfrm>
            <a:off x="749808" y="5175504"/>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Also includes</a:t>
            </a:r>
            <a:endParaRPr lang="en-US" sz="1050" dirty="0"/>
          </a:p>
        </p:txBody>
      </p:sp>
      <p:sp>
        <p:nvSpPr>
          <p:cNvPr id="22" name="Text 20"/>
          <p:cNvSpPr txBox="1"/>
          <p:nvPr/>
        </p:nvSpPr>
        <p:spPr>
          <a:xfrm>
            <a:off x="2377440" y="5175504"/>
            <a:ext cx="3291840" cy="548640"/>
          </a:xfrm>
          <a:prstGeom prst="rect">
            <a:avLst/>
          </a:prstGeom>
          <a:noFill/>
          <a:ln/>
        </p:spPr>
        <p:txBody>
          <a:bodyPr wrap="square" lIns="0" tIns="0" rIns="0" bIns="0" rtlCol="0" anchor="ctr"/>
          <a:lstStyle/>
          <a:p>
            <a:pPr indent="0" marL="0">
              <a:buNone/>
            </a:pPr>
            <a:r>
              <a:rPr lang="en-US" sz="1100" b="1" dirty="0">
                <a:solidFill>
                  <a:srgbClr val="1B2733"/>
                </a:solidFill>
                <a:latin typeface="Arial" pitchFamily="34" charset="0"/>
                <a:ea typeface="Arial" pitchFamily="34" charset="-122"/>
                <a:cs typeface="Arial" pitchFamily="34" charset="-120"/>
              </a:rPr>
              <a:t>Free tiers of VMs, SQL Database, Blob Storage</a:t>
            </a:r>
            <a:endParaRPr lang="en-US" sz="1100" dirty="0"/>
          </a:p>
        </p:txBody>
      </p:sp>
      <p:sp>
        <p:nvSpPr>
          <p:cNvPr id="23" name="Shape 21"/>
          <p:cNvSpPr/>
          <p:nvPr/>
        </p:nvSpPr>
        <p:spPr>
          <a:xfrm>
            <a:off x="749808" y="5742432"/>
            <a:ext cx="4937760" cy="0"/>
          </a:xfrm>
          <a:prstGeom prst="line">
            <a:avLst/>
          </a:prstGeom>
          <a:noFill/>
          <a:ln w="6350">
            <a:solidFill>
              <a:srgbClr val="E2E9F0"/>
            </a:solidFill>
            <a:prstDash val="solid"/>
          </a:ln>
        </p:spPr>
      </p:sp>
      <p:sp>
        <p:nvSpPr>
          <p:cNvPr id="24" name="Shape 22"/>
          <p:cNvSpPr/>
          <p:nvPr/>
        </p:nvSpPr>
        <p:spPr>
          <a:xfrm>
            <a:off x="6263640" y="1719072"/>
            <a:ext cx="5349240" cy="4206240"/>
          </a:xfrm>
          <a:prstGeom prst="rect">
            <a:avLst/>
          </a:prstGeom>
          <a:solidFill>
            <a:srgbClr val="FFFFFF"/>
          </a:solidFill>
          <a:ln w="12700">
            <a:solidFill>
              <a:srgbClr val="5A6570"/>
            </a:solidFill>
            <a:prstDash val="solid"/>
          </a:ln>
        </p:spPr>
      </p:sp>
      <p:sp>
        <p:nvSpPr>
          <p:cNvPr id="25" name="Shape 23"/>
          <p:cNvSpPr/>
          <p:nvPr/>
        </p:nvSpPr>
        <p:spPr>
          <a:xfrm>
            <a:off x="6263640" y="1719072"/>
            <a:ext cx="5349240" cy="658368"/>
          </a:xfrm>
          <a:prstGeom prst="rect">
            <a:avLst/>
          </a:prstGeom>
          <a:solidFill>
            <a:srgbClr val="5A6570"/>
          </a:solidFill>
          <a:ln w="12700">
            <a:solidFill>
              <a:srgbClr val="5A6570"/>
            </a:solidFill>
            <a:prstDash val="solid"/>
          </a:ln>
        </p:spPr>
      </p:sp>
      <p:sp>
        <p:nvSpPr>
          <p:cNvPr id="26" name="Text 24"/>
          <p:cNvSpPr txBox="1"/>
          <p:nvPr/>
        </p:nvSpPr>
        <p:spPr>
          <a:xfrm>
            <a:off x="6464808" y="1719072"/>
            <a:ext cx="3566160" cy="65836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Standard Azure free account</a:t>
            </a:r>
            <a:endParaRPr lang="en-US" sz="1500" dirty="0"/>
          </a:p>
        </p:txBody>
      </p:sp>
      <p:sp>
        <p:nvSpPr>
          <p:cNvPr id="27" name="Text 25"/>
          <p:cNvSpPr txBox="1"/>
          <p:nvPr/>
        </p:nvSpPr>
        <p:spPr>
          <a:xfrm>
            <a:off x="10012680" y="1719072"/>
            <a:ext cx="1417320" cy="658368"/>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NOT THIS ONE</a:t>
            </a:r>
            <a:endParaRPr lang="en-US" sz="1000" dirty="0"/>
          </a:p>
        </p:txBody>
      </p:sp>
      <p:sp>
        <p:nvSpPr>
          <p:cNvPr id="28" name="Text 26"/>
          <p:cNvSpPr txBox="1"/>
          <p:nvPr/>
        </p:nvSpPr>
        <p:spPr>
          <a:xfrm>
            <a:off x="6464808" y="2542032"/>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Credit card</a:t>
            </a:r>
            <a:endParaRPr lang="en-US" sz="1050" dirty="0"/>
          </a:p>
        </p:txBody>
      </p:sp>
      <p:sp>
        <p:nvSpPr>
          <p:cNvPr id="29" name="Text 27"/>
          <p:cNvSpPr txBox="1"/>
          <p:nvPr/>
        </p:nvSpPr>
        <p:spPr>
          <a:xfrm>
            <a:off x="8092440" y="2542032"/>
            <a:ext cx="3291840" cy="548640"/>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Required, and not a prepaid card</a:t>
            </a:r>
            <a:endParaRPr lang="en-US" sz="1100" dirty="0"/>
          </a:p>
        </p:txBody>
      </p:sp>
      <p:sp>
        <p:nvSpPr>
          <p:cNvPr id="30" name="Shape 28"/>
          <p:cNvSpPr/>
          <p:nvPr/>
        </p:nvSpPr>
        <p:spPr>
          <a:xfrm>
            <a:off x="6464808" y="3108960"/>
            <a:ext cx="4937760" cy="0"/>
          </a:xfrm>
          <a:prstGeom prst="line">
            <a:avLst/>
          </a:prstGeom>
          <a:noFill/>
          <a:ln w="6350">
            <a:solidFill>
              <a:srgbClr val="E2E9F0"/>
            </a:solidFill>
            <a:prstDash val="solid"/>
          </a:ln>
        </p:spPr>
      </p:sp>
      <p:sp>
        <p:nvSpPr>
          <p:cNvPr id="31" name="Text 29"/>
          <p:cNvSpPr txBox="1"/>
          <p:nvPr/>
        </p:nvSpPr>
        <p:spPr>
          <a:xfrm>
            <a:off x="6464808" y="3200400"/>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Credit</a:t>
            </a:r>
            <a:endParaRPr lang="en-US" sz="1050" dirty="0"/>
          </a:p>
        </p:txBody>
      </p:sp>
      <p:sp>
        <p:nvSpPr>
          <p:cNvPr id="32" name="Text 30"/>
          <p:cNvSpPr txBox="1"/>
          <p:nvPr/>
        </p:nvSpPr>
        <p:spPr>
          <a:xfrm>
            <a:off x="8092440" y="3200400"/>
            <a:ext cx="3291840" cy="548640"/>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USD 200</a:t>
            </a:r>
            <a:endParaRPr lang="en-US" sz="1100" dirty="0"/>
          </a:p>
        </p:txBody>
      </p:sp>
      <p:sp>
        <p:nvSpPr>
          <p:cNvPr id="33" name="Shape 31"/>
          <p:cNvSpPr/>
          <p:nvPr/>
        </p:nvSpPr>
        <p:spPr>
          <a:xfrm>
            <a:off x="6464808" y="3767328"/>
            <a:ext cx="4937760" cy="0"/>
          </a:xfrm>
          <a:prstGeom prst="line">
            <a:avLst/>
          </a:prstGeom>
          <a:noFill/>
          <a:ln w="6350">
            <a:solidFill>
              <a:srgbClr val="E2E9F0"/>
            </a:solidFill>
            <a:prstDash val="solid"/>
          </a:ln>
        </p:spPr>
      </p:sp>
      <p:sp>
        <p:nvSpPr>
          <p:cNvPr id="34" name="Text 32"/>
          <p:cNvSpPr txBox="1"/>
          <p:nvPr/>
        </p:nvSpPr>
        <p:spPr>
          <a:xfrm>
            <a:off x="6464808" y="3858768"/>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Valid for</a:t>
            </a:r>
            <a:endParaRPr lang="en-US" sz="1050" dirty="0"/>
          </a:p>
        </p:txBody>
      </p:sp>
      <p:sp>
        <p:nvSpPr>
          <p:cNvPr id="35" name="Text 33"/>
          <p:cNvSpPr txBox="1"/>
          <p:nvPr/>
        </p:nvSpPr>
        <p:spPr>
          <a:xfrm>
            <a:off x="8092440" y="3858768"/>
            <a:ext cx="3291840" cy="548640"/>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30 days</a:t>
            </a:r>
            <a:endParaRPr lang="en-US" sz="1100" dirty="0"/>
          </a:p>
        </p:txBody>
      </p:sp>
      <p:sp>
        <p:nvSpPr>
          <p:cNvPr id="36" name="Shape 34"/>
          <p:cNvSpPr/>
          <p:nvPr/>
        </p:nvSpPr>
        <p:spPr>
          <a:xfrm>
            <a:off x="6464808" y="4425696"/>
            <a:ext cx="4937760" cy="0"/>
          </a:xfrm>
          <a:prstGeom prst="line">
            <a:avLst/>
          </a:prstGeom>
          <a:noFill/>
          <a:ln w="6350">
            <a:solidFill>
              <a:srgbClr val="E2E9F0"/>
            </a:solidFill>
            <a:prstDash val="solid"/>
          </a:ln>
        </p:spPr>
      </p:sp>
      <p:sp>
        <p:nvSpPr>
          <p:cNvPr id="37" name="Text 35"/>
          <p:cNvSpPr txBox="1"/>
          <p:nvPr/>
        </p:nvSpPr>
        <p:spPr>
          <a:xfrm>
            <a:off x="6464808" y="4517136"/>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Proof needed</a:t>
            </a:r>
            <a:endParaRPr lang="en-US" sz="1050" dirty="0"/>
          </a:p>
        </p:txBody>
      </p:sp>
      <p:sp>
        <p:nvSpPr>
          <p:cNvPr id="38" name="Text 36"/>
          <p:cNvSpPr txBox="1"/>
          <p:nvPr/>
        </p:nvSpPr>
        <p:spPr>
          <a:xfrm>
            <a:off x="8092440" y="4517136"/>
            <a:ext cx="3291840" cy="548640"/>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Card plus phone verification</a:t>
            </a:r>
            <a:endParaRPr lang="en-US" sz="1100" dirty="0"/>
          </a:p>
        </p:txBody>
      </p:sp>
      <p:sp>
        <p:nvSpPr>
          <p:cNvPr id="39" name="Shape 37"/>
          <p:cNvSpPr/>
          <p:nvPr/>
        </p:nvSpPr>
        <p:spPr>
          <a:xfrm>
            <a:off x="6464808" y="5084064"/>
            <a:ext cx="4937760" cy="0"/>
          </a:xfrm>
          <a:prstGeom prst="line">
            <a:avLst/>
          </a:prstGeom>
          <a:noFill/>
          <a:ln w="6350">
            <a:solidFill>
              <a:srgbClr val="E2E9F0"/>
            </a:solidFill>
            <a:prstDash val="solid"/>
          </a:ln>
        </p:spPr>
      </p:sp>
      <p:sp>
        <p:nvSpPr>
          <p:cNvPr id="40" name="Text 38"/>
          <p:cNvSpPr txBox="1"/>
          <p:nvPr/>
        </p:nvSpPr>
        <p:spPr>
          <a:xfrm>
            <a:off x="6464808" y="5175504"/>
            <a:ext cx="1554480" cy="548640"/>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Also includes</a:t>
            </a:r>
            <a:endParaRPr lang="en-US" sz="1050" dirty="0"/>
          </a:p>
        </p:txBody>
      </p:sp>
      <p:sp>
        <p:nvSpPr>
          <p:cNvPr id="41" name="Text 39"/>
          <p:cNvSpPr txBox="1"/>
          <p:nvPr/>
        </p:nvSpPr>
        <p:spPr>
          <a:xfrm>
            <a:off x="8092440" y="5175504"/>
            <a:ext cx="3291840" cy="548640"/>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Free tiers, but the trial window is short</a:t>
            </a:r>
            <a:endParaRPr lang="en-US" sz="1100" dirty="0"/>
          </a:p>
        </p:txBody>
      </p:sp>
      <p:sp>
        <p:nvSpPr>
          <p:cNvPr id="42" name="Shape 40"/>
          <p:cNvSpPr/>
          <p:nvPr/>
        </p:nvSpPr>
        <p:spPr>
          <a:xfrm>
            <a:off x="6464808" y="5742432"/>
            <a:ext cx="4937760" cy="0"/>
          </a:xfrm>
          <a:prstGeom prst="line">
            <a:avLst/>
          </a:prstGeom>
          <a:noFill/>
          <a:ln w="6350">
            <a:solidFill>
              <a:srgbClr val="E2E9F0"/>
            </a:solidFill>
            <a:prstDash val="solid"/>
          </a:ln>
        </p:spPr>
      </p:sp>
      <p:sp>
        <p:nvSpPr>
          <p:cNvPr id="43" name="Text 41"/>
          <p:cNvSpPr txBox="1"/>
          <p:nvPr/>
        </p:nvSpPr>
        <p:spPr>
          <a:xfrm>
            <a:off x="548640" y="6053328"/>
            <a:ext cx="11064240" cy="365760"/>
          </a:xfrm>
          <a:prstGeom prst="rect">
            <a:avLst/>
          </a:prstGeom>
          <a:noFill/>
          <a:ln/>
        </p:spPr>
        <p:txBody>
          <a:bodyPr wrap="square" lIns="0" tIns="0" rIns="0" bIns="0" rtlCol="0" anchor="ctr"/>
          <a:lstStyle/>
          <a:p>
            <a:pPr indent="0" marL="0">
              <a:buNone/>
            </a:pPr>
            <a:r>
              <a:rPr lang="en-US" sz="1100" i="1" dirty="0">
                <a:solidFill>
                  <a:srgbClr val="5A6570"/>
                </a:solidFill>
                <a:latin typeface="Arial" pitchFamily="34" charset="0"/>
                <a:ea typeface="Arial" pitchFamily="34" charset="-122"/>
                <a:cs typeface="Arial" pitchFamily="34" charset="-120"/>
              </a:rPr>
              <a:t>A third route exists: an Azure Pass promo code, handed out through Microsoft academic programmes and events. Keep it in reserve for students the student route rejects.</a:t>
            </a:r>
            <a:endParaRPr lang="en-US" sz="1100" dirty="0"/>
          </a:p>
        </p:txBody>
      </p:sp>
      <p:sp>
        <p:nvSpPr>
          <p:cNvPr id="44" name="Text 42"/>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Routes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BEFORE YOU CLICK ANYTHING</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Check these four things first</a:t>
            </a:r>
            <a:endParaRPr lang="en-US" sz="3000" dirty="0"/>
          </a:p>
        </p:txBody>
      </p:sp>
      <p:sp>
        <p:nvSpPr>
          <p:cNvPr id="4" name="Text 2"/>
          <p:cNvSpPr txBox="1"/>
          <p:nvPr/>
        </p:nvSpPr>
        <p:spPr>
          <a:xfrm>
            <a:off x="548640" y="1225296"/>
            <a:ext cx="10881360" cy="274320"/>
          </a:xfrm>
          <a:prstGeom prst="rect">
            <a:avLst/>
          </a:prstGeom>
          <a:noFill/>
          <a:ln/>
        </p:spPr>
        <p:txBody>
          <a:bodyPr wrap="square" lIns="0" tIns="0" rIns="0" bIns="0" rtlCol="0" anchor="ctr"/>
          <a:lstStyle/>
          <a:p>
            <a:pPr indent="0" marL="0">
              <a:buNone/>
            </a:pPr>
            <a:r>
              <a:rPr lang="en-US" sz="1400" dirty="0">
                <a:solidFill>
                  <a:srgbClr val="5A6570"/>
                </a:solidFill>
                <a:latin typeface="Arial" pitchFamily="34" charset="0"/>
                <a:ea typeface="Arial" pitchFamily="34" charset="-122"/>
                <a:cs typeface="Arial" pitchFamily="34" charset="-120"/>
              </a:rPr>
              <a:t>Three minutes spent here saves twenty minutes of a failed signup in front of the class.</a:t>
            </a:r>
            <a:endParaRPr lang="en-US" sz="1400" dirty="0"/>
          </a:p>
        </p:txBody>
      </p:sp>
      <p:sp>
        <p:nvSpPr>
          <p:cNvPr id="5" name="Shape 3"/>
          <p:cNvSpPr/>
          <p:nvPr/>
        </p:nvSpPr>
        <p:spPr>
          <a:xfrm>
            <a:off x="548640" y="1737360"/>
            <a:ext cx="11064240" cy="932688"/>
          </a:xfrm>
          <a:prstGeom prst="rect">
            <a:avLst/>
          </a:prstGeom>
          <a:solidFill>
            <a:srgbClr val="FFFFFF"/>
          </a:solidFill>
          <a:ln w="9525">
            <a:solidFill>
              <a:srgbClr val="C3D0DC"/>
            </a:solidFill>
            <a:prstDash val="solid"/>
          </a:ln>
        </p:spPr>
      </p:sp>
      <p:sp>
        <p:nvSpPr>
          <p:cNvPr id="6" name="Shape 4"/>
          <p:cNvSpPr/>
          <p:nvPr/>
        </p:nvSpPr>
        <p:spPr>
          <a:xfrm>
            <a:off x="777240" y="1901952"/>
            <a:ext cx="201168" cy="201168"/>
          </a:xfrm>
          <a:prstGeom prst="ellipse">
            <a:avLst/>
          </a:prstGeom>
          <a:solidFill>
            <a:srgbClr val="FDF0E7"/>
          </a:solidFill>
          <a:ln w="15875">
            <a:solidFill>
              <a:srgbClr val="E8763A"/>
            </a:solidFill>
            <a:prstDash val="solid"/>
          </a:ln>
        </p:spPr>
      </p:sp>
      <p:sp>
        <p:nvSpPr>
          <p:cNvPr id="7" name="Text 5"/>
          <p:cNvSpPr txBox="1"/>
          <p:nvPr/>
        </p:nvSpPr>
        <p:spPr>
          <a:xfrm>
            <a:off x="777240" y="1901952"/>
            <a:ext cx="201168" cy="201168"/>
          </a:xfrm>
          <a:prstGeom prst="rect">
            <a:avLst/>
          </a:prstGeom>
          <a:noFill/>
          <a:ln/>
        </p:spPr>
        <p:txBody>
          <a:bodyPr wrap="square" lIns="0" tIns="0" rIns="0" bIns="0" rtlCol="0" anchor="ctr"/>
          <a:lstStyle/>
          <a:p>
            <a:pPr algn="ctr" indent="0" marL="0">
              <a:buNone/>
            </a:pPr>
            <a:r>
              <a:rPr lang="en-US" sz="800" b="1" dirty="0">
                <a:solidFill>
                  <a:srgbClr val="E8763A"/>
                </a:solidFill>
                <a:latin typeface="Arial" pitchFamily="34" charset="0"/>
                <a:ea typeface="Arial" pitchFamily="34" charset="-122"/>
                <a:cs typeface="Arial" pitchFamily="34" charset="-120"/>
              </a:rPr>
              <a:t>!</a:t>
            </a:r>
            <a:endParaRPr lang="en-US" sz="800" dirty="0"/>
          </a:p>
        </p:txBody>
      </p:sp>
      <p:sp>
        <p:nvSpPr>
          <p:cNvPr id="8" name="Text 6"/>
          <p:cNvSpPr txBox="1"/>
          <p:nvPr/>
        </p:nvSpPr>
        <p:spPr>
          <a:xfrm>
            <a:off x="1143000" y="1828800"/>
            <a:ext cx="10241280" cy="274320"/>
          </a:xfrm>
          <a:prstGeom prst="rect">
            <a:avLst/>
          </a:prstGeom>
          <a:noFill/>
          <a:ln/>
        </p:spPr>
        <p:txBody>
          <a:bodyPr wrap="square" lIns="0" tIns="0" rIns="0" bIns="0" rtlCol="0" anchor="ctr"/>
          <a:lstStyle/>
          <a:p>
            <a:pPr indent="0" marL="0">
              <a:buNone/>
            </a:pPr>
            <a:r>
              <a:rPr lang="en-US" sz="1400" b="1" dirty="0">
                <a:solidFill>
                  <a:srgbClr val="1B2733"/>
                </a:solidFill>
                <a:latin typeface="Arial" pitchFamily="34" charset="0"/>
                <a:ea typeface="Arial" pitchFamily="34" charset="-122"/>
                <a:cs typeface="Arial" pitchFamily="34" charset="-120"/>
              </a:rPr>
              <a:t>You are 18 or older</a:t>
            </a:r>
            <a:endParaRPr lang="en-US" sz="1400" dirty="0"/>
          </a:p>
        </p:txBody>
      </p:sp>
      <p:sp>
        <p:nvSpPr>
          <p:cNvPr id="9" name="Text 7"/>
          <p:cNvSpPr txBox="1"/>
          <p:nvPr/>
        </p:nvSpPr>
        <p:spPr>
          <a:xfrm>
            <a:off x="1143000" y="2139696"/>
            <a:ext cx="10241280" cy="45720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Azure for Students requires it. If you are under 18, you are not eligible for this offer - see the fallback slide. Tell the instructor rather than trying to work around it.</a:t>
            </a:r>
            <a:endParaRPr lang="en-US" sz="1150" dirty="0"/>
          </a:p>
        </p:txBody>
      </p:sp>
      <p:sp>
        <p:nvSpPr>
          <p:cNvPr id="10" name="Shape 8"/>
          <p:cNvSpPr/>
          <p:nvPr/>
        </p:nvSpPr>
        <p:spPr>
          <a:xfrm>
            <a:off x="548640" y="2816352"/>
            <a:ext cx="11064240" cy="932688"/>
          </a:xfrm>
          <a:prstGeom prst="rect">
            <a:avLst/>
          </a:prstGeom>
          <a:solidFill>
            <a:srgbClr val="F4F7FA"/>
          </a:solidFill>
          <a:ln w="9525">
            <a:solidFill>
              <a:srgbClr val="C3D0DC"/>
            </a:solidFill>
            <a:prstDash val="solid"/>
          </a:ln>
        </p:spPr>
      </p:sp>
      <p:sp>
        <p:nvSpPr>
          <p:cNvPr id="11" name="Shape 9"/>
          <p:cNvSpPr/>
          <p:nvPr/>
        </p:nvSpPr>
        <p:spPr>
          <a:xfrm>
            <a:off x="777240" y="2980944"/>
            <a:ext cx="201168" cy="201168"/>
          </a:xfrm>
          <a:prstGeom prst="ellipse">
            <a:avLst/>
          </a:prstGeom>
          <a:solidFill>
            <a:srgbClr val="E6F4EA"/>
          </a:solidFill>
          <a:ln w="15875">
            <a:solidFill>
              <a:srgbClr val="3A8F5E"/>
            </a:solidFill>
            <a:prstDash val="solid"/>
          </a:ln>
        </p:spPr>
      </p:sp>
      <p:sp>
        <p:nvSpPr>
          <p:cNvPr id="12" name="Text 10"/>
          <p:cNvSpPr txBox="1"/>
          <p:nvPr/>
        </p:nvSpPr>
        <p:spPr>
          <a:xfrm>
            <a:off x="777240" y="2980944"/>
            <a:ext cx="201168" cy="201168"/>
          </a:xfrm>
          <a:prstGeom prst="rect">
            <a:avLst/>
          </a:prstGeom>
          <a:noFill/>
          <a:ln/>
        </p:spPr>
        <p:txBody>
          <a:bodyPr wrap="square" lIns="0" tIns="0" rIns="0" bIns="0" rtlCol="0" anchor="ctr"/>
          <a:lstStyle/>
          <a:p>
            <a:pPr algn="ctr" indent="0" marL="0">
              <a:buNone/>
            </a:pPr>
            <a:r>
              <a:rPr lang="en-US" sz="800" b="1" dirty="0">
                <a:solidFill>
                  <a:srgbClr val="27703F"/>
                </a:solidFill>
                <a:latin typeface="Arial" pitchFamily="34" charset="0"/>
                <a:ea typeface="Arial" pitchFamily="34" charset="-122"/>
                <a:cs typeface="Arial" pitchFamily="34" charset="-120"/>
              </a:rPr>
              <a:t>Y</a:t>
            </a:r>
            <a:endParaRPr lang="en-US" sz="800" dirty="0"/>
          </a:p>
        </p:txBody>
      </p:sp>
      <p:sp>
        <p:nvSpPr>
          <p:cNvPr id="13" name="Text 11"/>
          <p:cNvSpPr txBox="1"/>
          <p:nvPr/>
        </p:nvSpPr>
        <p:spPr>
          <a:xfrm>
            <a:off x="1143000" y="2907792"/>
            <a:ext cx="10241280" cy="274320"/>
          </a:xfrm>
          <a:prstGeom prst="rect">
            <a:avLst/>
          </a:prstGeom>
          <a:noFill/>
          <a:ln/>
        </p:spPr>
        <p:txBody>
          <a:bodyPr wrap="square" lIns="0" tIns="0" rIns="0" bIns="0" rtlCol="0" anchor="ctr"/>
          <a:lstStyle/>
          <a:p>
            <a:pPr indent="0" marL="0">
              <a:buNone/>
            </a:pPr>
            <a:r>
              <a:rPr lang="en-US" sz="1400" b="1" dirty="0">
                <a:solidFill>
                  <a:srgbClr val="1B2733"/>
                </a:solidFill>
                <a:latin typeface="Arial" pitchFamily="34" charset="0"/>
                <a:ea typeface="Arial" pitchFamily="34" charset="-122"/>
                <a:cs typeface="Arial" pitchFamily="34" charset="-120"/>
              </a:rPr>
              <a:t>You are a full-time student at an accredited, degree-granting institution</a:t>
            </a:r>
            <a:endParaRPr lang="en-US" sz="1400" dirty="0"/>
          </a:p>
        </p:txBody>
      </p:sp>
      <p:sp>
        <p:nvSpPr>
          <p:cNvPr id="14" name="Text 12"/>
          <p:cNvSpPr txBox="1"/>
          <p:nvPr/>
        </p:nvSpPr>
        <p:spPr>
          <a:xfrm>
            <a:off x="1143000" y="3218688"/>
            <a:ext cx="10241280" cy="45720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IIMT qualifies. You will confirm this during signup.</a:t>
            </a:r>
            <a:endParaRPr lang="en-US" sz="1150" dirty="0"/>
          </a:p>
        </p:txBody>
      </p:sp>
      <p:sp>
        <p:nvSpPr>
          <p:cNvPr id="15" name="Shape 13"/>
          <p:cNvSpPr/>
          <p:nvPr/>
        </p:nvSpPr>
        <p:spPr>
          <a:xfrm>
            <a:off x="548640" y="3895344"/>
            <a:ext cx="11064240" cy="932688"/>
          </a:xfrm>
          <a:prstGeom prst="rect">
            <a:avLst/>
          </a:prstGeom>
          <a:solidFill>
            <a:srgbClr val="FFFFFF"/>
          </a:solidFill>
          <a:ln w="9525">
            <a:solidFill>
              <a:srgbClr val="C3D0DC"/>
            </a:solidFill>
            <a:prstDash val="solid"/>
          </a:ln>
        </p:spPr>
      </p:sp>
      <p:sp>
        <p:nvSpPr>
          <p:cNvPr id="16" name="Shape 14"/>
          <p:cNvSpPr/>
          <p:nvPr/>
        </p:nvSpPr>
        <p:spPr>
          <a:xfrm>
            <a:off x="777240" y="4059936"/>
            <a:ext cx="201168" cy="201168"/>
          </a:xfrm>
          <a:prstGeom prst="ellipse">
            <a:avLst/>
          </a:prstGeom>
          <a:solidFill>
            <a:srgbClr val="FDF0E7"/>
          </a:solidFill>
          <a:ln w="15875">
            <a:solidFill>
              <a:srgbClr val="E8763A"/>
            </a:solidFill>
            <a:prstDash val="solid"/>
          </a:ln>
        </p:spPr>
      </p:sp>
      <p:sp>
        <p:nvSpPr>
          <p:cNvPr id="17" name="Text 15"/>
          <p:cNvSpPr txBox="1"/>
          <p:nvPr/>
        </p:nvSpPr>
        <p:spPr>
          <a:xfrm>
            <a:off x="777240" y="4059936"/>
            <a:ext cx="201168" cy="201168"/>
          </a:xfrm>
          <a:prstGeom prst="rect">
            <a:avLst/>
          </a:prstGeom>
          <a:noFill/>
          <a:ln/>
        </p:spPr>
        <p:txBody>
          <a:bodyPr wrap="square" lIns="0" tIns="0" rIns="0" bIns="0" rtlCol="0" anchor="ctr"/>
          <a:lstStyle/>
          <a:p>
            <a:pPr algn="ctr" indent="0" marL="0">
              <a:buNone/>
            </a:pPr>
            <a:r>
              <a:rPr lang="en-US" sz="800" b="1" dirty="0">
                <a:solidFill>
                  <a:srgbClr val="E8763A"/>
                </a:solidFill>
                <a:latin typeface="Arial" pitchFamily="34" charset="0"/>
                <a:ea typeface="Arial" pitchFamily="34" charset="-122"/>
                <a:cs typeface="Arial" pitchFamily="34" charset="-120"/>
              </a:rPr>
              <a:t>!</a:t>
            </a:r>
            <a:endParaRPr lang="en-US" sz="800" dirty="0"/>
          </a:p>
        </p:txBody>
      </p:sp>
      <p:sp>
        <p:nvSpPr>
          <p:cNvPr id="18" name="Text 16"/>
          <p:cNvSpPr txBox="1"/>
          <p:nvPr/>
        </p:nvSpPr>
        <p:spPr>
          <a:xfrm>
            <a:off x="1143000" y="3986784"/>
            <a:ext cx="10241280" cy="274320"/>
          </a:xfrm>
          <a:prstGeom prst="rect">
            <a:avLst/>
          </a:prstGeom>
          <a:noFill/>
          <a:ln/>
        </p:spPr>
        <p:txBody>
          <a:bodyPr wrap="square" lIns="0" tIns="0" rIns="0" bIns="0" rtlCol="0" anchor="ctr"/>
          <a:lstStyle/>
          <a:p>
            <a:pPr indent="0" marL="0">
              <a:buNone/>
            </a:pPr>
            <a:r>
              <a:rPr lang="en-US" sz="1400" b="1" dirty="0">
                <a:solidFill>
                  <a:srgbClr val="1B2733"/>
                </a:solidFill>
                <a:latin typeface="Arial" pitchFamily="34" charset="0"/>
                <a:ea typeface="Arial" pitchFamily="34" charset="-122"/>
                <a:cs typeface="Arial" pitchFamily="34" charset="-120"/>
              </a:rPr>
              <a:t>You can open your college mailbox right now</a:t>
            </a:r>
            <a:endParaRPr lang="en-US" sz="1400" dirty="0"/>
          </a:p>
        </p:txBody>
      </p:sp>
      <p:sp>
        <p:nvSpPr>
          <p:cNvPr id="19" name="Text 17"/>
          <p:cNvSpPr txBox="1"/>
          <p:nvPr/>
        </p:nvSpPr>
        <p:spPr>
          <a:xfrm>
            <a:off x="1143000" y="4297680"/>
            <a:ext cx="10241280" cy="45720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Verification goes to that address. If you have never logged into it, do that before you start - not halfway through.</a:t>
            </a:r>
            <a:endParaRPr lang="en-US" sz="1150" dirty="0"/>
          </a:p>
        </p:txBody>
      </p:sp>
      <p:sp>
        <p:nvSpPr>
          <p:cNvPr id="20" name="Shape 18"/>
          <p:cNvSpPr/>
          <p:nvPr/>
        </p:nvSpPr>
        <p:spPr>
          <a:xfrm>
            <a:off x="548640" y="4974336"/>
            <a:ext cx="11064240" cy="932688"/>
          </a:xfrm>
          <a:prstGeom prst="rect">
            <a:avLst/>
          </a:prstGeom>
          <a:solidFill>
            <a:srgbClr val="F4F7FA"/>
          </a:solidFill>
          <a:ln w="9525">
            <a:solidFill>
              <a:srgbClr val="C3D0DC"/>
            </a:solidFill>
            <a:prstDash val="solid"/>
          </a:ln>
        </p:spPr>
      </p:sp>
      <p:sp>
        <p:nvSpPr>
          <p:cNvPr id="21" name="Shape 19"/>
          <p:cNvSpPr/>
          <p:nvPr/>
        </p:nvSpPr>
        <p:spPr>
          <a:xfrm>
            <a:off x="777240" y="5138928"/>
            <a:ext cx="201168" cy="201168"/>
          </a:xfrm>
          <a:prstGeom prst="ellipse">
            <a:avLst/>
          </a:prstGeom>
          <a:solidFill>
            <a:srgbClr val="E6F4EA"/>
          </a:solidFill>
          <a:ln w="15875">
            <a:solidFill>
              <a:srgbClr val="3A8F5E"/>
            </a:solidFill>
            <a:prstDash val="solid"/>
          </a:ln>
        </p:spPr>
      </p:sp>
      <p:sp>
        <p:nvSpPr>
          <p:cNvPr id="22" name="Text 20"/>
          <p:cNvSpPr txBox="1"/>
          <p:nvPr/>
        </p:nvSpPr>
        <p:spPr>
          <a:xfrm>
            <a:off x="777240" y="5138928"/>
            <a:ext cx="201168" cy="201168"/>
          </a:xfrm>
          <a:prstGeom prst="rect">
            <a:avLst/>
          </a:prstGeom>
          <a:noFill/>
          <a:ln/>
        </p:spPr>
        <p:txBody>
          <a:bodyPr wrap="square" lIns="0" tIns="0" rIns="0" bIns="0" rtlCol="0" anchor="ctr"/>
          <a:lstStyle/>
          <a:p>
            <a:pPr algn="ctr" indent="0" marL="0">
              <a:buNone/>
            </a:pPr>
            <a:r>
              <a:rPr lang="en-US" sz="800" b="1" dirty="0">
                <a:solidFill>
                  <a:srgbClr val="27703F"/>
                </a:solidFill>
                <a:latin typeface="Arial" pitchFamily="34" charset="0"/>
                <a:ea typeface="Arial" pitchFamily="34" charset="-122"/>
                <a:cs typeface="Arial" pitchFamily="34" charset="-120"/>
              </a:rPr>
              <a:t>Y</a:t>
            </a:r>
            <a:endParaRPr lang="en-US" sz="800" dirty="0"/>
          </a:p>
        </p:txBody>
      </p:sp>
      <p:sp>
        <p:nvSpPr>
          <p:cNvPr id="23" name="Text 21"/>
          <p:cNvSpPr txBox="1"/>
          <p:nvPr/>
        </p:nvSpPr>
        <p:spPr>
          <a:xfrm>
            <a:off x="1143000" y="5065776"/>
            <a:ext cx="10241280" cy="274320"/>
          </a:xfrm>
          <a:prstGeom prst="rect">
            <a:avLst/>
          </a:prstGeom>
          <a:noFill/>
          <a:ln/>
        </p:spPr>
        <p:txBody>
          <a:bodyPr wrap="square" lIns="0" tIns="0" rIns="0" bIns="0" rtlCol="0" anchor="ctr"/>
          <a:lstStyle/>
          <a:p>
            <a:pPr indent="0" marL="0">
              <a:buNone/>
            </a:pPr>
            <a:r>
              <a:rPr lang="en-US" sz="1400" b="1" dirty="0">
                <a:solidFill>
                  <a:srgbClr val="1B2733"/>
                </a:solidFill>
                <a:latin typeface="Arial" pitchFamily="34" charset="0"/>
                <a:ea typeface="Arial" pitchFamily="34" charset="-122"/>
                <a:cs typeface="Arial" pitchFamily="34" charset="-120"/>
              </a:rPr>
              <a:t>You have your phone with you</a:t>
            </a:r>
            <a:endParaRPr lang="en-US" sz="1400" dirty="0"/>
          </a:p>
        </p:txBody>
      </p:sp>
      <p:sp>
        <p:nvSpPr>
          <p:cNvPr id="24" name="Text 22"/>
          <p:cNvSpPr txBox="1"/>
          <p:nvPr/>
        </p:nvSpPr>
        <p:spPr>
          <a:xfrm>
            <a:off x="1143000" y="5376672"/>
            <a:ext cx="10241280" cy="45720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A phone number is usually required for an SMS check, even though no card is.</a:t>
            </a:r>
            <a:endParaRPr lang="en-US" sz="1150" dirty="0"/>
          </a:p>
        </p:txBody>
      </p:sp>
      <p:sp>
        <p:nvSpPr>
          <p:cNvPr id="25" name="Shape 23"/>
          <p:cNvSpPr/>
          <p:nvPr/>
        </p:nvSpPr>
        <p:spPr>
          <a:xfrm>
            <a:off x="548640" y="6108192"/>
            <a:ext cx="11064240" cy="502920"/>
          </a:xfrm>
          <a:prstGeom prst="rect">
            <a:avLst/>
          </a:prstGeom>
          <a:solidFill>
            <a:srgbClr val="FDF0E7"/>
          </a:solidFill>
          <a:ln w="9525">
            <a:solidFill>
              <a:srgbClr val="E8763A"/>
            </a:solidFill>
            <a:prstDash val="solid"/>
          </a:ln>
        </p:spPr>
      </p:sp>
      <p:sp>
        <p:nvSpPr>
          <p:cNvPr id="26" name="Text 24"/>
          <p:cNvSpPr txBox="1"/>
          <p:nvPr/>
        </p:nvSpPr>
        <p:spPr>
          <a:xfrm>
            <a:off x="777240" y="6108192"/>
            <a:ext cx="10607040" cy="502920"/>
          </a:xfrm>
          <a:prstGeom prst="rect">
            <a:avLst/>
          </a:prstGeom>
          <a:noFill/>
          <a:ln/>
        </p:spPr>
        <p:txBody>
          <a:bodyPr wrap="square" lIns="0" tIns="0" rIns="0" bIns="0" rtlCol="0" anchor="ctr"/>
          <a:lstStyle/>
          <a:p>
            <a:pPr indent="0" marL="0">
              <a:buNone/>
            </a:pPr>
            <a:r>
              <a:rPr lang="en-US" sz="1150" b="1" dirty="0">
                <a:solidFill>
                  <a:srgbClr val="E8763A"/>
                </a:solidFill>
                <a:latin typeface="Arial" pitchFamily="34" charset="0"/>
                <a:ea typeface="Arial" pitchFamily="34" charset="-122"/>
                <a:cs typeface="Arial" pitchFamily="34" charset="-120"/>
              </a:rPr>
              <a:t>Never use a fake or purchased student email. It is fraud, the subscription gets terminated, and it can affect your Microsoft account permanently.</a:t>
            </a:r>
            <a:endParaRPr lang="en-US" sz="1150" dirty="0"/>
          </a:p>
        </p:txBody>
      </p:sp>
      <p:sp>
        <p:nvSpPr>
          <p:cNvPr id="27" name="Text 25"/>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Eligibility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THE PART EVERYONE GETS WRONG</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Which account do you sign in with?</a:t>
            </a:r>
            <a:endParaRPr lang="en-US" sz="3000" dirty="0"/>
          </a:p>
        </p:txBody>
      </p:sp>
      <p:sp>
        <p:nvSpPr>
          <p:cNvPr id="4" name="Text 2"/>
          <p:cNvSpPr txBox="1"/>
          <p:nvPr/>
        </p:nvSpPr>
        <p:spPr>
          <a:xfrm>
            <a:off x="548640" y="1225296"/>
            <a:ext cx="10881360" cy="310896"/>
          </a:xfrm>
          <a:prstGeom prst="rect">
            <a:avLst/>
          </a:prstGeom>
          <a:noFill/>
          <a:ln/>
        </p:spPr>
        <p:txBody>
          <a:bodyPr wrap="square" lIns="0" tIns="0" rIns="0" bIns="0" rtlCol="0" anchor="ctr"/>
          <a:lstStyle/>
          <a:p>
            <a:pPr indent="0" marL="0">
              <a:buNone/>
            </a:pPr>
            <a:r>
              <a:rPr lang="en-US" sz="1400" dirty="0">
                <a:solidFill>
                  <a:srgbClr val="5A6570"/>
                </a:solidFill>
                <a:latin typeface="Arial" pitchFamily="34" charset="0"/>
                <a:ea typeface="Arial" pitchFamily="34" charset="-122"/>
                <a:cs typeface="Arial" pitchFamily="34" charset="-120"/>
              </a:rPr>
              <a:t>Two different things are happening and students merge them into one. Separate them clearly or half the room ends up in the wrong directory.</a:t>
            </a:r>
            <a:endParaRPr lang="en-US" sz="1400" dirty="0"/>
          </a:p>
        </p:txBody>
      </p:sp>
      <p:sp>
        <p:nvSpPr>
          <p:cNvPr id="5" name="Shape 3"/>
          <p:cNvSpPr/>
          <p:nvPr/>
        </p:nvSpPr>
        <p:spPr>
          <a:xfrm>
            <a:off x="548640" y="1783080"/>
            <a:ext cx="5349240" cy="2286000"/>
          </a:xfrm>
          <a:prstGeom prst="rect">
            <a:avLst/>
          </a:prstGeom>
          <a:solidFill>
            <a:srgbClr val="FFFFFF"/>
          </a:solidFill>
          <a:ln w="25400">
            <a:solidFill>
              <a:srgbClr val="0078D4"/>
            </a:solidFill>
            <a:prstDash val="solid"/>
          </a:ln>
        </p:spPr>
      </p:sp>
      <p:sp>
        <p:nvSpPr>
          <p:cNvPr id="6" name="Text 4"/>
          <p:cNvSpPr txBox="1"/>
          <p:nvPr/>
        </p:nvSpPr>
        <p:spPr>
          <a:xfrm>
            <a:off x="804672" y="1965960"/>
            <a:ext cx="4846320" cy="256032"/>
          </a:xfrm>
          <a:prstGeom prst="rect">
            <a:avLst/>
          </a:prstGeom>
          <a:noFill/>
          <a:ln/>
        </p:spPr>
        <p:txBody>
          <a:bodyPr wrap="square" lIns="0" tIns="0" rIns="0" bIns="0" rtlCol="0" anchor="ctr"/>
          <a:lstStyle/>
          <a:p>
            <a:pPr indent="0" marL="0">
              <a:buNone/>
            </a:pPr>
            <a:r>
              <a:rPr lang="en-US" sz="1100" b="1" spc="150" kern="0" dirty="0">
                <a:solidFill>
                  <a:srgbClr val="0078D4"/>
                </a:solidFill>
                <a:latin typeface="Arial" pitchFamily="34" charset="0"/>
                <a:ea typeface="Arial" pitchFamily="34" charset="-122"/>
                <a:cs typeface="Arial" pitchFamily="34" charset="-120"/>
              </a:rPr>
              <a:t>Sign in with</a:t>
            </a:r>
            <a:endParaRPr lang="en-US" sz="1100" dirty="0"/>
          </a:p>
        </p:txBody>
      </p:sp>
      <p:sp>
        <p:nvSpPr>
          <p:cNvPr id="7" name="Text 5"/>
          <p:cNvSpPr txBox="1"/>
          <p:nvPr/>
        </p:nvSpPr>
        <p:spPr>
          <a:xfrm>
            <a:off x="804672" y="2267712"/>
            <a:ext cx="4846320" cy="384048"/>
          </a:xfrm>
          <a:prstGeom prst="rect">
            <a:avLst/>
          </a:prstGeom>
          <a:noFill/>
          <a:ln/>
        </p:spPr>
        <p:txBody>
          <a:bodyPr wrap="square" lIns="0" tIns="0" rIns="0" bIns="0" rtlCol="0" anchor="ctr"/>
          <a:lstStyle/>
          <a:p>
            <a:pPr indent="0" marL="0">
              <a:buNone/>
            </a:pPr>
            <a:r>
              <a:rPr lang="en-US" sz="2000" b="1" dirty="0">
                <a:solidFill>
                  <a:srgbClr val="1B2733"/>
                </a:solidFill>
                <a:latin typeface="Cambria" pitchFamily="34" charset="0"/>
                <a:ea typeface="Cambria" pitchFamily="34" charset="-122"/>
                <a:cs typeface="Cambria" pitchFamily="34" charset="-120"/>
              </a:rPr>
              <a:t>A Microsoft account</a:t>
            </a:r>
            <a:endParaRPr lang="en-US" sz="2000" dirty="0"/>
          </a:p>
        </p:txBody>
      </p:sp>
      <p:sp>
        <p:nvSpPr>
          <p:cNvPr id="8" name="Text 6"/>
          <p:cNvSpPr txBox="1"/>
          <p:nvPr/>
        </p:nvSpPr>
        <p:spPr>
          <a:xfrm>
            <a:off x="804672" y="2743200"/>
            <a:ext cx="4846320" cy="1188720"/>
          </a:xfrm>
          <a:prstGeom prst="rect">
            <a:avLst/>
          </a:prstGeom>
          <a:noFill/>
          <a:ln/>
        </p:spPr>
        <p:txBody>
          <a:bodyPr wrap="square" lIns="0" tIns="0" rIns="0" bIns="0" rtlCol="0" anchor="t"/>
          <a:lstStyle/>
          <a:p>
            <a:pPr indent="0" marL="0">
              <a:lnSpc>
                <a:spcPts val="1700"/>
              </a:lnSpc>
              <a:buNone/>
            </a:pPr>
            <a:r>
              <a:rPr lang="en-US" sz="1200" dirty="0">
                <a:solidFill>
                  <a:srgbClr val="5A6570"/>
                </a:solidFill>
                <a:latin typeface="Arial" pitchFamily="34" charset="0"/>
                <a:ea typeface="Arial" pitchFamily="34" charset="-122"/>
                <a:cs typeface="Arial" pitchFamily="34" charset="-120"/>
              </a:rPr>
              <a:t>This is the identity you log into Azure with. It can be a personal Microsoft account, and on many campuses that works more reliably than the college-issued one.</a:t>
            </a:r>
            <a:endParaRPr lang="en-US" sz="1200" dirty="0"/>
          </a:p>
        </p:txBody>
      </p:sp>
      <p:sp>
        <p:nvSpPr>
          <p:cNvPr id="9" name="Shape 7"/>
          <p:cNvSpPr/>
          <p:nvPr/>
        </p:nvSpPr>
        <p:spPr>
          <a:xfrm>
            <a:off x="6263640" y="1783080"/>
            <a:ext cx="5349240" cy="2286000"/>
          </a:xfrm>
          <a:prstGeom prst="rect">
            <a:avLst/>
          </a:prstGeom>
          <a:solidFill>
            <a:srgbClr val="FFFFFF"/>
          </a:solidFill>
          <a:ln w="25400">
            <a:solidFill>
              <a:srgbClr val="E8763A"/>
            </a:solidFill>
            <a:prstDash val="solid"/>
          </a:ln>
        </p:spPr>
      </p:sp>
      <p:sp>
        <p:nvSpPr>
          <p:cNvPr id="10" name="Text 8"/>
          <p:cNvSpPr txBox="1"/>
          <p:nvPr/>
        </p:nvSpPr>
        <p:spPr>
          <a:xfrm>
            <a:off x="6519672" y="1965960"/>
            <a:ext cx="4846320" cy="256032"/>
          </a:xfrm>
          <a:prstGeom prst="rect">
            <a:avLst/>
          </a:prstGeom>
          <a:noFill/>
          <a:ln/>
        </p:spPr>
        <p:txBody>
          <a:bodyPr wrap="square" lIns="0" tIns="0" rIns="0" bIns="0" rtlCol="0" anchor="ctr"/>
          <a:lstStyle/>
          <a:p>
            <a:pPr indent="0" marL="0">
              <a:buNone/>
            </a:pPr>
            <a:r>
              <a:rPr lang="en-US" sz="1100" b="1" spc="150" kern="0" dirty="0">
                <a:solidFill>
                  <a:srgbClr val="E8763A"/>
                </a:solidFill>
                <a:latin typeface="Arial" pitchFamily="34" charset="0"/>
                <a:ea typeface="Arial" pitchFamily="34" charset="-122"/>
                <a:cs typeface="Arial" pitchFamily="34" charset="-120"/>
              </a:rPr>
              <a:t>Verify with</a:t>
            </a:r>
            <a:endParaRPr lang="en-US" sz="1100" dirty="0"/>
          </a:p>
        </p:txBody>
      </p:sp>
      <p:sp>
        <p:nvSpPr>
          <p:cNvPr id="11" name="Text 9"/>
          <p:cNvSpPr txBox="1"/>
          <p:nvPr/>
        </p:nvSpPr>
        <p:spPr>
          <a:xfrm>
            <a:off x="6519672" y="2267712"/>
            <a:ext cx="4846320" cy="384048"/>
          </a:xfrm>
          <a:prstGeom prst="rect">
            <a:avLst/>
          </a:prstGeom>
          <a:noFill/>
          <a:ln/>
        </p:spPr>
        <p:txBody>
          <a:bodyPr wrap="square" lIns="0" tIns="0" rIns="0" bIns="0" rtlCol="0" anchor="ctr"/>
          <a:lstStyle/>
          <a:p>
            <a:pPr indent="0" marL="0">
              <a:buNone/>
            </a:pPr>
            <a:r>
              <a:rPr lang="en-US" sz="2000" b="1" dirty="0">
                <a:solidFill>
                  <a:srgbClr val="1B2733"/>
                </a:solidFill>
                <a:latin typeface="Cambria" pitchFamily="34" charset="0"/>
                <a:ea typeface="Cambria" pitchFamily="34" charset="-122"/>
                <a:cs typeface="Cambria" pitchFamily="34" charset="-120"/>
              </a:rPr>
              <a:t>Your college email address</a:t>
            </a:r>
            <a:endParaRPr lang="en-US" sz="2000" dirty="0"/>
          </a:p>
        </p:txBody>
      </p:sp>
      <p:sp>
        <p:nvSpPr>
          <p:cNvPr id="12" name="Text 10"/>
          <p:cNvSpPr txBox="1"/>
          <p:nvPr/>
        </p:nvSpPr>
        <p:spPr>
          <a:xfrm>
            <a:off x="6519672" y="2743200"/>
            <a:ext cx="4846320" cy="1188720"/>
          </a:xfrm>
          <a:prstGeom prst="rect">
            <a:avLst/>
          </a:prstGeom>
          <a:noFill/>
          <a:ln/>
        </p:spPr>
        <p:txBody>
          <a:bodyPr wrap="square" lIns="0" tIns="0" rIns="0" bIns="0" rtlCol="0" anchor="t"/>
          <a:lstStyle/>
          <a:p>
            <a:pPr indent="0" marL="0">
              <a:lnSpc>
                <a:spcPts val="1700"/>
              </a:lnSpc>
              <a:buNone/>
            </a:pPr>
            <a:r>
              <a:rPr lang="en-US" sz="1200" dirty="0">
                <a:solidFill>
                  <a:srgbClr val="5A6570"/>
                </a:solidFill>
                <a:latin typeface="Arial" pitchFamily="34" charset="0"/>
                <a:ea typeface="Arial" pitchFamily="34" charset="-122"/>
                <a:cs typeface="Arial" pitchFamily="34" charset="-120"/>
              </a:rPr>
              <a:t>This is only the proof that you are a student. Microsoft sends a code or link there. It does not have to be the account you signed in with.</a:t>
            </a:r>
            <a:endParaRPr lang="en-US" sz="1200" dirty="0"/>
          </a:p>
        </p:txBody>
      </p:sp>
      <p:sp>
        <p:nvSpPr>
          <p:cNvPr id="13" name="Shape 11"/>
          <p:cNvSpPr/>
          <p:nvPr/>
        </p:nvSpPr>
        <p:spPr>
          <a:xfrm>
            <a:off x="548640" y="4251960"/>
            <a:ext cx="11064240" cy="1417320"/>
          </a:xfrm>
          <a:prstGeom prst="rect">
            <a:avLst/>
          </a:prstGeom>
          <a:solidFill>
            <a:srgbClr val="FDF0E7"/>
          </a:solidFill>
          <a:ln w="12700">
            <a:solidFill>
              <a:srgbClr val="E8763A"/>
            </a:solidFill>
            <a:prstDash val="solid"/>
          </a:ln>
        </p:spPr>
      </p:sp>
      <p:sp>
        <p:nvSpPr>
          <p:cNvPr id="14" name="Text 12"/>
          <p:cNvSpPr txBox="1"/>
          <p:nvPr/>
        </p:nvSpPr>
        <p:spPr>
          <a:xfrm>
            <a:off x="804672" y="4389120"/>
            <a:ext cx="10515600" cy="274320"/>
          </a:xfrm>
          <a:prstGeom prst="rect">
            <a:avLst/>
          </a:prstGeom>
          <a:noFill/>
          <a:ln/>
        </p:spPr>
        <p:txBody>
          <a:bodyPr wrap="square" lIns="0" tIns="0" rIns="0" bIns="0" rtlCol="0" anchor="ctr"/>
          <a:lstStyle/>
          <a:p>
            <a:pPr indent="0" marL="0">
              <a:buNone/>
            </a:pPr>
            <a:r>
              <a:rPr lang="en-US" sz="1300" b="1" dirty="0">
                <a:solidFill>
                  <a:srgbClr val="E8763A"/>
                </a:solidFill>
                <a:latin typeface="Arial" pitchFamily="34" charset="0"/>
                <a:ea typeface="Arial" pitchFamily="34" charset="-122"/>
                <a:cs typeface="Arial" pitchFamily="34" charset="-120"/>
              </a:rPr>
              <a:t>Why this matters on a campus</a:t>
            </a:r>
            <a:endParaRPr lang="en-US" sz="1300" dirty="0"/>
          </a:p>
        </p:txBody>
      </p:sp>
      <p:sp>
        <p:nvSpPr>
          <p:cNvPr id="15" name="Text 13"/>
          <p:cNvSpPr txBox="1"/>
          <p:nvPr/>
        </p:nvSpPr>
        <p:spPr>
          <a:xfrm>
            <a:off x="804672" y="4700016"/>
            <a:ext cx="10515600" cy="914400"/>
          </a:xfrm>
          <a:prstGeom prst="rect">
            <a:avLst/>
          </a:prstGeom>
          <a:noFill/>
          <a:ln/>
        </p:spPr>
        <p:txBody>
          <a:bodyPr wrap="square" lIns="0" tIns="0" rIns="0" bIns="0" rtlCol="0" anchor="t"/>
          <a:lstStyle/>
          <a:p>
            <a:pPr indent="0" marL="0">
              <a:lnSpc>
                <a:spcPts val="1600"/>
              </a:lnSpc>
              <a:buNone/>
            </a:pPr>
            <a:r>
              <a:rPr lang="en-US" sz="1200" dirty="0">
                <a:solidFill>
                  <a:srgbClr val="1B2733"/>
                </a:solidFill>
                <a:latin typeface="Arial" pitchFamily="34" charset="0"/>
                <a:ea typeface="Arial" pitchFamily="34" charset="-122"/>
                <a:cs typeface="Arial" pitchFamily="34" charset="-120"/>
              </a:rPr>
              <a:t>If the college runs its mail on Microsoft 365, your college account belongs to the college's directory. The administrator there may block self-service sign-ups outright, or the subscription may be created inside the college directory where you have limited rights. Both produce the wrong-directory problem you will meet again in Lab 01.</a:t>
            </a:r>
            <a:endParaRPr lang="en-US" sz="1200" dirty="0"/>
          </a:p>
        </p:txBody>
      </p:sp>
      <p:sp>
        <p:nvSpPr>
          <p:cNvPr id="16" name="Shape 14"/>
          <p:cNvSpPr/>
          <p:nvPr/>
        </p:nvSpPr>
        <p:spPr>
          <a:xfrm>
            <a:off x="548640" y="5852160"/>
            <a:ext cx="11064240" cy="566928"/>
          </a:xfrm>
          <a:prstGeom prst="rect">
            <a:avLst/>
          </a:prstGeom>
          <a:solidFill>
            <a:srgbClr val="E8F2FB"/>
          </a:solidFill>
          <a:ln w="9525">
            <a:solidFill>
              <a:srgbClr val="0078D4"/>
            </a:solidFill>
            <a:prstDash val="solid"/>
          </a:ln>
        </p:spPr>
      </p:sp>
      <p:sp>
        <p:nvSpPr>
          <p:cNvPr id="17" name="Text 15"/>
          <p:cNvSpPr txBox="1"/>
          <p:nvPr/>
        </p:nvSpPr>
        <p:spPr>
          <a:xfrm>
            <a:off x="804672" y="5852160"/>
            <a:ext cx="10515600" cy="566928"/>
          </a:xfrm>
          <a:prstGeom prst="rect">
            <a:avLst/>
          </a:prstGeom>
          <a:noFill/>
          <a:ln/>
        </p:spPr>
        <p:txBody>
          <a:bodyPr wrap="square" lIns="0" tIns="0" rIns="0" bIns="0" rtlCol="0" anchor="ctr"/>
          <a:lstStyle/>
          <a:p>
            <a:pPr indent="0" marL="0">
              <a:buNone/>
            </a:pPr>
            <a:r>
              <a:rPr lang="en-US" sz="1200" b="1" dirty="0">
                <a:solidFill>
                  <a:srgbClr val="0078D4"/>
                </a:solidFill>
                <a:latin typeface="Arial" pitchFamily="34" charset="0"/>
                <a:ea typeface="Arial" pitchFamily="34" charset="-122"/>
                <a:cs typeface="Arial" pitchFamily="34" charset="-120"/>
              </a:rPr>
              <a:t>Whichever route you take, write down which account you used. You will need the same one every single lab.</a:t>
            </a:r>
            <a:endParaRPr lang="en-US" sz="1200" dirty="0"/>
          </a:p>
        </p:txBody>
      </p:sp>
      <p:sp>
        <p:nvSpPr>
          <p:cNvPr id="18" name="Text 16"/>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Accounts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Open the Azure for Students page</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Search for Azure for Students, or go straight to the students page.</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Confirm the page mentions the student offer and no credit card.</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Select the start or activate button.</a:t>
            </a:r>
            <a:endParaRPr lang="en-US" sz="1300" dirty="0"/>
          </a:p>
        </p:txBody>
      </p:sp>
      <p:sp>
        <p:nvSpPr>
          <p:cNvPr id="6" name="Shape 4"/>
          <p:cNvSpPr/>
          <p:nvPr/>
        </p:nvSpPr>
        <p:spPr>
          <a:xfrm>
            <a:off x="566928" y="3794760"/>
            <a:ext cx="4114800" cy="1325880"/>
          </a:xfrm>
          <a:prstGeom prst="rect">
            <a:avLst/>
          </a:prstGeom>
          <a:solidFill>
            <a:srgbClr val="FDF0E7"/>
          </a:solidFill>
          <a:ln w="9525">
            <a:solidFill>
              <a:srgbClr val="E8763A"/>
            </a:solidFill>
            <a:prstDash val="solid"/>
          </a:ln>
        </p:spPr>
      </p:sp>
      <p:sp>
        <p:nvSpPr>
          <p:cNvPr id="7" name="Text 5"/>
          <p:cNvSpPr txBox="1"/>
          <p:nvPr/>
        </p:nvSpPr>
        <p:spPr>
          <a:xfrm>
            <a:off x="749808" y="3904488"/>
            <a:ext cx="3749040" cy="182880"/>
          </a:xfrm>
          <a:prstGeom prst="rect">
            <a:avLst/>
          </a:prstGeom>
          <a:noFill/>
          <a:ln/>
        </p:spPr>
        <p:txBody>
          <a:bodyPr wrap="square" lIns="0" tIns="0" rIns="0" bIns="0" rtlCol="0" anchor="ctr"/>
          <a:lstStyle/>
          <a:p>
            <a:pPr indent="0" marL="0">
              <a:buNone/>
            </a:pPr>
            <a:r>
              <a:rPr lang="en-US" sz="850" b="1" spc="100" kern="0" dirty="0">
                <a:solidFill>
                  <a:srgbClr val="E8763A"/>
                </a:solidFill>
                <a:latin typeface="Arial" pitchFamily="34" charset="0"/>
                <a:ea typeface="Arial" pitchFamily="34" charset="-122"/>
                <a:cs typeface="Arial" pitchFamily="34" charset="-120"/>
              </a:rPr>
              <a:t>WATCH OUT</a:t>
            </a:r>
            <a:endParaRPr lang="en-US" sz="850" dirty="0"/>
          </a:p>
        </p:txBody>
      </p:sp>
      <p:sp>
        <p:nvSpPr>
          <p:cNvPr id="8" name="Text 6"/>
          <p:cNvSpPr txBox="1"/>
          <p:nvPr/>
        </p:nvSpPr>
        <p:spPr>
          <a:xfrm>
            <a:off x="749808" y="412394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If the page you are on asks for a credit card, you are on the wrong page. Go back and find the students page specifically.</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E9EEF3"/>
          </a:solidFill>
          <a:ln w="12700">
            <a:solidFill>
              <a:srgbClr val="E9EEF3"/>
            </a:solidFill>
            <a:prstDash val="solid"/>
          </a:ln>
        </p:spPr>
      </p:sp>
      <p:sp>
        <p:nvSpPr>
          <p:cNvPr id="11" name="Shape 9"/>
          <p:cNvSpPr/>
          <p:nvPr/>
        </p:nvSpPr>
        <p:spPr>
          <a:xfrm>
            <a:off x="5148072" y="1307592"/>
            <a:ext cx="100584" cy="100584"/>
          </a:xfrm>
          <a:prstGeom prst="ellipse">
            <a:avLst/>
          </a:prstGeom>
          <a:solidFill>
            <a:srgbClr val="BCC7D2"/>
          </a:solidFill>
          <a:ln w="12700">
            <a:solidFill>
              <a:srgbClr val="BCC7D2"/>
            </a:solidFill>
            <a:prstDash val="solid"/>
          </a:ln>
        </p:spPr>
      </p:sp>
      <p:sp>
        <p:nvSpPr>
          <p:cNvPr id="12" name="Shape 10"/>
          <p:cNvSpPr/>
          <p:nvPr/>
        </p:nvSpPr>
        <p:spPr>
          <a:xfrm>
            <a:off x="5303520" y="1307592"/>
            <a:ext cx="100584" cy="100584"/>
          </a:xfrm>
          <a:prstGeom prst="ellipse">
            <a:avLst/>
          </a:prstGeom>
          <a:solidFill>
            <a:srgbClr val="BCC7D2"/>
          </a:solidFill>
          <a:ln w="12700">
            <a:solidFill>
              <a:srgbClr val="BCC7D2"/>
            </a:solidFill>
            <a:prstDash val="solid"/>
          </a:ln>
        </p:spPr>
      </p:sp>
      <p:sp>
        <p:nvSpPr>
          <p:cNvPr id="13" name="Shape 11"/>
          <p:cNvSpPr/>
          <p:nvPr/>
        </p:nvSpPr>
        <p:spPr>
          <a:xfrm>
            <a:off x="5458968" y="1307592"/>
            <a:ext cx="100584" cy="100584"/>
          </a:xfrm>
          <a:prstGeom prst="ellipse">
            <a:avLst/>
          </a:prstGeom>
          <a:solidFill>
            <a:srgbClr val="BCC7D2"/>
          </a:solidFill>
          <a:ln w="12700">
            <a:solidFill>
              <a:srgbClr val="BCC7D2"/>
            </a:solidFill>
            <a:prstDash val="solid"/>
          </a:ln>
        </p:spPr>
      </p:sp>
      <p:sp>
        <p:nvSpPr>
          <p:cNvPr id="14" name="Shape 12"/>
          <p:cNvSpPr/>
          <p:nvPr/>
        </p:nvSpPr>
        <p:spPr>
          <a:xfrm>
            <a:off x="5687568" y="1271016"/>
            <a:ext cx="5852160" cy="192024"/>
          </a:xfrm>
          <a:prstGeom prst="roundRect">
            <a:avLst>
              <a:gd name="adj" fmla="val 14286"/>
            </a:avLst>
          </a:prstGeom>
          <a:solidFill>
            <a:srgbClr val="FFFFFF"/>
          </a:solidFill>
          <a:ln w="6350">
            <a:solidFill>
              <a:srgbClr val="CFD9E3"/>
            </a:solidFill>
            <a:prstDash val="solid"/>
          </a:ln>
        </p:spPr>
      </p:sp>
      <p:sp>
        <p:nvSpPr>
          <p:cNvPr id="15" name="Text 13"/>
          <p:cNvSpPr txBox="1"/>
          <p:nvPr/>
        </p:nvSpPr>
        <p:spPr>
          <a:xfrm>
            <a:off x="5797296" y="1271016"/>
            <a:ext cx="5669280" cy="19202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azure.microsoft.com/free/students</a:t>
            </a:r>
            <a:endParaRPr lang="en-US" sz="700" dirty="0"/>
          </a:p>
        </p:txBody>
      </p:sp>
      <p:sp>
        <p:nvSpPr>
          <p:cNvPr id="16" name="Shape 14"/>
          <p:cNvSpPr/>
          <p:nvPr/>
        </p:nvSpPr>
        <p:spPr>
          <a:xfrm>
            <a:off x="5257800" y="1783080"/>
            <a:ext cx="82296" cy="82296"/>
          </a:xfrm>
          <a:prstGeom prst="rect">
            <a:avLst/>
          </a:prstGeom>
          <a:solidFill>
            <a:srgbClr val="F25022"/>
          </a:solidFill>
          <a:ln w="12700">
            <a:solidFill>
              <a:srgbClr val="F25022"/>
            </a:solidFill>
            <a:prstDash val="solid"/>
          </a:ln>
        </p:spPr>
      </p:sp>
      <p:sp>
        <p:nvSpPr>
          <p:cNvPr id="17" name="Shape 15"/>
          <p:cNvSpPr/>
          <p:nvPr/>
        </p:nvSpPr>
        <p:spPr>
          <a:xfrm>
            <a:off x="5358384" y="1783080"/>
            <a:ext cx="82296" cy="82296"/>
          </a:xfrm>
          <a:prstGeom prst="rect">
            <a:avLst/>
          </a:prstGeom>
          <a:solidFill>
            <a:srgbClr val="7FBA00"/>
          </a:solidFill>
          <a:ln w="12700">
            <a:solidFill>
              <a:srgbClr val="7FBA00"/>
            </a:solidFill>
            <a:prstDash val="solid"/>
          </a:ln>
        </p:spPr>
      </p:sp>
      <p:sp>
        <p:nvSpPr>
          <p:cNvPr id="18" name="Shape 16"/>
          <p:cNvSpPr/>
          <p:nvPr/>
        </p:nvSpPr>
        <p:spPr>
          <a:xfrm>
            <a:off x="5257800" y="1883664"/>
            <a:ext cx="82296" cy="82296"/>
          </a:xfrm>
          <a:prstGeom prst="rect">
            <a:avLst/>
          </a:prstGeom>
          <a:solidFill>
            <a:srgbClr val="00A4EF"/>
          </a:solidFill>
          <a:ln w="12700">
            <a:solidFill>
              <a:srgbClr val="00A4EF"/>
            </a:solidFill>
            <a:prstDash val="solid"/>
          </a:ln>
        </p:spPr>
      </p:sp>
      <p:sp>
        <p:nvSpPr>
          <p:cNvPr id="19" name="Shape 17"/>
          <p:cNvSpPr/>
          <p:nvPr/>
        </p:nvSpPr>
        <p:spPr>
          <a:xfrm>
            <a:off x="5358384" y="1883664"/>
            <a:ext cx="82296" cy="82296"/>
          </a:xfrm>
          <a:prstGeom prst="rect">
            <a:avLst/>
          </a:prstGeom>
          <a:solidFill>
            <a:srgbClr val="FFB900"/>
          </a:solidFill>
          <a:ln w="12700">
            <a:solidFill>
              <a:srgbClr val="FFB900"/>
            </a:solidFill>
            <a:prstDash val="solid"/>
          </a:ln>
        </p:spPr>
      </p:sp>
      <p:sp>
        <p:nvSpPr>
          <p:cNvPr id="20" name="Text 18"/>
          <p:cNvSpPr txBox="1"/>
          <p:nvPr/>
        </p:nvSpPr>
        <p:spPr>
          <a:xfrm>
            <a:off x="5532120" y="1764792"/>
            <a:ext cx="1097280" cy="219456"/>
          </a:xfrm>
          <a:prstGeom prst="rect">
            <a:avLst/>
          </a:prstGeom>
          <a:noFill/>
          <a:ln/>
        </p:spPr>
        <p:txBody>
          <a:bodyPr wrap="square" lIns="0" tIns="0" rIns="0" bIns="0" rtlCol="0" anchor="ctr"/>
          <a:lstStyle/>
          <a:p>
            <a:pPr indent="0" marL="0">
              <a:buNone/>
            </a:pPr>
            <a:r>
              <a:rPr lang="en-US" sz="950" dirty="0">
                <a:solidFill>
                  <a:srgbClr val="1B2733"/>
                </a:solidFill>
                <a:latin typeface="Arial" pitchFamily="34" charset="0"/>
                <a:ea typeface="Arial" pitchFamily="34" charset="-122"/>
                <a:cs typeface="Arial" pitchFamily="34" charset="-120"/>
              </a:rPr>
              <a:t>Microsoft</a:t>
            </a:r>
            <a:endParaRPr lang="en-US" sz="950" dirty="0"/>
          </a:p>
        </p:txBody>
      </p:sp>
      <p:sp>
        <p:nvSpPr>
          <p:cNvPr id="21" name="Text 19"/>
          <p:cNvSpPr txBox="1"/>
          <p:nvPr/>
        </p:nvSpPr>
        <p:spPr>
          <a:xfrm>
            <a:off x="5257800" y="2194560"/>
            <a:ext cx="6217920" cy="457200"/>
          </a:xfrm>
          <a:prstGeom prst="rect">
            <a:avLst/>
          </a:prstGeom>
          <a:noFill/>
          <a:ln/>
        </p:spPr>
        <p:txBody>
          <a:bodyPr wrap="square" lIns="0" tIns="0" rIns="0" bIns="0" rtlCol="0" anchor="ctr"/>
          <a:lstStyle/>
          <a:p>
            <a:pPr indent="0" marL="0">
              <a:buNone/>
            </a:pPr>
            <a:r>
              <a:rPr lang="en-US" sz="2400" b="1" dirty="0">
                <a:solidFill>
                  <a:srgbClr val="1B2733"/>
                </a:solidFill>
                <a:latin typeface="Cambria" pitchFamily="34" charset="0"/>
                <a:ea typeface="Cambria" pitchFamily="34" charset="-122"/>
                <a:cs typeface="Cambria" pitchFamily="34" charset="-120"/>
              </a:rPr>
              <a:t>Azure for Students</a:t>
            </a:r>
            <a:endParaRPr lang="en-US" sz="2400" dirty="0"/>
          </a:p>
        </p:txBody>
      </p:sp>
      <p:sp>
        <p:nvSpPr>
          <p:cNvPr id="22" name="Text 20"/>
          <p:cNvSpPr txBox="1"/>
          <p:nvPr/>
        </p:nvSpPr>
        <p:spPr>
          <a:xfrm>
            <a:off x="5257800" y="2697480"/>
            <a:ext cx="5852160" cy="310896"/>
          </a:xfrm>
          <a:prstGeom prst="rect">
            <a:avLst/>
          </a:prstGeom>
          <a:noFill/>
          <a:ln/>
        </p:spPr>
        <p:txBody>
          <a:bodyPr wrap="square" lIns="0" tIns="0" rIns="0" bIns="0" rtlCol="0" anchor="ctr"/>
          <a:lstStyle/>
          <a:p>
            <a:pPr indent="0" marL="0">
              <a:buNone/>
            </a:pPr>
            <a:r>
              <a:rPr lang="en-US" sz="1100" dirty="0">
                <a:solidFill>
                  <a:srgbClr val="5A6570"/>
                </a:solidFill>
                <a:latin typeface="Arial" pitchFamily="34" charset="0"/>
                <a:ea typeface="Arial" pitchFamily="34" charset="-122"/>
                <a:cs typeface="Arial" pitchFamily="34" charset="-120"/>
              </a:rPr>
              <a:t>Get started with free credit and free services. No credit card required.</a:t>
            </a:r>
            <a:endParaRPr lang="en-US" sz="1100" dirty="0"/>
          </a:p>
        </p:txBody>
      </p:sp>
      <p:sp>
        <p:nvSpPr>
          <p:cNvPr id="23" name="Shape 21"/>
          <p:cNvSpPr/>
          <p:nvPr/>
        </p:nvSpPr>
        <p:spPr>
          <a:xfrm>
            <a:off x="5257800" y="3154680"/>
            <a:ext cx="1920240" cy="914400"/>
          </a:xfrm>
          <a:prstGeom prst="rect">
            <a:avLst/>
          </a:prstGeom>
          <a:solidFill>
            <a:srgbClr val="E8F2FB"/>
          </a:solidFill>
          <a:ln w="9525">
            <a:solidFill>
              <a:srgbClr val="CFE3F5"/>
            </a:solidFill>
            <a:prstDash val="solid"/>
          </a:ln>
        </p:spPr>
      </p:sp>
      <p:sp>
        <p:nvSpPr>
          <p:cNvPr id="24" name="Text 22"/>
          <p:cNvSpPr txBox="1"/>
          <p:nvPr/>
        </p:nvSpPr>
        <p:spPr>
          <a:xfrm>
            <a:off x="5385816" y="3273552"/>
            <a:ext cx="1691640" cy="274320"/>
          </a:xfrm>
          <a:prstGeom prst="rect">
            <a:avLst/>
          </a:prstGeom>
          <a:noFill/>
          <a:ln/>
        </p:spPr>
        <p:txBody>
          <a:bodyPr wrap="square" lIns="0" tIns="0" rIns="0" bIns="0" rtlCol="0" anchor="ctr"/>
          <a:lstStyle/>
          <a:p>
            <a:pPr indent="0" marL="0">
              <a:buNone/>
            </a:pPr>
            <a:r>
              <a:rPr lang="en-US" sz="1050" b="1" dirty="0">
                <a:solidFill>
                  <a:srgbClr val="0078D4"/>
                </a:solidFill>
                <a:latin typeface="Arial" pitchFamily="34" charset="0"/>
                <a:ea typeface="Arial" pitchFamily="34" charset="-122"/>
                <a:cs typeface="Arial" pitchFamily="34" charset="-120"/>
              </a:rPr>
              <a:t>USD 100 credit</a:t>
            </a:r>
            <a:endParaRPr lang="en-US" sz="1050" dirty="0"/>
          </a:p>
        </p:txBody>
      </p:sp>
      <p:sp>
        <p:nvSpPr>
          <p:cNvPr id="25" name="Text 23"/>
          <p:cNvSpPr txBox="1"/>
          <p:nvPr/>
        </p:nvSpPr>
        <p:spPr>
          <a:xfrm>
            <a:off x="5385816" y="3547872"/>
            <a:ext cx="1691640" cy="457200"/>
          </a:xfrm>
          <a:prstGeom prst="rect">
            <a:avLst/>
          </a:prstGeom>
          <a:noFill/>
          <a:ln/>
        </p:spPr>
        <p:txBody>
          <a:bodyPr wrap="square" lIns="0" tIns="0" rIns="0" bIns="0" rtlCol="0" anchor="t"/>
          <a:lstStyle/>
          <a:p>
            <a:pPr indent="0" marL="0">
              <a:lnSpc>
                <a:spcPts val="1100"/>
              </a:lnSpc>
              <a:buNone/>
            </a:pPr>
            <a:r>
              <a:rPr lang="en-US" sz="850" dirty="0">
                <a:solidFill>
                  <a:srgbClr val="5A6570"/>
                </a:solidFill>
                <a:latin typeface="Arial" pitchFamily="34" charset="0"/>
                <a:ea typeface="Arial" pitchFamily="34" charset="-122"/>
                <a:cs typeface="Arial" pitchFamily="34" charset="-120"/>
              </a:rPr>
              <a:t>to use in 12 months</a:t>
            </a:r>
            <a:endParaRPr lang="en-US" sz="850" dirty="0"/>
          </a:p>
        </p:txBody>
      </p:sp>
      <p:sp>
        <p:nvSpPr>
          <p:cNvPr id="26" name="Shape 24"/>
          <p:cNvSpPr/>
          <p:nvPr/>
        </p:nvSpPr>
        <p:spPr>
          <a:xfrm>
            <a:off x="7342632" y="3154680"/>
            <a:ext cx="1920240" cy="914400"/>
          </a:xfrm>
          <a:prstGeom prst="rect">
            <a:avLst/>
          </a:prstGeom>
          <a:solidFill>
            <a:srgbClr val="E8F2FB"/>
          </a:solidFill>
          <a:ln w="9525">
            <a:solidFill>
              <a:srgbClr val="CFE3F5"/>
            </a:solidFill>
            <a:prstDash val="solid"/>
          </a:ln>
        </p:spPr>
      </p:sp>
      <p:sp>
        <p:nvSpPr>
          <p:cNvPr id="27" name="Text 25"/>
          <p:cNvSpPr txBox="1"/>
          <p:nvPr/>
        </p:nvSpPr>
        <p:spPr>
          <a:xfrm>
            <a:off x="7470648" y="3273552"/>
            <a:ext cx="1691640" cy="274320"/>
          </a:xfrm>
          <a:prstGeom prst="rect">
            <a:avLst/>
          </a:prstGeom>
          <a:noFill/>
          <a:ln/>
        </p:spPr>
        <p:txBody>
          <a:bodyPr wrap="square" lIns="0" tIns="0" rIns="0" bIns="0" rtlCol="0" anchor="ctr"/>
          <a:lstStyle/>
          <a:p>
            <a:pPr indent="0" marL="0">
              <a:buNone/>
            </a:pPr>
            <a:r>
              <a:rPr lang="en-US" sz="1050" b="1" dirty="0">
                <a:solidFill>
                  <a:srgbClr val="0078D4"/>
                </a:solidFill>
                <a:latin typeface="Arial" pitchFamily="34" charset="0"/>
                <a:ea typeface="Arial" pitchFamily="34" charset="-122"/>
                <a:cs typeface="Arial" pitchFamily="34" charset="-120"/>
              </a:rPr>
              <a:t>No credit card</a:t>
            </a:r>
            <a:endParaRPr lang="en-US" sz="1050" dirty="0"/>
          </a:p>
        </p:txBody>
      </p:sp>
      <p:sp>
        <p:nvSpPr>
          <p:cNvPr id="28" name="Text 26"/>
          <p:cNvSpPr txBox="1"/>
          <p:nvPr/>
        </p:nvSpPr>
        <p:spPr>
          <a:xfrm>
            <a:off x="7470648" y="3547872"/>
            <a:ext cx="1691640" cy="457200"/>
          </a:xfrm>
          <a:prstGeom prst="rect">
            <a:avLst/>
          </a:prstGeom>
          <a:noFill/>
          <a:ln/>
        </p:spPr>
        <p:txBody>
          <a:bodyPr wrap="square" lIns="0" tIns="0" rIns="0" bIns="0" rtlCol="0" anchor="t"/>
          <a:lstStyle/>
          <a:p>
            <a:pPr indent="0" marL="0">
              <a:lnSpc>
                <a:spcPts val="1100"/>
              </a:lnSpc>
              <a:buNone/>
            </a:pPr>
            <a:r>
              <a:rPr lang="en-US" sz="850" dirty="0">
                <a:solidFill>
                  <a:srgbClr val="5A6570"/>
                </a:solidFill>
                <a:latin typeface="Arial" pitchFamily="34" charset="0"/>
                <a:ea typeface="Arial" pitchFamily="34" charset="-122"/>
                <a:cs typeface="Arial" pitchFamily="34" charset="-120"/>
              </a:rPr>
              <a:t>verify with your school email</a:t>
            </a:r>
            <a:endParaRPr lang="en-US" sz="850" dirty="0"/>
          </a:p>
        </p:txBody>
      </p:sp>
      <p:sp>
        <p:nvSpPr>
          <p:cNvPr id="29" name="Shape 27"/>
          <p:cNvSpPr/>
          <p:nvPr/>
        </p:nvSpPr>
        <p:spPr>
          <a:xfrm>
            <a:off x="9427464" y="3154680"/>
            <a:ext cx="1920240" cy="914400"/>
          </a:xfrm>
          <a:prstGeom prst="rect">
            <a:avLst/>
          </a:prstGeom>
          <a:solidFill>
            <a:srgbClr val="E8F2FB"/>
          </a:solidFill>
          <a:ln w="9525">
            <a:solidFill>
              <a:srgbClr val="CFE3F5"/>
            </a:solidFill>
            <a:prstDash val="solid"/>
          </a:ln>
        </p:spPr>
      </p:sp>
      <p:sp>
        <p:nvSpPr>
          <p:cNvPr id="30" name="Text 28"/>
          <p:cNvSpPr txBox="1"/>
          <p:nvPr/>
        </p:nvSpPr>
        <p:spPr>
          <a:xfrm>
            <a:off x="9555480" y="3273552"/>
            <a:ext cx="1691640" cy="274320"/>
          </a:xfrm>
          <a:prstGeom prst="rect">
            <a:avLst/>
          </a:prstGeom>
          <a:noFill/>
          <a:ln/>
        </p:spPr>
        <p:txBody>
          <a:bodyPr wrap="square" lIns="0" tIns="0" rIns="0" bIns="0" rtlCol="0" anchor="ctr"/>
          <a:lstStyle/>
          <a:p>
            <a:pPr indent="0" marL="0">
              <a:buNone/>
            </a:pPr>
            <a:r>
              <a:rPr lang="en-US" sz="1050" b="1" dirty="0">
                <a:solidFill>
                  <a:srgbClr val="0078D4"/>
                </a:solidFill>
                <a:latin typeface="Arial" pitchFamily="34" charset="0"/>
                <a:ea typeface="Arial" pitchFamily="34" charset="-122"/>
                <a:cs typeface="Arial" pitchFamily="34" charset="-120"/>
              </a:rPr>
              <a:t>Free services</a:t>
            </a:r>
            <a:endParaRPr lang="en-US" sz="1050" dirty="0"/>
          </a:p>
        </p:txBody>
      </p:sp>
      <p:sp>
        <p:nvSpPr>
          <p:cNvPr id="31" name="Text 29"/>
          <p:cNvSpPr txBox="1"/>
          <p:nvPr/>
        </p:nvSpPr>
        <p:spPr>
          <a:xfrm>
            <a:off x="9555480" y="3547872"/>
            <a:ext cx="1691640" cy="457200"/>
          </a:xfrm>
          <a:prstGeom prst="rect">
            <a:avLst/>
          </a:prstGeom>
          <a:noFill/>
          <a:ln/>
        </p:spPr>
        <p:txBody>
          <a:bodyPr wrap="square" lIns="0" tIns="0" rIns="0" bIns="0" rtlCol="0" anchor="t"/>
          <a:lstStyle/>
          <a:p>
            <a:pPr indent="0" marL="0">
              <a:lnSpc>
                <a:spcPts val="1100"/>
              </a:lnSpc>
              <a:buNone/>
            </a:pPr>
            <a:r>
              <a:rPr lang="en-US" sz="850" dirty="0">
                <a:solidFill>
                  <a:srgbClr val="5A6570"/>
                </a:solidFill>
                <a:latin typeface="Arial" pitchFamily="34" charset="0"/>
                <a:ea typeface="Arial" pitchFamily="34" charset="-122"/>
                <a:cs typeface="Arial" pitchFamily="34" charset="-120"/>
              </a:rPr>
              <a:t>VMs, databases, storage</a:t>
            </a:r>
            <a:endParaRPr lang="en-US" sz="850" dirty="0"/>
          </a:p>
        </p:txBody>
      </p:sp>
      <p:sp>
        <p:nvSpPr>
          <p:cNvPr id="32" name="Shape 30"/>
          <p:cNvSpPr/>
          <p:nvPr/>
        </p:nvSpPr>
        <p:spPr>
          <a:xfrm>
            <a:off x="5257800" y="4343400"/>
            <a:ext cx="1737360" cy="365760"/>
          </a:xfrm>
          <a:prstGeom prst="rect">
            <a:avLst/>
          </a:prstGeom>
          <a:solidFill>
            <a:srgbClr val="0078D4"/>
          </a:solidFill>
          <a:ln w="25400">
            <a:solidFill>
              <a:srgbClr val="E8763A"/>
            </a:solidFill>
            <a:prstDash val="solid"/>
          </a:ln>
        </p:spPr>
      </p:sp>
      <p:sp>
        <p:nvSpPr>
          <p:cNvPr id="33" name="Text 31"/>
          <p:cNvSpPr txBox="1"/>
          <p:nvPr/>
        </p:nvSpPr>
        <p:spPr>
          <a:xfrm>
            <a:off x="5257800" y="434340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Start free</a:t>
            </a:r>
            <a:endParaRPr lang="en-US" sz="1000" dirty="0"/>
          </a:p>
        </p:txBody>
      </p:sp>
      <p:sp>
        <p:nvSpPr>
          <p:cNvPr id="34" name="Shape 32"/>
          <p:cNvSpPr/>
          <p:nvPr/>
        </p:nvSpPr>
        <p:spPr>
          <a:xfrm>
            <a:off x="7114032" y="4416552"/>
            <a:ext cx="237744" cy="237744"/>
          </a:xfrm>
          <a:prstGeom prst="ellipse">
            <a:avLst/>
          </a:prstGeom>
          <a:solidFill>
            <a:srgbClr val="E8763A"/>
          </a:solidFill>
          <a:ln w="15875">
            <a:solidFill>
              <a:srgbClr val="FFFFFF"/>
            </a:solidFill>
            <a:prstDash val="solid"/>
          </a:ln>
        </p:spPr>
      </p:sp>
      <p:sp>
        <p:nvSpPr>
          <p:cNvPr id="35" name="Text 33"/>
          <p:cNvSpPr txBox="1"/>
          <p:nvPr/>
        </p:nvSpPr>
        <p:spPr>
          <a:xfrm>
            <a:off x="7114032" y="441655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6" name="Text 34"/>
          <p:cNvSpPr txBox="1"/>
          <p:nvPr/>
        </p:nvSpPr>
        <p:spPr>
          <a:xfrm>
            <a:off x="5257800" y="4937760"/>
            <a:ext cx="5852160" cy="457200"/>
          </a:xfrm>
          <a:prstGeom prst="rect">
            <a:avLst/>
          </a:prstGeom>
          <a:noFill/>
          <a:ln/>
        </p:spPr>
        <p:txBody>
          <a:bodyPr wrap="square" lIns="0" tIns="0" rIns="0" bIns="0" rtlCol="0" anchor="t"/>
          <a:lstStyle/>
          <a:p>
            <a:pPr indent="0" marL="0">
              <a:lnSpc>
                <a:spcPts val="1100"/>
              </a:lnSpc>
              <a:buNone/>
            </a:pPr>
            <a:r>
              <a:rPr lang="en-US" sz="850" i="1" dirty="0">
                <a:solidFill>
                  <a:srgbClr val="5A6570"/>
                </a:solidFill>
                <a:latin typeface="Arial" pitchFamily="34" charset="0"/>
                <a:ea typeface="Arial" pitchFamily="34" charset="-122"/>
                <a:cs typeface="Arial" pitchFamily="34" charset="-120"/>
              </a:rPr>
              <a:t>Eligibility: 18 or older, full-time at an accredited degree-granting institution, verified through your institution's email address.</a:t>
            </a:r>
            <a:endParaRPr lang="en-US" sz="850" dirty="0"/>
          </a:p>
        </p:txBody>
      </p:sp>
      <p:sp>
        <p:nvSpPr>
          <p:cNvPr id="37" name="Text 35"/>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The students page. If you see a card field, you are on the wrong offer.</a:t>
            </a:r>
            <a:endParaRPr lang="en-US" sz="900" dirty="0"/>
          </a:p>
        </p:txBody>
      </p:sp>
      <p:sp>
        <p:nvSpPr>
          <p:cNvPr id="38" name="Text 36"/>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Sign in, or create a Microsoft account</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If you already have a Microsoft account, sign in with it.</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If not, create one - it takes two minutes.</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Write down which account you used. Every future lab needs the same one.</a:t>
            </a:r>
            <a:endParaRPr lang="en-US" sz="1300" dirty="0"/>
          </a:p>
        </p:txBody>
      </p:sp>
      <p:sp>
        <p:nvSpPr>
          <p:cNvPr id="6" name="Shape 4"/>
          <p:cNvSpPr/>
          <p:nvPr/>
        </p:nvSpPr>
        <p:spPr>
          <a:xfrm>
            <a:off x="566928" y="3794760"/>
            <a:ext cx="4114800" cy="1325880"/>
          </a:xfrm>
          <a:prstGeom prst="rect">
            <a:avLst/>
          </a:prstGeom>
          <a:solidFill>
            <a:srgbClr val="E8F2FB"/>
          </a:solidFill>
          <a:ln w="9525">
            <a:solidFill>
              <a:srgbClr val="0078D4"/>
            </a:solidFill>
            <a:prstDash val="solid"/>
          </a:ln>
        </p:spPr>
      </p:sp>
      <p:sp>
        <p:nvSpPr>
          <p:cNvPr id="7" name="Text 5"/>
          <p:cNvSpPr txBox="1"/>
          <p:nvPr/>
        </p:nvSpPr>
        <p:spPr>
          <a:xfrm>
            <a:off x="749808" y="3904488"/>
            <a:ext cx="3749040" cy="182880"/>
          </a:xfrm>
          <a:prstGeom prst="rect">
            <a:avLst/>
          </a:prstGeom>
          <a:noFill/>
          <a:ln/>
        </p:spPr>
        <p:txBody>
          <a:bodyPr wrap="square" lIns="0" tIns="0" rIns="0" bIns="0" rtlCol="0" anchor="ctr"/>
          <a:lstStyle/>
          <a:p>
            <a:pPr indent="0" marL="0">
              <a:buNone/>
            </a:pPr>
            <a:r>
              <a:rPr lang="en-US" sz="850" b="1" spc="100" kern="0" dirty="0">
                <a:solidFill>
                  <a:srgbClr val="0078D4"/>
                </a:solidFill>
                <a:latin typeface="Arial" pitchFamily="34" charset="0"/>
                <a:ea typeface="Arial" pitchFamily="34" charset="-122"/>
                <a:cs typeface="Arial" pitchFamily="34" charset="-120"/>
              </a:rPr>
              <a:t>CHECK BEFORE MOVING ON</a:t>
            </a:r>
            <a:endParaRPr lang="en-US" sz="850" dirty="0"/>
          </a:p>
        </p:txBody>
      </p:sp>
      <p:sp>
        <p:nvSpPr>
          <p:cNvPr id="8" name="Text 6"/>
          <p:cNvSpPr txBox="1"/>
          <p:nvPr/>
        </p:nvSpPr>
        <p:spPr>
          <a:xfrm>
            <a:off x="749808" y="412394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This account becomes your identity in Azure for the whole course. Do not create one account today and a different one next week.</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E9EEF3"/>
          </a:solidFill>
          <a:ln w="12700">
            <a:solidFill>
              <a:srgbClr val="E9EEF3"/>
            </a:solidFill>
            <a:prstDash val="solid"/>
          </a:ln>
        </p:spPr>
      </p:sp>
      <p:sp>
        <p:nvSpPr>
          <p:cNvPr id="11" name="Shape 9"/>
          <p:cNvSpPr/>
          <p:nvPr/>
        </p:nvSpPr>
        <p:spPr>
          <a:xfrm>
            <a:off x="5148072" y="1307592"/>
            <a:ext cx="100584" cy="100584"/>
          </a:xfrm>
          <a:prstGeom prst="ellipse">
            <a:avLst/>
          </a:prstGeom>
          <a:solidFill>
            <a:srgbClr val="BCC7D2"/>
          </a:solidFill>
          <a:ln w="12700">
            <a:solidFill>
              <a:srgbClr val="BCC7D2"/>
            </a:solidFill>
            <a:prstDash val="solid"/>
          </a:ln>
        </p:spPr>
      </p:sp>
      <p:sp>
        <p:nvSpPr>
          <p:cNvPr id="12" name="Shape 10"/>
          <p:cNvSpPr/>
          <p:nvPr/>
        </p:nvSpPr>
        <p:spPr>
          <a:xfrm>
            <a:off x="5303520" y="1307592"/>
            <a:ext cx="100584" cy="100584"/>
          </a:xfrm>
          <a:prstGeom prst="ellipse">
            <a:avLst/>
          </a:prstGeom>
          <a:solidFill>
            <a:srgbClr val="BCC7D2"/>
          </a:solidFill>
          <a:ln w="12700">
            <a:solidFill>
              <a:srgbClr val="BCC7D2"/>
            </a:solidFill>
            <a:prstDash val="solid"/>
          </a:ln>
        </p:spPr>
      </p:sp>
      <p:sp>
        <p:nvSpPr>
          <p:cNvPr id="13" name="Shape 11"/>
          <p:cNvSpPr/>
          <p:nvPr/>
        </p:nvSpPr>
        <p:spPr>
          <a:xfrm>
            <a:off x="5458968" y="1307592"/>
            <a:ext cx="100584" cy="100584"/>
          </a:xfrm>
          <a:prstGeom prst="ellipse">
            <a:avLst/>
          </a:prstGeom>
          <a:solidFill>
            <a:srgbClr val="BCC7D2"/>
          </a:solidFill>
          <a:ln w="12700">
            <a:solidFill>
              <a:srgbClr val="BCC7D2"/>
            </a:solidFill>
            <a:prstDash val="solid"/>
          </a:ln>
        </p:spPr>
      </p:sp>
      <p:sp>
        <p:nvSpPr>
          <p:cNvPr id="14" name="Shape 12"/>
          <p:cNvSpPr/>
          <p:nvPr/>
        </p:nvSpPr>
        <p:spPr>
          <a:xfrm>
            <a:off x="5687568" y="1271016"/>
            <a:ext cx="5852160" cy="192024"/>
          </a:xfrm>
          <a:prstGeom prst="roundRect">
            <a:avLst>
              <a:gd name="adj" fmla="val 14286"/>
            </a:avLst>
          </a:prstGeom>
          <a:solidFill>
            <a:srgbClr val="FFFFFF"/>
          </a:solidFill>
          <a:ln w="6350">
            <a:solidFill>
              <a:srgbClr val="CFD9E3"/>
            </a:solidFill>
            <a:prstDash val="solid"/>
          </a:ln>
        </p:spPr>
      </p:sp>
      <p:sp>
        <p:nvSpPr>
          <p:cNvPr id="15" name="Text 13"/>
          <p:cNvSpPr txBox="1"/>
          <p:nvPr/>
        </p:nvSpPr>
        <p:spPr>
          <a:xfrm>
            <a:off x="5797296" y="1271016"/>
            <a:ext cx="5669280" cy="19202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login.microsoftonline.com</a:t>
            </a:r>
            <a:endParaRPr lang="en-US" sz="700" dirty="0"/>
          </a:p>
        </p:txBody>
      </p:sp>
      <p:sp>
        <p:nvSpPr>
          <p:cNvPr id="16" name="Shape 14"/>
          <p:cNvSpPr/>
          <p:nvPr/>
        </p:nvSpPr>
        <p:spPr>
          <a:xfrm>
            <a:off x="6949440" y="1965960"/>
            <a:ext cx="3291840" cy="324612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7" name="Shape 15"/>
          <p:cNvSpPr/>
          <p:nvPr/>
        </p:nvSpPr>
        <p:spPr>
          <a:xfrm>
            <a:off x="7178040" y="2212848"/>
            <a:ext cx="82296" cy="82296"/>
          </a:xfrm>
          <a:prstGeom prst="rect">
            <a:avLst/>
          </a:prstGeom>
          <a:solidFill>
            <a:srgbClr val="F25022"/>
          </a:solidFill>
          <a:ln w="12700">
            <a:solidFill>
              <a:srgbClr val="F25022"/>
            </a:solidFill>
            <a:prstDash val="solid"/>
          </a:ln>
        </p:spPr>
      </p:sp>
      <p:sp>
        <p:nvSpPr>
          <p:cNvPr id="18" name="Shape 16"/>
          <p:cNvSpPr/>
          <p:nvPr/>
        </p:nvSpPr>
        <p:spPr>
          <a:xfrm>
            <a:off x="7278624" y="2212848"/>
            <a:ext cx="82296" cy="82296"/>
          </a:xfrm>
          <a:prstGeom prst="rect">
            <a:avLst/>
          </a:prstGeom>
          <a:solidFill>
            <a:srgbClr val="7FBA00"/>
          </a:solidFill>
          <a:ln w="12700">
            <a:solidFill>
              <a:srgbClr val="7FBA00"/>
            </a:solidFill>
            <a:prstDash val="solid"/>
          </a:ln>
        </p:spPr>
      </p:sp>
      <p:sp>
        <p:nvSpPr>
          <p:cNvPr id="19" name="Shape 17"/>
          <p:cNvSpPr/>
          <p:nvPr/>
        </p:nvSpPr>
        <p:spPr>
          <a:xfrm>
            <a:off x="7178040" y="2313432"/>
            <a:ext cx="82296" cy="82296"/>
          </a:xfrm>
          <a:prstGeom prst="rect">
            <a:avLst/>
          </a:prstGeom>
          <a:solidFill>
            <a:srgbClr val="00A4EF"/>
          </a:solidFill>
          <a:ln w="12700">
            <a:solidFill>
              <a:srgbClr val="00A4EF"/>
            </a:solidFill>
            <a:prstDash val="solid"/>
          </a:ln>
        </p:spPr>
      </p:sp>
      <p:sp>
        <p:nvSpPr>
          <p:cNvPr id="20" name="Shape 18"/>
          <p:cNvSpPr/>
          <p:nvPr/>
        </p:nvSpPr>
        <p:spPr>
          <a:xfrm>
            <a:off x="7278624" y="2313432"/>
            <a:ext cx="82296" cy="82296"/>
          </a:xfrm>
          <a:prstGeom prst="rect">
            <a:avLst/>
          </a:prstGeom>
          <a:solidFill>
            <a:srgbClr val="FFB900"/>
          </a:solidFill>
          <a:ln w="12700">
            <a:solidFill>
              <a:srgbClr val="FFB900"/>
            </a:solidFill>
            <a:prstDash val="solid"/>
          </a:ln>
        </p:spPr>
      </p:sp>
      <p:sp>
        <p:nvSpPr>
          <p:cNvPr id="21" name="Text 19"/>
          <p:cNvSpPr txBox="1"/>
          <p:nvPr/>
        </p:nvSpPr>
        <p:spPr>
          <a:xfrm>
            <a:off x="7452360" y="2194560"/>
            <a:ext cx="1097280" cy="219456"/>
          </a:xfrm>
          <a:prstGeom prst="rect">
            <a:avLst/>
          </a:prstGeom>
          <a:noFill/>
          <a:ln/>
        </p:spPr>
        <p:txBody>
          <a:bodyPr wrap="square" lIns="0" tIns="0" rIns="0" bIns="0" rtlCol="0" anchor="ctr"/>
          <a:lstStyle/>
          <a:p>
            <a:pPr indent="0" marL="0">
              <a:buNone/>
            </a:pPr>
            <a:r>
              <a:rPr lang="en-US" sz="950" dirty="0">
                <a:solidFill>
                  <a:srgbClr val="1B2733"/>
                </a:solidFill>
                <a:latin typeface="Arial" pitchFamily="34" charset="0"/>
                <a:ea typeface="Arial" pitchFamily="34" charset="-122"/>
                <a:cs typeface="Arial" pitchFamily="34" charset="-120"/>
              </a:rPr>
              <a:t>Microsoft</a:t>
            </a:r>
            <a:endParaRPr lang="en-US" sz="950" dirty="0"/>
          </a:p>
        </p:txBody>
      </p:sp>
      <p:sp>
        <p:nvSpPr>
          <p:cNvPr id="22" name="Text 20"/>
          <p:cNvSpPr txBox="1"/>
          <p:nvPr/>
        </p:nvSpPr>
        <p:spPr>
          <a:xfrm>
            <a:off x="7178040" y="2578608"/>
            <a:ext cx="2834640" cy="329184"/>
          </a:xfrm>
          <a:prstGeom prst="rect">
            <a:avLst/>
          </a:prstGeom>
          <a:noFill/>
          <a:ln/>
        </p:spPr>
        <p:txBody>
          <a:bodyPr wrap="square" lIns="0" tIns="0" rIns="0" bIns="0" rtlCol="0" anchor="ctr"/>
          <a:lstStyle/>
          <a:p>
            <a:pPr indent="0" marL="0">
              <a:buNone/>
            </a:pPr>
            <a:r>
              <a:rPr lang="en-US" sz="1800" b="1" dirty="0">
                <a:solidFill>
                  <a:srgbClr val="1B2733"/>
                </a:solidFill>
                <a:latin typeface="Arial" pitchFamily="34" charset="0"/>
                <a:ea typeface="Arial" pitchFamily="34" charset="-122"/>
                <a:cs typeface="Arial" pitchFamily="34" charset="-120"/>
              </a:rPr>
              <a:t>Sign in</a:t>
            </a:r>
            <a:endParaRPr lang="en-US" sz="1800" dirty="0"/>
          </a:p>
        </p:txBody>
      </p:sp>
      <p:sp>
        <p:nvSpPr>
          <p:cNvPr id="23" name="Text 21"/>
          <p:cNvSpPr txBox="1"/>
          <p:nvPr/>
        </p:nvSpPr>
        <p:spPr>
          <a:xfrm>
            <a:off x="7178040" y="3017520"/>
            <a:ext cx="2834640" cy="146304"/>
          </a:xfrm>
          <a:prstGeom prst="rect">
            <a:avLst/>
          </a:prstGeom>
          <a:noFill/>
          <a:ln/>
        </p:spPr>
        <p:txBody>
          <a:bodyPr wrap="square" lIns="0" tIns="0" rIns="0" bIns="0" rtlCol="0" anchor="ctr"/>
          <a:lstStyle/>
          <a:p>
            <a:pPr indent="0" marL="0">
              <a:buNone/>
            </a:pPr>
            <a:endParaRPr lang="en-US" sz="700" dirty="0"/>
          </a:p>
        </p:txBody>
      </p:sp>
      <p:sp>
        <p:nvSpPr>
          <p:cNvPr id="24" name="Shape 22"/>
          <p:cNvSpPr/>
          <p:nvPr/>
        </p:nvSpPr>
        <p:spPr>
          <a:xfrm>
            <a:off x="7178040" y="3172968"/>
            <a:ext cx="2834640" cy="237744"/>
          </a:xfrm>
          <a:prstGeom prst="rect">
            <a:avLst/>
          </a:prstGeom>
          <a:solidFill>
            <a:srgbClr val="FFFFFF"/>
          </a:solidFill>
          <a:ln w="22225">
            <a:solidFill>
              <a:srgbClr val="E8763A"/>
            </a:solidFill>
            <a:prstDash val="solid"/>
          </a:ln>
        </p:spPr>
      </p:sp>
      <p:sp>
        <p:nvSpPr>
          <p:cNvPr id="25" name="Text 23"/>
          <p:cNvSpPr txBox="1"/>
          <p:nvPr/>
        </p:nvSpPr>
        <p:spPr>
          <a:xfrm>
            <a:off x="7242048" y="3172968"/>
            <a:ext cx="261518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Email, phone or Skype</a:t>
            </a:r>
            <a:endParaRPr lang="en-US" sz="750" dirty="0"/>
          </a:p>
        </p:txBody>
      </p:sp>
      <p:sp>
        <p:nvSpPr>
          <p:cNvPr id="26" name="Shape 24"/>
          <p:cNvSpPr/>
          <p:nvPr/>
        </p:nvSpPr>
        <p:spPr>
          <a:xfrm>
            <a:off x="10113264" y="3108960"/>
            <a:ext cx="237744" cy="237744"/>
          </a:xfrm>
          <a:prstGeom prst="ellipse">
            <a:avLst/>
          </a:prstGeom>
          <a:solidFill>
            <a:srgbClr val="E8763A"/>
          </a:solidFill>
          <a:ln w="15875">
            <a:solidFill>
              <a:srgbClr val="FFFFFF"/>
            </a:solidFill>
            <a:prstDash val="solid"/>
          </a:ln>
        </p:spPr>
      </p:sp>
      <p:sp>
        <p:nvSpPr>
          <p:cNvPr id="27" name="Text 25"/>
          <p:cNvSpPr txBox="1"/>
          <p:nvPr/>
        </p:nvSpPr>
        <p:spPr>
          <a:xfrm>
            <a:off x="10113264" y="31089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8" name="Text 26"/>
          <p:cNvSpPr txBox="1"/>
          <p:nvPr/>
        </p:nvSpPr>
        <p:spPr>
          <a:xfrm>
            <a:off x="7178040" y="3529584"/>
            <a:ext cx="2834640" cy="219456"/>
          </a:xfrm>
          <a:prstGeom prst="rect">
            <a:avLst/>
          </a:prstGeom>
          <a:noFill/>
          <a:ln/>
        </p:spPr>
        <p:txBody>
          <a:bodyPr wrap="square" lIns="0" tIns="0" rIns="0" bIns="0" rtlCol="0" anchor="ctr"/>
          <a:lstStyle/>
          <a:p>
            <a:pPr indent="0" marL="0">
              <a:buNone/>
            </a:pPr>
            <a:r>
              <a:rPr lang="en-US" sz="850" dirty="0">
                <a:solidFill>
                  <a:srgbClr val="0078D4"/>
                </a:solidFill>
                <a:latin typeface="Arial" pitchFamily="34" charset="0"/>
                <a:ea typeface="Arial" pitchFamily="34" charset="-122"/>
                <a:cs typeface="Arial" pitchFamily="34" charset="-120"/>
              </a:rPr>
              <a:t>No account?  Create one!</a:t>
            </a:r>
            <a:endParaRPr lang="en-US" sz="850" dirty="0"/>
          </a:p>
        </p:txBody>
      </p:sp>
      <p:sp>
        <p:nvSpPr>
          <p:cNvPr id="29" name="Shape 27"/>
          <p:cNvSpPr/>
          <p:nvPr/>
        </p:nvSpPr>
        <p:spPr>
          <a:xfrm>
            <a:off x="9052560" y="3931920"/>
            <a:ext cx="960120" cy="256032"/>
          </a:xfrm>
          <a:prstGeom prst="rect">
            <a:avLst/>
          </a:prstGeom>
          <a:solidFill>
            <a:srgbClr val="0078D4"/>
          </a:solidFill>
          <a:ln w="12700">
            <a:solidFill>
              <a:srgbClr val="0078D4"/>
            </a:solidFill>
            <a:prstDash val="solid"/>
          </a:ln>
        </p:spPr>
      </p:sp>
      <p:sp>
        <p:nvSpPr>
          <p:cNvPr id="30" name="Text 28"/>
          <p:cNvSpPr txBox="1"/>
          <p:nvPr/>
        </p:nvSpPr>
        <p:spPr>
          <a:xfrm>
            <a:off x="9052560" y="3931920"/>
            <a:ext cx="9601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Next</a:t>
            </a:r>
            <a:endParaRPr lang="en-US" sz="800" dirty="0"/>
          </a:p>
        </p:txBody>
      </p:sp>
      <p:sp>
        <p:nvSpPr>
          <p:cNvPr id="31" name="Shape 29"/>
          <p:cNvSpPr/>
          <p:nvPr/>
        </p:nvSpPr>
        <p:spPr>
          <a:xfrm>
            <a:off x="7178040" y="4434840"/>
            <a:ext cx="2834640" cy="566928"/>
          </a:xfrm>
          <a:prstGeom prst="rect">
            <a:avLst/>
          </a:prstGeom>
          <a:solidFill>
            <a:srgbClr val="FDF0E7"/>
          </a:solidFill>
          <a:ln w="12700">
            <a:solidFill>
              <a:srgbClr val="E8763A"/>
            </a:solidFill>
            <a:prstDash val="solid"/>
          </a:ln>
        </p:spPr>
      </p:sp>
      <p:sp>
        <p:nvSpPr>
          <p:cNvPr id="32" name="Text 30"/>
          <p:cNvSpPr txBox="1"/>
          <p:nvPr/>
        </p:nvSpPr>
        <p:spPr>
          <a:xfrm>
            <a:off x="7269480" y="4434840"/>
            <a:ext cx="2651760" cy="566928"/>
          </a:xfrm>
          <a:prstGeom prst="rect">
            <a:avLst/>
          </a:prstGeom>
          <a:noFill/>
          <a:ln/>
        </p:spPr>
        <p:txBody>
          <a:bodyPr wrap="square" lIns="0" tIns="0" rIns="0" bIns="0" rtlCol="0" anchor="ctr"/>
          <a:lstStyle/>
          <a:p>
            <a:pPr indent="0" marL="0">
              <a:buNone/>
            </a:pPr>
            <a:r>
              <a:rPr lang="en-US" sz="750" b="1" dirty="0">
                <a:solidFill>
                  <a:srgbClr val="E8763A"/>
                </a:solidFill>
                <a:latin typeface="Arial" pitchFamily="34" charset="0"/>
                <a:ea typeface="Arial" pitchFamily="34" charset="-122"/>
                <a:cs typeface="Arial" pitchFamily="34" charset="-120"/>
              </a:rPr>
              <a:t>A personal Microsoft account is often the safer choice on campus</a:t>
            </a:r>
            <a:endParaRPr lang="en-US" sz="750" dirty="0"/>
          </a:p>
        </p:txBody>
      </p:sp>
      <p:sp>
        <p:nvSpPr>
          <p:cNvPr id="33" name="Text 31"/>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Sign-in is about identity. Student proof comes at the next step.</a:t>
            </a:r>
            <a:endParaRPr lang="en-US" sz="900" dirty="0"/>
          </a:p>
        </p:txBody>
      </p:sp>
      <p:sp>
        <p:nvSpPr>
          <p:cNvPr id="34" name="Text 32"/>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Prove you are a student</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Choose verification by school email address.</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Enter your full college email address.</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Open your college mailbox and find the code or link.</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Complete the verification.</a:t>
            </a:r>
            <a:endParaRPr lang="en-US" sz="1300" dirty="0"/>
          </a:p>
        </p:txBody>
      </p:sp>
      <p:sp>
        <p:nvSpPr>
          <p:cNvPr id="6" name="Shape 4"/>
          <p:cNvSpPr/>
          <p:nvPr/>
        </p:nvSpPr>
        <p:spPr>
          <a:xfrm>
            <a:off x="566928" y="4206240"/>
            <a:ext cx="4114800" cy="1325880"/>
          </a:xfrm>
          <a:prstGeom prst="rect">
            <a:avLst/>
          </a:prstGeom>
          <a:solidFill>
            <a:srgbClr val="E8F2FB"/>
          </a:solidFill>
          <a:ln w="9525">
            <a:solidFill>
              <a:srgbClr val="0078D4"/>
            </a:solidFill>
            <a:prstDash val="solid"/>
          </a:ln>
        </p:spPr>
      </p:sp>
      <p:sp>
        <p:nvSpPr>
          <p:cNvPr id="7" name="Text 5"/>
          <p:cNvSpPr txBox="1"/>
          <p:nvPr/>
        </p:nvSpPr>
        <p:spPr>
          <a:xfrm>
            <a:off x="749808" y="4315968"/>
            <a:ext cx="3749040" cy="182880"/>
          </a:xfrm>
          <a:prstGeom prst="rect">
            <a:avLst/>
          </a:prstGeom>
          <a:noFill/>
          <a:ln/>
        </p:spPr>
        <p:txBody>
          <a:bodyPr wrap="square" lIns="0" tIns="0" rIns="0" bIns="0" rtlCol="0" anchor="ctr"/>
          <a:lstStyle/>
          <a:p>
            <a:pPr indent="0" marL="0">
              <a:buNone/>
            </a:pPr>
            <a:r>
              <a:rPr lang="en-US" sz="850" b="1" spc="100" kern="0" dirty="0">
                <a:solidFill>
                  <a:srgbClr val="0078D4"/>
                </a:solidFill>
                <a:latin typeface="Arial" pitchFamily="34" charset="0"/>
                <a:ea typeface="Arial" pitchFamily="34" charset="-122"/>
                <a:cs typeface="Arial" pitchFamily="34" charset="-120"/>
              </a:rPr>
              <a:t>CHECK BEFORE MOVING ON</a:t>
            </a:r>
            <a:endParaRPr lang="en-US" sz="850" dirty="0"/>
          </a:p>
        </p:txBody>
      </p:sp>
      <p:sp>
        <p:nvSpPr>
          <p:cNvPr id="8" name="Text 6"/>
          <p:cNvSpPr txBox="1"/>
          <p:nvPr/>
        </p:nvSpPr>
        <p:spPr>
          <a:xfrm>
            <a:off x="749808" y="453542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The code goes to the college mailbox, not to your personal inbox. Have that mailbox already open in another tab before you press send.</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E9EEF3"/>
          </a:solidFill>
          <a:ln w="12700">
            <a:solidFill>
              <a:srgbClr val="E9EEF3"/>
            </a:solidFill>
            <a:prstDash val="solid"/>
          </a:ln>
        </p:spPr>
      </p:sp>
      <p:sp>
        <p:nvSpPr>
          <p:cNvPr id="11" name="Shape 9"/>
          <p:cNvSpPr/>
          <p:nvPr/>
        </p:nvSpPr>
        <p:spPr>
          <a:xfrm>
            <a:off x="5148072" y="1307592"/>
            <a:ext cx="100584" cy="100584"/>
          </a:xfrm>
          <a:prstGeom prst="ellipse">
            <a:avLst/>
          </a:prstGeom>
          <a:solidFill>
            <a:srgbClr val="BCC7D2"/>
          </a:solidFill>
          <a:ln w="12700">
            <a:solidFill>
              <a:srgbClr val="BCC7D2"/>
            </a:solidFill>
            <a:prstDash val="solid"/>
          </a:ln>
        </p:spPr>
      </p:sp>
      <p:sp>
        <p:nvSpPr>
          <p:cNvPr id="12" name="Shape 10"/>
          <p:cNvSpPr/>
          <p:nvPr/>
        </p:nvSpPr>
        <p:spPr>
          <a:xfrm>
            <a:off x="5303520" y="1307592"/>
            <a:ext cx="100584" cy="100584"/>
          </a:xfrm>
          <a:prstGeom prst="ellipse">
            <a:avLst/>
          </a:prstGeom>
          <a:solidFill>
            <a:srgbClr val="BCC7D2"/>
          </a:solidFill>
          <a:ln w="12700">
            <a:solidFill>
              <a:srgbClr val="BCC7D2"/>
            </a:solidFill>
            <a:prstDash val="solid"/>
          </a:ln>
        </p:spPr>
      </p:sp>
      <p:sp>
        <p:nvSpPr>
          <p:cNvPr id="13" name="Shape 11"/>
          <p:cNvSpPr/>
          <p:nvPr/>
        </p:nvSpPr>
        <p:spPr>
          <a:xfrm>
            <a:off x="5458968" y="1307592"/>
            <a:ext cx="100584" cy="100584"/>
          </a:xfrm>
          <a:prstGeom prst="ellipse">
            <a:avLst/>
          </a:prstGeom>
          <a:solidFill>
            <a:srgbClr val="BCC7D2"/>
          </a:solidFill>
          <a:ln w="12700">
            <a:solidFill>
              <a:srgbClr val="BCC7D2"/>
            </a:solidFill>
            <a:prstDash val="solid"/>
          </a:ln>
        </p:spPr>
      </p:sp>
      <p:sp>
        <p:nvSpPr>
          <p:cNvPr id="14" name="Shape 12"/>
          <p:cNvSpPr/>
          <p:nvPr/>
        </p:nvSpPr>
        <p:spPr>
          <a:xfrm>
            <a:off x="5687568" y="1271016"/>
            <a:ext cx="5852160" cy="192024"/>
          </a:xfrm>
          <a:prstGeom prst="roundRect">
            <a:avLst>
              <a:gd name="adj" fmla="val 14286"/>
            </a:avLst>
          </a:prstGeom>
          <a:solidFill>
            <a:srgbClr val="FFFFFF"/>
          </a:solidFill>
          <a:ln w="6350">
            <a:solidFill>
              <a:srgbClr val="CFD9E3"/>
            </a:solidFill>
            <a:prstDash val="solid"/>
          </a:ln>
        </p:spPr>
      </p:sp>
      <p:sp>
        <p:nvSpPr>
          <p:cNvPr id="15" name="Text 13"/>
          <p:cNvSpPr txBox="1"/>
          <p:nvPr/>
        </p:nvSpPr>
        <p:spPr>
          <a:xfrm>
            <a:off x="5797296" y="1271016"/>
            <a:ext cx="5669280" cy="19202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signup.azure.com/studentverification</a:t>
            </a:r>
            <a:endParaRPr lang="en-US" sz="700" dirty="0"/>
          </a:p>
        </p:txBody>
      </p:sp>
      <p:sp>
        <p:nvSpPr>
          <p:cNvPr id="16" name="Text 14"/>
          <p:cNvSpPr txBox="1"/>
          <p:nvPr/>
        </p:nvSpPr>
        <p:spPr>
          <a:xfrm>
            <a:off x="5285232" y="1755648"/>
            <a:ext cx="6217920" cy="365760"/>
          </a:xfrm>
          <a:prstGeom prst="rect">
            <a:avLst/>
          </a:prstGeom>
          <a:noFill/>
          <a:ln/>
        </p:spPr>
        <p:txBody>
          <a:bodyPr wrap="square" lIns="0" tIns="0" rIns="0" bIns="0" rtlCol="0" anchor="ctr"/>
          <a:lstStyle/>
          <a:p>
            <a:pPr indent="0" marL="0">
              <a:buNone/>
            </a:pPr>
            <a:r>
              <a:rPr lang="en-US" sz="1900" b="1" dirty="0">
                <a:solidFill>
                  <a:srgbClr val="1B2733"/>
                </a:solidFill>
                <a:latin typeface="Cambria" pitchFamily="34" charset="0"/>
                <a:ea typeface="Cambria" pitchFamily="34" charset="-122"/>
                <a:cs typeface="Cambria" pitchFamily="34" charset="-120"/>
              </a:rPr>
              <a:t>Verify your academic status</a:t>
            </a:r>
            <a:endParaRPr lang="en-US" sz="1900" dirty="0"/>
          </a:p>
        </p:txBody>
      </p:sp>
      <p:sp>
        <p:nvSpPr>
          <p:cNvPr id="17" name="Text 15"/>
          <p:cNvSpPr txBox="1"/>
          <p:nvPr/>
        </p:nvSpPr>
        <p:spPr>
          <a:xfrm>
            <a:off x="5285232" y="2157984"/>
            <a:ext cx="5852160" cy="256032"/>
          </a:xfrm>
          <a:prstGeom prst="rect">
            <a:avLst/>
          </a:prstGeom>
          <a:noFill/>
          <a:ln/>
        </p:spPr>
        <p:txBody>
          <a:bodyPr wrap="square" lIns="0" tIns="0" rIns="0" bIns="0" rtlCol="0" anchor="ctr"/>
          <a:lstStyle/>
          <a:p>
            <a:pPr indent="0" marL="0">
              <a:buNone/>
            </a:pPr>
            <a:r>
              <a:rPr lang="en-US" sz="1000" dirty="0">
                <a:solidFill>
                  <a:srgbClr val="5A6570"/>
                </a:solidFill>
                <a:latin typeface="Arial" pitchFamily="34" charset="0"/>
                <a:ea typeface="Arial" pitchFamily="34" charset="-122"/>
                <a:cs typeface="Arial" pitchFamily="34" charset="-120"/>
              </a:rPr>
              <a:t>Confirm you are enrolled at an accredited institution.</a:t>
            </a:r>
            <a:endParaRPr lang="en-US" sz="1000" dirty="0"/>
          </a:p>
        </p:txBody>
      </p:sp>
      <p:sp>
        <p:nvSpPr>
          <p:cNvPr id="18" name="Shape 16"/>
          <p:cNvSpPr/>
          <p:nvPr/>
        </p:nvSpPr>
        <p:spPr>
          <a:xfrm>
            <a:off x="5321808" y="2569464"/>
            <a:ext cx="109728" cy="109728"/>
          </a:xfrm>
          <a:prstGeom prst="ellipse">
            <a:avLst/>
          </a:prstGeom>
          <a:solidFill>
            <a:srgbClr val="0078D4"/>
          </a:solidFill>
          <a:ln w="12700">
            <a:solidFill>
              <a:srgbClr val="0078D4"/>
            </a:solidFill>
            <a:prstDash val="solid"/>
          </a:ln>
        </p:spPr>
      </p:sp>
      <p:sp>
        <p:nvSpPr>
          <p:cNvPr id="19" name="Text 17"/>
          <p:cNvSpPr txBox="1"/>
          <p:nvPr/>
        </p:nvSpPr>
        <p:spPr>
          <a:xfrm>
            <a:off x="5486400" y="2542032"/>
            <a:ext cx="3108960" cy="164592"/>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Verify with your school email address</a:t>
            </a:r>
            <a:endParaRPr lang="en-US" sz="750" dirty="0"/>
          </a:p>
        </p:txBody>
      </p:sp>
      <p:sp>
        <p:nvSpPr>
          <p:cNvPr id="20" name="Shape 18"/>
          <p:cNvSpPr/>
          <p:nvPr/>
        </p:nvSpPr>
        <p:spPr>
          <a:xfrm>
            <a:off x="10881360" y="2505456"/>
            <a:ext cx="237744" cy="237744"/>
          </a:xfrm>
          <a:prstGeom prst="ellipse">
            <a:avLst/>
          </a:prstGeom>
          <a:solidFill>
            <a:srgbClr val="E8763A"/>
          </a:solidFill>
          <a:ln w="15875">
            <a:solidFill>
              <a:srgbClr val="FFFFFF"/>
            </a:solidFill>
            <a:prstDash val="solid"/>
          </a:ln>
        </p:spPr>
      </p:sp>
      <p:sp>
        <p:nvSpPr>
          <p:cNvPr id="21" name="Text 19"/>
          <p:cNvSpPr txBox="1"/>
          <p:nvPr/>
        </p:nvSpPr>
        <p:spPr>
          <a:xfrm>
            <a:off x="10881360" y="250545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2" name="Shape 20"/>
          <p:cNvSpPr/>
          <p:nvPr/>
        </p:nvSpPr>
        <p:spPr>
          <a:xfrm>
            <a:off x="5321808" y="2880360"/>
            <a:ext cx="109728" cy="109728"/>
          </a:xfrm>
          <a:prstGeom prst="ellipse">
            <a:avLst/>
          </a:prstGeom>
          <a:solidFill>
            <a:srgbClr val="FFFFFF"/>
          </a:solidFill>
          <a:ln w="12700">
            <a:solidFill>
              <a:srgbClr val="8E9BA8"/>
            </a:solidFill>
            <a:prstDash val="solid"/>
          </a:ln>
        </p:spPr>
      </p:sp>
      <p:sp>
        <p:nvSpPr>
          <p:cNvPr id="23" name="Text 21"/>
          <p:cNvSpPr txBox="1"/>
          <p:nvPr/>
        </p:nvSpPr>
        <p:spPr>
          <a:xfrm>
            <a:off x="5486400" y="2852928"/>
            <a:ext cx="3108960" cy="164592"/>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Verify another way (student ID or institution check)</a:t>
            </a:r>
            <a:endParaRPr lang="en-US" sz="750" dirty="0"/>
          </a:p>
        </p:txBody>
      </p:sp>
      <p:sp>
        <p:nvSpPr>
          <p:cNvPr id="24" name="Text 22"/>
          <p:cNvSpPr txBox="1"/>
          <p:nvPr/>
        </p:nvSpPr>
        <p:spPr>
          <a:xfrm>
            <a:off x="5321808" y="3246120"/>
            <a:ext cx="4754880" cy="14630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School email address</a:t>
            </a:r>
            <a:endParaRPr lang="en-US" sz="700" dirty="0"/>
          </a:p>
        </p:txBody>
      </p:sp>
      <p:sp>
        <p:nvSpPr>
          <p:cNvPr id="25" name="Shape 23"/>
          <p:cNvSpPr/>
          <p:nvPr/>
        </p:nvSpPr>
        <p:spPr>
          <a:xfrm>
            <a:off x="5321808" y="3401568"/>
            <a:ext cx="4754880" cy="237744"/>
          </a:xfrm>
          <a:prstGeom prst="rect">
            <a:avLst/>
          </a:prstGeom>
          <a:solidFill>
            <a:srgbClr val="FFFFFF"/>
          </a:solidFill>
          <a:ln w="22225">
            <a:solidFill>
              <a:srgbClr val="E8763A"/>
            </a:solidFill>
            <a:prstDash val="solid"/>
          </a:ln>
        </p:spPr>
      </p:sp>
      <p:sp>
        <p:nvSpPr>
          <p:cNvPr id="26" name="Text 24"/>
          <p:cNvSpPr txBox="1"/>
          <p:nvPr/>
        </p:nvSpPr>
        <p:spPr>
          <a:xfrm>
            <a:off x="5385816" y="3401568"/>
            <a:ext cx="453542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yourname@iimtindia.net</a:t>
            </a:r>
            <a:endParaRPr lang="en-US" sz="750" dirty="0"/>
          </a:p>
        </p:txBody>
      </p:sp>
      <p:sp>
        <p:nvSpPr>
          <p:cNvPr id="27" name="Shape 25"/>
          <p:cNvSpPr/>
          <p:nvPr/>
        </p:nvSpPr>
        <p:spPr>
          <a:xfrm>
            <a:off x="10222992" y="3337560"/>
            <a:ext cx="237744" cy="237744"/>
          </a:xfrm>
          <a:prstGeom prst="ellipse">
            <a:avLst/>
          </a:prstGeom>
          <a:solidFill>
            <a:srgbClr val="E8763A"/>
          </a:solidFill>
          <a:ln w="15875">
            <a:solidFill>
              <a:srgbClr val="FFFFFF"/>
            </a:solidFill>
            <a:prstDash val="solid"/>
          </a:ln>
        </p:spPr>
      </p:sp>
      <p:sp>
        <p:nvSpPr>
          <p:cNvPr id="28" name="Text 26"/>
          <p:cNvSpPr txBox="1"/>
          <p:nvPr/>
        </p:nvSpPr>
        <p:spPr>
          <a:xfrm>
            <a:off x="10222992" y="33375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9" name="Shape 27"/>
          <p:cNvSpPr/>
          <p:nvPr/>
        </p:nvSpPr>
        <p:spPr>
          <a:xfrm>
            <a:off x="5321808" y="3840480"/>
            <a:ext cx="4754880" cy="566928"/>
          </a:xfrm>
          <a:prstGeom prst="rect">
            <a:avLst/>
          </a:prstGeom>
          <a:solidFill>
            <a:srgbClr val="E8F2FB"/>
          </a:solidFill>
          <a:ln w="9525">
            <a:solidFill>
              <a:srgbClr val="0078D4"/>
            </a:solidFill>
            <a:prstDash val="solid"/>
          </a:ln>
        </p:spPr>
      </p:sp>
      <p:sp>
        <p:nvSpPr>
          <p:cNvPr id="30" name="Text 28"/>
          <p:cNvSpPr txBox="1"/>
          <p:nvPr/>
        </p:nvSpPr>
        <p:spPr>
          <a:xfrm>
            <a:off x="5440680" y="3840480"/>
            <a:ext cx="4526280" cy="566928"/>
          </a:xfrm>
          <a:prstGeom prst="rect">
            <a:avLst/>
          </a:prstGeom>
          <a:noFill/>
          <a:ln/>
        </p:spPr>
        <p:txBody>
          <a:bodyPr wrap="square" lIns="0" tIns="0" rIns="0" bIns="0" rtlCol="0" anchor="ctr"/>
          <a:lstStyle/>
          <a:p>
            <a:pPr indent="0" marL="0">
              <a:buNone/>
            </a:pPr>
            <a:r>
              <a:rPr lang="en-US" sz="800" dirty="0">
                <a:solidFill>
                  <a:srgbClr val="1B2733"/>
                </a:solidFill>
                <a:latin typeface="Arial" pitchFamily="34" charset="0"/>
                <a:ea typeface="Arial" pitchFamily="34" charset="-122"/>
                <a:cs typeface="Arial" pitchFamily="34" charset="-120"/>
              </a:rPr>
              <a:t>We will send a verification code to this address. It may take a few minutes to arrive.</a:t>
            </a:r>
            <a:endParaRPr lang="en-US" sz="800" dirty="0"/>
          </a:p>
        </p:txBody>
      </p:sp>
      <p:sp>
        <p:nvSpPr>
          <p:cNvPr id="31" name="Shape 29"/>
          <p:cNvSpPr/>
          <p:nvPr/>
        </p:nvSpPr>
        <p:spPr>
          <a:xfrm>
            <a:off x="5321808" y="4572000"/>
            <a:ext cx="1280160" cy="256032"/>
          </a:xfrm>
          <a:prstGeom prst="rect">
            <a:avLst/>
          </a:prstGeom>
          <a:solidFill>
            <a:srgbClr val="0078D4"/>
          </a:solidFill>
          <a:ln w="12700">
            <a:solidFill>
              <a:srgbClr val="0078D4"/>
            </a:solidFill>
            <a:prstDash val="solid"/>
          </a:ln>
        </p:spPr>
      </p:sp>
      <p:sp>
        <p:nvSpPr>
          <p:cNvPr id="32" name="Text 30"/>
          <p:cNvSpPr txBox="1"/>
          <p:nvPr/>
        </p:nvSpPr>
        <p:spPr>
          <a:xfrm>
            <a:off x="5321808" y="4572000"/>
            <a:ext cx="12801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Send code</a:t>
            </a:r>
            <a:endParaRPr lang="en-US" sz="800" dirty="0"/>
          </a:p>
        </p:txBody>
      </p:sp>
      <p:sp>
        <p:nvSpPr>
          <p:cNvPr id="33" name="Shape 31"/>
          <p:cNvSpPr/>
          <p:nvPr/>
        </p:nvSpPr>
        <p:spPr>
          <a:xfrm>
            <a:off x="6720840" y="4572000"/>
            <a:ext cx="914400" cy="256032"/>
          </a:xfrm>
          <a:prstGeom prst="rect">
            <a:avLst/>
          </a:prstGeom>
          <a:solidFill>
            <a:srgbClr val="FFFFFF"/>
          </a:solidFill>
          <a:ln w="9525">
            <a:solidFill>
              <a:srgbClr val="8E9BA8"/>
            </a:solidFill>
            <a:prstDash val="solid"/>
          </a:ln>
        </p:spPr>
      </p:sp>
      <p:sp>
        <p:nvSpPr>
          <p:cNvPr id="34" name="Text 32"/>
          <p:cNvSpPr txBox="1"/>
          <p:nvPr/>
        </p:nvSpPr>
        <p:spPr>
          <a:xfrm>
            <a:off x="6720840" y="4572000"/>
            <a:ext cx="914400" cy="256032"/>
          </a:xfrm>
          <a:prstGeom prst="rect">
            <a:avLst/>
          </a:prstGeom>
          <a:noFill/>
          <a:ln/>
        </p:spPr>
        <p:txBody>
          <a:bodyPr wrap="square" lIns="0" tIns="0" rIns="0" bIns="0" rtlCol="0" anchor="ctr"/>
          <a:lstStyle/>
          <a:p>
            <a:pPr algn="ctr" indent="0" marL="0">
              <a:buNone/>
            </a:pPr>
            <a:r>
              <a:rPr lang="en-US" sz="800" b="1" dirty="0">
                <a:solidFill>
                  <a:srgbClr val="1B2733"/>
                </a:solidFill>
                <a:latin typeface="Arial" pitchFamily="34" charset="0"/>
                <a:ea typeface="Arial" pitchFamily="34" charset="-122"/>
                <a:cs typeface="Arial" pitchFamily="34" charset="-120"/>
              </a:rPr>
              <a:t>Back</a:t>
            </a:r>
            <a:endParaRPr lang="en-US" sz="800" dirty="0"/>
          </a:p>
        </p:txBody>
      </p:sp>
      <p:sp>
        <p:nvSpPr>
          <p:cNvPr id="35" name="Text 33"/>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Marker 1: pick the email route. Marker 2: the college address, spelled exactly right.</a:t>
            </a:r>
            <a:endParaRPr lang="en-US" sz="900" dirty="0"/>
          </a:p>
        </p:txBody>
      </p:sp>
      <p:sp>
        <p:nvSpPr>
          <p:cNvPr id="36" name="Text 34"/>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Phone check and profile details</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Enter your details and your phone number.</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Receive the SMS code and enter it.</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Accept the agreement only after reading what it covers.</a:t>
            </a:r>
            <a:endParaRPr lang="en-US" sz="1300" dirty="0"/>
          </a:p>
        </p:txBody>
      </p:sp>
      <p:sp>
        <p:nvSpPr>
          <p:cNvPr id="6" name="Shape 4"/>
          <p:cNvSpPr/>
          <p:nvPr/>
        </p:nvSpPr>
        <p:spPr>
          <a:xfrm>
            <a:off x="566928" y="4023360"/>
            <a:ext cx="4114800" cy="1325880"/>
          </a:xfrm>
          <a:prstGeom prst="rect">
            <a:avLst/>
          </a:prstGeom>
          <a:solidFill>
            <a:srgbClr val="FDF0E7"/>
          </a:solidFill>
          <a:ln w="9525">
            <a:solidFill>
              <a:srgbClr val="E8763A"/>
            </a:solidFill>
            <a:prstDash val="solid"/>
          </a:ln>
        </p:spPr>
      </p:sp>
      <p:sp>
        <p:nvSpPr>
          <p:cNvPr id="7" name="Text 5"/>
          <p:cNvSpPr txBox="1"/>
          <p:nvPr/>
        </p:nvSpPr>
        <p:spPr>
          <a:xfrm>
            <a:off x="749808" y="4133088"/>
            <a:ext cx="3749040" cy="182880"/>
          </a:xfrm>
          <a:prstGeom prst="rect">
            <a:avLst/>
          </a:prstGeom>
          <a:noFill/>
          <a:ln/>
        </p:spPr>
        <p:txBody>
          <a:bodyPr wrap="square" lIns="0" tIns="0" rIns="0" bIns="0" rtlCol="0" anchor="ctr"/>
          <a:lstStyle/>
          <a:p>
            <a:pPr indent="0" marL="0">
              <a:buNone/>
            </a:pPr>
            <a:r>
              <a:rPr lang="en-US" sz="850" b="1" spc="100" kern="0" dirty="0">
                <a:solidFill>
                  <a:srgbClr val="E8763A"/>
                </a:solidFill>
                <a:latin typeface="Arial" pitchFamily="34" charset="0"/>
                <a:ea typeface="Arial" pitchFamily="34" charset="-122"/>
                <a:cs typeface="Arial" pitchFamily="34" charset="-120"/>
              </a:rPr>
              <a:t>WATCH OUT</a:t>
            </a:r>
            <a:endParaRPr lang="en-US" sz="850" dirty="0"/>
          </a:p>
        </p:txBody>
      </p:sp>
      <p:sp>
        <p:nvSpPr>
          <p:cNvPr id="8" name="Text 6"/>
          <p:cNvSpPr txBox="1"/>
          <p:nvPr/>
        </p:nvSpPr>
        <p:spPr>
          <a:xfrm>
            <a:off x="749808" y="435254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No card is needed here. If a card field appears, you have drifted onto the standard free account - go back to the students page and start again.</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E9EEF3"/>
          </a:solidFill>
          <a:ln w="12700">
            <a:solidFill>
              <a:srgbClr val="E9EEF3"/>
            </a:solidFill>
            <a:prstDash val="solid"/>
          </a:ln>
        </p:spPr>
      </p:sp>
      <p:sp>
        <p:nvSpPr>
          <p:cNvPr id="11" name="Shape 9"/>
          <p:cNvSpPr/>
          <p:nvPr/>
        </p:nvSpPr>
        <p:spPr>
          <a:xfrm>
            <a:off x="5148072" y="1307592"/>
            <a:ext cx="100584" cy="100584"/>
          </a:xfrm>
          <a:prstGeom prst="ellipse">
            <a:avLst/>
          </a:prstGeom>
          <a:solidFill>
            <a:srgbClr val="BCC7D2"/>
          </a:solidFill>
          <a:ln w="12700">
            <a:solidFill>
              <a:srgbClr val="BCC7D2"/>
            </a:solidFill>
            <a:prstDash val="solid"/>
          </a:ln>
        </p:spPr>
      </p:sp>
      <p:sp>
        <p:nvSpPr>
          <p:cNvPr id="12" name="Shape 10"/>
          <p:cNvSpPr/>
          <p:nvPr/>
        </p:nvSpPr>
        <p:spPr>
          <a:xfrm>
            <a:off x="5303520" y="1307592"/>
            <a:ext cx="100584" cy="100584"/>
          </a:xfrm>
          <a:prstGeom prst="ellipse">
            <a:avLst/>
          </a:prstGeom>
          <a:solidFill>
            <a:srgbClr val="BCC7D2"/>
          </a:solidFill>
          <a:ln w="12700">
            <a:solidFill>
              <a:srgbClr val="BCC7D2"/>
            </a:solidFill>
            <a:prstDash val="solid"/>
          </a:ln>
        </p:spPr>
      </p:sp>
      <p:sp>
        <p:nvSpPr>
          <p:cNvPr id="13" name="Shape 11"/>
          <p:cNvSpPr/>
          <p:nvPr/>
        </p:nvSpPr>
        <p:spPr>
          <a:xfrm>
            <a:off x="5458968" y="1307592"/>
            <a:ext cx="100584" cy="100584"/>
          </a:xfrm>
          <a:prstGeom prst="ellipse">
            <a:avLst/>
          </a:prstGeom>
          <a:solidFill>
            <a:srgbClr val="BCC7D2"/>
          </a:solidFill>
          <a:ln w="12700">
            <a:solidFill>
              <a:srgbClr val="BCC7D2"/>
            </a:solidFill>
            <a:prstDash val="solid"/>
          </a:ln>
        </p:spPr>
      </p:sp>
      <p:sp>
        <p:nvSpPr>
          <p:cNvPr id="14" name="Shape 12"/>
          <p:cNvSpPr/>
          <p:nvPr/>
        </p:nvSpPr>
        <p:spPr>
          <a:xfrm>
            <a:off x="5687568" y="1271016"/>
            <a:ext cx="5852160" cy="192024"/>
          </a:xfrm>
          <a:prstGeom prst="roundRect">
            <a:avLst>
              <a:gd name="adj" fmla="val 14286"/>
            </a:avLst>
          </a:prstGeom>
          <a:solidFill>
            <a:srgbClr val="FFFFFF"/>
          </a:solidFill>
          <a:ln w="6350">
            <a:solidFill>
              <a:srgbClr val="CFD9E3"/>
            </a:solidFill>
            <a:prstDash val="solid"/>
          </a:ln>
        </p:spPr>
      </p:sp>
      <p:sp>
        <p:nvSpPr>
          <p:cNvPr id="15" name="Text 13"/>
          <p:cNvSpPr txBox="1"/>
          <p:nvPr/>
        </p:nvSpPr>
        <p:spPr>
          <a:xfrm>
            <a:off x="5797296" y="1271016"/>
            <a:ext cx="5669280" cy="19202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signup.azure.com/studentsignup</a:t>
            </a:r>
            <a:endParaRPr lang="en-US" sz="700" dirty="0"/>
          </a:p>
        </p:txBody>
      </p:sp>
      <p:sp>
        <p:nvSpPr>
          <p:cNvPr id="16" name="Text 14"/>
          <p:cNvSpPr txBox="1"/>
          <p:nvPr/>
        </p:nvSpPr>
        <p:spPr>
          <a:xfrm>
            <a:off x="5285232" y="1755648"/>
            <a:ext cx="6217920" cy="329184"/>
          </a:xfrm>
          <a:prstGeom prst="rect">
            <a:avLst/>
          </a:prstGeom>
          <a:noFill/>
          <a:ln/>
        </p:spPr>
        <p:txBody>
          <a:bodyPr wrap="square" lIns="0" tIns="0" rIns="0" bIns="0" rtlCol="0" anchor="ctr"/>
          <a:lstStyle/>
          <a:p>
            <a:pPr indent="0" marL="0">
              <a:buNone/>
            </a:pPr>
            <a:r>
              <a:rPr lang="en-US" sz="1800" b="1" dirty="0">
                <a:solidFill>
                  <a:srgbClr val="1B2733"/>
                </a:solidFill>
                <a:latin typeface="Cambria" pitchFamily="34" charset="0"/>
                <a:ea typeface="Cambria" pitchFamily="34" charset="-122"/>
                <a:cs typeface="Cambria" pitchFamily="34" charset="-120"/>
              </a:rPr>
              <a:t>About you</a:t>
            </a:r>
            <a:endParaRPr lang="en-US" sz="1800" dirty="0"/>
          </a:p>
        </p:txBody>
      </p:sp>
      <p:sp>
        <p:nvSpPr>
          <p:cNvPr id="17" name="Text 15"/>
          <p:cNvSpPr txBox="1"/>
          <p:nvPr/>
        </p:nvSpPr>
        <p:spPr>
          <a:xfrm>
            <a:off x="5321808" y="2249424"/>
            <a:ext cx="2286000" cy="14630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First name</a:t>
            </a:r>
            <a:endParaRPr lang="en-US" sz="700" dirty="0"/>
          </a:p>
        </p:txBody>
      </p:sp>
      <p:sp>
        <p:nvSpPr>
          <p:cNvPr id="18" name="Shape 16"/>
          <p:cNvSpPr/>
          <p:nvPr/>
        </p:nvSpPr>
        <p:spPr>
          <a:xfrm>
            <a:off x="5321808" y="2404872"/>
            <a:ext cx="2286000" cy="237744"/>
          </a:xfrm>
          <a:prstGeom prst="rect">
            <a:avLst/>
          </a:prstGeom>
          <a:solidFill>
            <a:srgbClr val="FFFFFF"/>
          </a:solidFill>
          <a:ln w="9525">
            <a:solidFill>
              <a:srgbClr val="AFBCC9"/>
            </a:solidFill>
            <a:prstDash val="solid"/>
          </a:ln>
        </p:spPr>
      </p:sp>
      <p:sp>
        <p:nvSpPr>
          <p:cNvPr id="19" name="Text 17"/>
          <p:cNvSpPr txBox="1"/>
          <p:nvPr/>
        </p:nvSpPr>
        <p:spPr>
          <a:xfrm>
            <a:off x="5385816" y="2404872"/>
            <a:ext cx="206654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Aditi</a:t>
            </a:r>
            <a:endParaRPr lang="en-US" sz="750" dirty="0"/>
          </a:p>
        </p:txBody>
      </p:sp>
      <p:sp>
        <p:nvSpPr>
          <p:cNvPr id="20" name="Text 18"/>
          <p:cNvSpPr txBox="1"/>
          <p:nvPr/>
        </p:nvSpPr>
        <p:spPr>
          <a:xfrm>
            <a:off x="7790688" y="2249424"/>
            <a:ext cx="2286000" cy="14630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Last name</a:t>
            </a:r>
            <a:endParaRPr lang="en-US" sz="700" dirty="0"/>
          </a:p>
        </p:txBody>
      </p:sp>
      <p:sp>
        <p:nvSpPr>
          <p:cNvPr id="21" name="Shape 19"/>
          <p:cNvSpPr/>
          <p:nvPr/>
        </p:nvSpPr>
        <p:spPr>
          <a:xfrm>
            <a:off x="7790688" y="2404872"/>
            <a:ext cx="2286000" cy="237744"/>
          </a:xfrm>
          <a:prstGeom prst="rect">
            <a:avLst/>
          </a:prstGeom>
          <a:solidFill>
            <a:srgbClr val="FFFFFF"/>
          </a:solidFill>
          <a:ln w="9525">
            <a:solidFill>
              <a:srgbClr val="AFBCC9"/>
            </a:solidFill>
            <a:prstDash val="solid"/>
          </a:ln>
        </p:spPr>
      </p:sp>
      <p:sp>
        <p:nvSpPr>
          <p:cNvPr id="22" name="Text 20"/>
          <p:cNvSpPr txBox="1"/>
          <p:nvPr/>
        </p:nvSpPr>
        <p:spPr>
          <a:xfrm>
            <a:off x="7854696" y="2404872"/>
            <a:ext cx="206654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Sharma</a:t>
            </a:r>
            <a:endParaRPr lang="en-US" sz="750" dirty="0"/>
          </a:p>
        </p:txBody>
      </p:sp>
      <p:sp>
        <p:nvSpPr>
          <p:cNvPr id="23" name="Text 21"/>
          <p:cNvSpPr txBox="1"/>
          <p:nvPr/>
        </p:nvSpPr>
        <p:spPr>
          <a:xfrm>
            <a:off x="5321808" y="2761488"/>
            <a:ext cx="4754880" cy="14630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Country or region</a:t>
            </a:r>
            <a:endParaRPr lang="en-US" sz="700" dirty="0"/>
          </a:p>
        </p:txBody>
      </p:sp>
      <p:sp>
        <p:nvSpPr>
          <p:cNvPr id="24" name="Shape 22"/>
          <p:cNvSpPr/>
          <p:nvPr/>
        </p:nvSpPr>
        <p:spPr>
          <a:xfrm>
            <a:off x="5321808" y="2916936"/>
            <a:ext cx="4754880" cy="237744"/>
          </a:xfrm>
          <a:prstGeom prst="rect">
            <a:avLst/>
          </a:prstGeom>
          <a:solidFill>
            <a:srgbClr val="FFFFFF"/>
          </a:solidFill>
          <a:ln w="9525">
            <a:solidFill>
              <a:srgbClr val="AFBCC9"/>
            </a:solidFill>
            <a:prstDash val="solid"/>
          </a:ln>
        </p:spPr>
      </p:sp>
      <p:sp>
        <p:nvSpPr>
          <p:cNvPr id="25" name="Text 23"/>
          <p:cNvSpPr txBox="1"/>
          <p:nvPr/>
        </p:nvSpPr>
        <p:spPr>
          <a:xfrm>
            <a:off x="5385816" y="2916936"/>
            <a:ext cx="453542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India</a:t>
            </a:r>
            <a:endParaRPr lang="en-US" sz="750" dirty="0"/>
          </a:p>
        </p:txBody>
      </p:sp>
      <p:sp>
        <p:nvSpPr>
          <p:cNvPr id="26" name="Text 24"/>
          <p:cNvSpPr txBox="1"/>
          <p:nvPr/>
        </p:nvSpPr>
        <p:spPr>
          <a:xfrm>
            <a:off x="9893808" y="2916936"/>
            <a:ext cx="137160" cy="237744"/>
          </a:xfrm>
          <a:prstGeom prst="rect">
            <a:avLst/>
          </a:prstGeom>
          <a:noFill/>
          <a:ln/>
        </p:spPr>
        <p:txBody>
          <a:bodyPr wrap="square" lIns="0" tIns="0" rIns="0" bIns="0" rtlCol="0" anchor="ctr"/>
          <a:lstStyle/>
          <a:p>
            <a:pPr algn="ctr" indent="0" marL="0">
              <a:buNone/>
            </a:pPr>
            <a:r>
              <a:rPr lang="en-US" sz="700" dirty="0">
                <a:solidFill>
                  <a:srgbClr val="5A6570"/>
                </a:solidFill>
                <a:latin typeface="Arial" pitchFamily="34" charset="0"/>
                <a:ea typeface="Arial" pitchFamily="34" charset="-122"/>
                <a:cs typeface="Arial" pitchFamily="34" charset="-120"/>
              </a:rPr>
              <a:t>v</a:t>
            </a:r>
            <a:endParaRPr lang="en-US" sz="700" dirty="0"/>
          </a:p>
        </p:txBody>
      </p:sp>
      <p:sp>
        <p:nvSpPr>
          <p:cNvPr id="27" name="Text 25"/>
          <p:cNvSpPr txBox="1"/>
          <p:nvPr/>
        </p:nvSpPr>
        <p:spPr>
          <a:xfrm>
            <a:off x="5321808" y="3273552"/>
            <a:ext cx="4754880" cy="146304"/>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Phone number</a:t>
            </a:r>
            <a:endParaRPr lang="en-US" sz="700" dirty="0"/>
          </a:p>
        </p:txBody>
      </p:sp>
      <p:sp>
        <p:nvSpPr>
          <p:cNvPr id="28" name="Shape 26"/>
          <p:cNvSpPr/>
          <p:nvPr/>
        </p:nvSpPr>
        <p:spPr>
          <a:xfrm>
            <a:off x="5321808" y="3429000"/>
            <a:ext cx="4754880" cy="237744"/>
          </a:xfrm>
          <a:prstGeom prst="rect">
            <a:avLst/>
          </a:prstGeom>
          <a:solidFill>
            <a:srgbClr val="FFFFFF"/>
          </a:solidFill>
          <a:ln w="22225">
            <a:solidFill>
              <a:srgbClr val="E8763A"/>
            </a:solidFill>
            <a:prstDash val="solid"/>
          </a:ln>
        </p:spPr>
      </p:sp>
      <p:sp>
        <p:nvSpPr>
          <p:cNvPr id="29" name="Text 27"/>
          <p:cNvSpPr txBox="1"/>
          <p:nvPr/>
        </p:nvSpPr>
        <p:spPr>
          <a:xfrm>
            <a:off x="5385816" y="3429000"/>
            <a:ext cx="4535424" cy="237744"/>
          </a:xfrm>
          <a:prstGeom prst="rect">
            <a:avLst/>
          </a:prstGeom>
          <a:noFill/>
          <a:ln/>
        </p:spPr>
        <p:txBody>
          <a:bodyPr wrap="square" lIns="0" tIns="0" rIns="0" bIns="0" rtlCol="0" anchor="ctr"/>
          <a:lstStyle/>
          <a:p>
            <a:pPr indent="0" marL="0">
              <a:buNone/>
            </a:pPr>
            <a:r>
              <a:rPr lang="en-US" sz="750" dirty="0">
                <a:solidFill>
                  <a:srgbClr val="1B2733"/>
                </a:solidFill>
                <a:latin typeface="Arial" pitchFamily="34" charset="0"/>
                <a:ea typeface="Arial" pitchFamily="34" charset="-122"/>
                <a:cs typeface="Arial" pitchFamily="34" charset="-120"/>
              </a:rPr>
              <a:t>+91 98xxx xxxxx</a:t>
            </a:r>
            <a:endParaRPr lang="en-US" sz="750" dirty="0"/>
          </a:p>
        </p:txBody>
      </p:sp>
      <p:sp>
        <p:nvSpPr>
          <p:cNvPr id="30" name="Shape 28"/>
          <p:cNvSpPr/>
          <p:nvPr/>
        </p:nvSpPr>
        <p:spPr>
          <a:xfrm>
            <a:off x="10222992" y="3364992"/>
            <a:ext cx="237744" cy="237744"/>
          </a:xfrm>
          <a:prstGeom prst="ellipse">
            <a:avLst/>
          </a:prstGeom>
          <a:solidFill>
            <a:srgbClr val="E8763A"/>
          </a:solidFill>
          <a:ln w="15875">
            <a:solidFill>
              <a:srgbClr val="FFFFFF"/>
            </a:solidFill>
            <a:prstDash val="solid"/>
          </a:ln>
        </p:spPr>
      </p:sp>
      <p:sp>
        <p:nvSpPr>
          <p:cNvPr id="31" name="Text 29"/>
          <p:cNvSpPr txBox="1"/>
          <p:nvPr/>
        </p:nvSpPr>
        <p:spPr>
          <a:xfrm>
            <a:off x="10222992" y="336499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2" name="Shape 30"/>
          <p:cNvSpPr/>
          <p:nvPr/>
        </p:nvSpPr>
        <p:spPr>
          <a:xfrm>
            <a:off x="5321808" y="3822192"/>
            <a:ext cx="1371600" cy="256032"/>
          </a:xfrm>
          <a:prstGeom prst="rect">
            <a:avLst/>
          </a:prstGeom>
          <a:solidFill>
            <a:srgbClr val="0078D4"/>
          </a:solidFill>
          <a:ln w="12700">
            <a:solidFill>
              <a:srgbClr val="0078D4"/>
            </a:solidFill>
            <a:prstDash val="solid"/>
          </a:ln>
        </p:spPr>
      </p:sp>
      <p:sp>
        <p:nvSpPr>
          <p:cNvPr id="33" name="Text 31"/>
          <p:cNvSpPr txBox="1"/>
          <p:nvPr/>
        </p:nvSpPr>
        <p:spPr>
          <a:xfrm>
            <a:off x="5321808" y="382219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Text me</a:t>
            </a:r>
            <a:endParaRPr lang="en-US" sz="800" dirty="0"/>
          </a:p>
        </p:txBody>
      </p:sp>
      <p:sp>
        <p:nvSpPr>
          <p:cNvPr id="34" name="Shape 32"/>
          <p:cNvSpPr/>
          <p:nvPr/>
        </p:nvSpPr>
        <p:spPr>
          <a:xfrm>
            <a:off x="5321808" y="4315968"/>
            <a:ext cx="146304" cy="146304"/>
          </a:xfrm>
          <a:prstGeom prst="rect">
            <a:avLst/>
          </a:prstGeom>
          <a:solidFill>
            <a:srgbClr val="0078D4"/>
          </a:solidFill>
          <a:ln w="12700">
            <a:solidFill>
              <a:srgbClr val="0078D4"/>
            </a:solidFill>
            <a:prstDash val="solid"/>
          </a:ln>
        </p:spPr>
      </p:sp>
      <p:sp>
        <p:nvSpPr>
          <p:cNvPr id="35" name="Text 33"/>
          <p:cNvSpPr txBox="1"/>
          <p:nvPr/>
        </p:nvSpPr>
        <p:spPr>
          <a:xfrm>
            <a:off x="5559552" y="4261104"/>
            <a:ext cx="4572000" cy="256032"/>
          </a:xfrm>
          <a:prstGeom prst="rect">
            <a:avLst/>
          </a:prstGeom>
          <a:noFill/>
          <a:ln/>
        </p:spPr>
        <p:txBody>
          <a:bodyPr wrap="square" lIns="0" tIns="0" rIns="0" bIns="0" rtlCol="0" anchor="ctr"/>
          <a:lstStyle/>
          <a:p>
            <a:pPr indent="0" marL="0">
              <a:buNone/>
            </a:pPr>
            <a:r>
              <a:rPr lang="en-US" sz="800" dirty="0">
                <a:solidFill>
                  <a:srgbClr val="1B2733"/>
                </a:solidFill>
                <a:latin typeface="Arial" pitchFamily="34" charset="0"/>
                <a:ea typeface="Arial" pitchFamily="34" charset="-122"/>
                <a:cs typeface="Arial" pitchFamily="34" charset="-120"/>
              </a:rPr>
              <a:t>I agree to the subscription agreement and privacy statement</a:t>
            </a:r>
            <a:endParaRPr lang="en-US" sz="800" dirty="0"/>
          </a:p>
        </p:txBody>
      </p:sp>
      <p:sp>
        <p:nvSpPr>
          <p:cNvPr id="36" name="Shape 34"/>
          <p:cNvSpPr/>
          <p:nvPr/>
        </p:nvSpPr>
        <p:spPr>
          <a:xfrm>
            <a:off x="5321808" y="4626864"/>
            <a:ext cx="4754880" cy="457200"/>
          </a:xfrm>
          <a:prstGeom prst="rect">
            <a:avLst/>
          </a:prstGeom>
          <a:solidFill>
            <a:srgbClr val="E6F4EA"/>
          </a:solidFill>
          <a:ln w="12700">
            <a:solidFill>
              <a:srgbClr val="3A8F5E"/>
            </a:solidFill>
            <a:prstDash val="solid"/>
          </a:ln>
        </p:spPr>
      </p:sp>
      <p:sp>
        <p:nvSpPr>
          <p:cNvPr id="37" name="Text 35"/>
          <p:cNvSpPr txBox="1"/>
          <p:nvPr/>
        </p:nvSpPr>
        <p:spPr>
          <a:xfrm>
            <a:off x="5440680" y="4626864"/>
            <a:ext cx="4526280" cy="457200"/>
          </a:xfrm>
          <a:prstGeom prst="rect">
            <a:avLst/>
          </a:prstGeom>
          <a:noFill/>
          <a:ln/>
        </p:spPr>
        <p:txBody>
          <a:bodyPr wrap="square" lIns="0" tIns="0" rIns="0" bIns="0" rtlCol="0" anchor="ctr"/>
          <a:lstStyle/>
          <a:p>
            <a:pPr indent="0" marL="0">
              <a:buNone/>
            </a:pPr>
            <a:r>
              <a:rPr lang="en-US" sz="850" b="1" dirty="0">
                <a:solidFill>
                  <a:srgbClr val="27703F"/>
                </a:solidFill>
                <a:latin typeface="Arial" pitchFamily="34" charset="0"/>
                <a:ea typeface="Arial" pitchFamily="34" charset="-122"/>
                <a:cs typeface="Arial" pitchFamily="34" charset="-120"/>
              </a:rPr>
              <a:t>No payment method required for this offer</a:t>
            </a:r>
            <a:endParaRPr lang="en-US" sz="850" dirty="0"/>
          </a:p>
        </p:txBody>
      </p:sp>
      <p:sp>
        <p:nvSpPr>
          <p:cNvPr id="38" name="Shape 36"/>
          <p:cNvSpPr/>
          <p:nvPr/>
        </p:nvSpPr>
        <p:spPr>
          <a:xfrm>
            <a:off x="10222992" y="4718304"/>
            <a:ext cx="237744" cy="237744"/>
          </a:xfrm>
          <a:prstGeom prst="ellipse">
            <a:avLst/>
          </a:prstGeom>
          <a:solidFill>
            <a:srgbClr val="E8763A"/>
          </a:solidFill>
          <a:ln w="15875">
            <a:solidFill>
              <a:srgbClr val="FFFFFF"/>
            </a:solidFill>
            <a:prstDash val="solid"/>
          </a:ln>
        </p:spPr>
      </p:sp>
      <p:sp>
        <p:nvSpPr>
          <p:cNvPr id="39" name="Text 37"/>
          <p:cNvSpPr txBox="1"/>
          <p:nvPr/>
        </p:nvSpPr>
        <p:spPr>
          <a:xfrm>
            <a:off x="10222992" y="471830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40" name="Shape 38"/>
          <p:cNvSpPr/>
          <p:nvPr/>
        </p:nvSpPr>
        <p:spPr>
          <a:xfrm>
            <a:off x="5321808" y="5230368"/>
            <a:ext cx="1097280" cy="256032"/>
          </a:xfrm>
          <a:prstGeom prst="rect">
            <a:avLst/>
          </a:prstGeom>
          <a:solidFill>
            <a:srgbClr val="0078D4"/>
          </a:solidFill>
          <a:ln w="12700">
            <a:solidFill>
              <a:srgbClr val="0078D4"/>
            </a:solidFill>
            <a:prstDash val="solid"/>
          </a:ln>
        </p:spPr>
      </p:sp>
      <p:sp>
        <p:nvSpPr>
          <p:cNvPr id="41" name="Text 39"/>
          <p:cNvSpPr txBox="1"/>
          <p:nvPr/>
        </p:nvSpPr>
        <p:spPr>
          <a:xfrm>
            <a:off x="5321808" y="5230368"/>
            <a:ext cx="10972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Sign up</a:t>
            </a:r>
            <a:endParaRPr lang="en-US" sz="800" dirty="0"/>
          </a:p>
        </p:txBody>
      </p:sp>
      <p:sp>
        <p:nvSpPr>
          <p:cNvPr id="42" name="Text 40"/>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Marker 1: phone check. Marker 2: no card field anywhere on this page.</a:t>
            </a:r>
            <a:endParaRPr lang="en-US" sz="900" dirty="0"/>
          </a:p>
        </p:txBody>
      </p:sp>
      <p:sp>
        <p:nvSpPr>
          <p:cNvPr id="43" name="Text 41"/>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Confirm the subscription exists and is Active</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You land in the Azure portal.</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Search for Subscriptions.</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Confirm one is listed with the status Active.</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Note the directory shown in the top right.</a:t>
            </a:r>
            <a:endParaRPr lang="en-US" sz="1300" dirty="0"/>
          </a:p>
        </p:txBody>
      </p:sp>
      <p:sp>
        <p:nvSpPr>
          <p:cNvPr id="6" name="Shape 4"/>
          <p:cNvSpPr/>
          <p:nvPr/>
        </p:nvSpPr>
        <p:spPr>
          <a:xfrm>
            <a:off x="566928" y="4206240"/>
            <a:ext cx="4114800" cy="1325880"/>
          </a:xfrm>
          <a:prstGeom prst="rect">
            <a:avLst/>
          </a:prstGeom>
          <a:solidFill>
            <a:srgbClr val="E8F2FB"/>
          </a:solidFill>
          <a:ln w="9525">
            <a:solidFill>
              <a:srgbClr val="0078D4"/>
            </a:solidFill>
            <a:prstDash val="solid"/>
          </a:ln>
        </p:spPr>
      </p:sp>
      <p:sp>
        <p:nvSpPr>
          <p:cNvPr id="7" name="Text 5"/>
          <p:cNvSpPr txBox="1"/>
          <p:nvPr/>
        </p:nvSpPr>
        <p:spPr>
          <a:xfrm>
            <a:off x="749808" y="4315968"/>
            <a:ext cx="3749040" cy="182880"/>
          </a:xfrm>
          <a:prstGeom prst="rect">
            <a:avLst/>
          </a:prstGeom>
          <a:noFill/>
          <a:ln/>
        </p:spPr>
        <p:txBody>
          <a:bodyPr wrap="square" lIns="0" tIns="0" rIns="0" bIns="0" rtlCol="0" anchor="ctr"/>
          <a:lstStyle/>
          <a:p>
            <a:pPr indent="0" marL="0">
              <a:buNone/>
            </a:pPr>
            <a:r>
              <a:rPr lang="en-US" sz="850" b="1" spc="100" kern="0" dirty="0">
                <a:solidFill>
                  <a:srgbClr val="0078D4"/>
                </a:solidFill>
                <a:latin typeface="Arial" pitchFamily="34" charset="0"/>
                <a:ea typeface="Arial" pitchFamily="34" charset="-122"/>
                <a:cs typeface="Arial" pitchFamily="34" charset="-120"/>
              </a:rPr>
              <a:t>CHECK BEFORE MOVING ON</a:t>
            </a:r>
            <a:endParaRPr lang="en-US" sz="850" dirty="0"/>
          </a:p>
        </p:txBody>
      </p:sp>
      <p:sp>
        <p:nvSpPr>
          <p:cNvPr id="8" name="Text 6"/>
          <p:cNvSpPr txBox="1"/>
          <p:nvPr/>
        </p:nvSpPr>
        <p:spPr>
          <a:xfrm>
            <a:off x="749808" y="453542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This is the finish line for today. A student whose subscription is not Active cannot do a single lab in this course - deal with it now, not next week.</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0B2E4F"/>
          </a:solidFill>
          <a:ln w="12700">
            <a:solidFill>
              <a:srgbClr val="0B2E4F"/>
            </a:solidFill>
            <a:prstDash val="solid"/>
          </a:ln>
        </p:spPr>
      </p:sp>
      <p:sp>
        <p:nvSpPr>
          <p:cNvPr id="11" name="Text 9"/>
          <p:cNvSpPr txBox="1"/>
          <p:nvPr/>
        </p:nvSpPr>
        <p:spPr>
          <a:xfrm>
            <a:off x="5148072" y="1225296"/>
            <a:ext cx="1371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Microsoft Azure</a:t>
            </a:r>
            <a:endParaRPr lang="en-US" sz="900" dirty="0"/>
          </a:p>
        </p:txBody>
      </p:sp>
      <p:sp>
        <p:nvSpPr>
          <p:cNvPr id="12" name="Shape 10"/>
          <p:cNvSpPr/>
          <p:nvPr/>
        </p:nvSpPr>
        <p:spPr>
          <a:xfrm>
            <a:off x="6675120" y="1271016"/>
            <a:ext cx="2377440" cy="192024"/>
          </a:xfrm>
          <a:prstGeom prst="roundRect">
            <a:avLst>
              <a:gd name="adj" fmla="val 14286"/>
            </a:avLst>
          </a:prstGeom>
          <a:solidFill>
            <a:srgbClr val="1B4E7A"/>
          </a:solidFill>
          <a:ln w="6350">
            <a:solidFill>
              <a:srgbClr val="2F6C9E"/>
            </a:solidFill>
            <a:prstDash val="solid"/>
          </a:ln>
        </p:spPr>
      </p:sp>
      <p:sp>
        <p:nvSpPr>
          <p:cNvPr id="13" name="Text 11"/>
          <p:cNvSpPr txBox="1"/>
          <p:nvPr/>
        </p:nvSpPr>
        <p:spPr>
          <a:xfrm>
            <a:off x="6784848" y="1271016"/>
            <a:ext cx="2743200" cy="192024"/>
          </a:xfrm>
          <a:prstGeom prst="rect">
            <a:avLst/>
          </a:prstGeom>
          <a:noFill/>
          <a:ln/>
        </p:spPr>
        <p:txBody>
          <a:bodyPr wrap="square" lIns="0" tIns="0" rIns="0" bIns="0" rtlCol="0" anchor="ctr"/>
          <a:lstStyle/>
          <a:p>
            <a:pPr indent="0" marL="0">
              <a:buNone/>
            </a:pPr>
            <a:r>
              <a:rPr lang="en-US" sz="700" dirty="0">
                <a:solidFill>
                  <a:srgbClr val="B9D4E8"/>
                </a:solidFill>
                <a:latin typeface="Arial" pitchFamily="34" charset="0"/>
                <a:ea typeface="Arial" pitchFamily="34" charset="-122"/>
                <a:cs typeface="Arial" pitchFamily="34" charset="-120"/>
              </a:rPr>
              <a:t>Search resources, services and docs</a:t>
            </a:r>
            <a:endParaRPr lang="en-US" sz="700" dirty="0"/>
          </a:p>
        </p:txBody>
      </p:sp>
      <p:sp>
        <p:nvSpPr>
          <p:cNvPr id="14" name="Shape 12"/>
          <p:cNvSpPr/>
          <p:nvPr/>
        </p:nvSpPr>
        <p:spPr>
          <a:xfrm>
            <a:off x="5029200" y="1517904"/>
            <a:ext cx="1325880" cy="4398264"/>
          </a:xfrm>
          <a:prstGeom prst="rect">
            <a:avLst/>
          </a:prstGeom>
          <a:solidFill>
            <a:srgbClr val="F4F7FA"/>
          </a:solidFill>
          <a:ln w="12700">
            <a:solidFill>
              <a:srgbClr val="F4F7FA"/>
            </a:solidFill>
            <a:prstDash val="solid"/>
          </a:ln>
        </p:spPr>
      </p:sp>
      <p:sp>
        <p:nvSpPr>
          <p:cNvPr id="15" name="Text 13"/>
          <p:cNvSpPr txBox="1"/>
          <p:nvPr/>
        </p:nvSpPr>
        <p:spPr>
          <a:xfrm>
            <a:off x="5120640" y="1627632"/>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Home</a:t>
            </a:r>
            <a:endParaRPr lang="en-US" sz="700" dirty="0"/>
          </a:p>
        </p:txBody>
      </p:sp>
      <p:sp>
        <p:nvSpPr>
          <p:cNvPr id="16" name="Text 14"/>
          <p:cNvSpPr txBox="1"/>
          <p:nvPr/>
        </p:nvSpPr>
        <p:spPr>
          <a:xfrm>
            <a:off x="5120640" y="1847088"/>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Resource groups</a:t>
            </a:r>
            <a:endParaRPr lang="en-US" sz="700" dirty="0"/>
          </a:p>
        </p:txBody>
      </p:sp>
      <p:sp>
        <p:nvSpPr>
          <p:cNvPr id="17" name="Text 15"/>
          <p:cNvSpPr txBox="1"/>
          <p:nvPr/>
        </p:nvSpPr>
        <p:spPr>
          <a:xfrm>
            <a:off x="5120640" y="2066544"/>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Virtual machines</a:t>
            </a:r>
            <a:endParaRPr lang="en-US" sz="700" dirty="0"/>
          </a:p>
        </p:txBody>
      </p:sp>
      <p:sp>
        <p:nvSpPr>
          <p:cNvPr id="18" name="Text 16"/>
          <p:cNvSpPr txBox="1"/>
          <p:nvPr/>
        </p:nvSpPr>
        <p:spPr>
          <a:xfrm>
            <a:off x="5120640" y="2286000"/>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Storage accounts</a:t>
            </a:r>
            <a:endParaRPr lang="en-US" sz="700" dirty="0"/>
          </a:p>
        </p:txBody>
      </p:sp>
      <p:sp>
        <p:nvSpPr>
          <p:cNvPr id="19" name="Text 17"/>
          <p:cNvSpPr txBox="1"/>
          <p:nvPr/>
        </p:nvSpPr>
        <p:spPr>
          <a:xfrm>
            <a:off x="5120640" y="2505456"/>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Virtual networks</a:t>
            </a:r>
            <a:endParaRPr lang="en-US" sz="700" dirty="0"/>
          </a:p>
        </p:txBody>
      </p:sp>
      <p:sp>
        <p:nvSpPr>
          <p:cNvPr id="20" name="Text 18"/>
          <p:cNvSpPr txBox="1"/>
          <p:nvPr/>
        </p:nvSpPr>
        <p:spPr>
          <a:xfrm>
            <a:off x="5120640" y="2724912"/>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Cost Management</a:t>
            </a:r>
            <a:endParaRPr lang="en-US" sz="700" dirty="0"/>
          </a:p>
        </p:txBody>
      </p:sp>
      <p:sp>
        <p:nvSpPr>
          <p:cNvPr id="21" name="Text 19"/>
          <p:cNvSpPr txBox="1"/>
          <p:nvPr/>
        </p:nvSpPr>
        <p:spPr>
          <a:xfrm>
            <a:off x="5120640" y="2944368"/>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Monitor</a:t>
            </a:r>
            <a:endParaRPr lang="en-US" sz="700" dirty="0"/>
          </a:p>
        </p:txBody>
      </p:sp>
      <p:sp>
        <p:nvSpPr>
          <p:cNvPr id="22" name="Shape 20"/>
          <p:cNvSpPr/>
          <p:nvPr/>
        </p:nvSpPr>
        <p:spPr>
          <a:xfrm>
            <a:off x="6355080" y="1517904"/>
            <a:ext cx="0" cy="4398264"/>
          </a:xfrm>
          <a:prstGeom prst="line">
            <a:avLst/>
          </a:prstGeom>
          <a:noFill/>
          <a:ln w="9525">
            <a:solidFill>
              <a:srgbClr val="C3D0DC"/>
            </a:solidFill>
            <a:prstDash val="solid"/>
          </a:ln>
        </p:spPr>
      </p:sp>
      <p:sp>
        <p:nvSpPr>
          <p:cNvPr id="23" name="Text 21"/>
          <p:cNvSpPr txBox="1"/>
          <p:nvPr/>
        </p:nvSpPr>
        <p:spPr>
          <a:xfrm>
            <a:off x="6473952" y="1591056"/>
            <a:ext cx="5074920" cy="182880"/>
          </a:xfrm>
          <a:prstGeom prst="rect">
            <a:avLst/>
          </a:prstGeom>
          <a:noFill/>
          <a:ln/>
        </p:spPr>
        <p:txBody>
          <a:bodyPr wrap="square" lIns="0" tIns="0" rIns="0" bIns="0" rtlCol="0" anchor="ctr"/>
          <a:lstStyle/>
          <a:p>
            <a:pPr indent="0" marL="0">
              <a:buNone/>
            </a:pPr>
            <a:r>
              <a:rPr lang="en-US" sz="750" dirty="0">
                <a:solidFill>
                  <a:srgbClr val="5A6570"/>
                </a:solidFill>
                <a:latin typeface="Arial" pitchFamily="34" charset="0"/>
                <a:ea typeface="Arial" pitchFamily="34" charset="-122"/>
                <a:cs typeface="Arial" pitchFamily="34" charset="-120"/>
              </a:rPr>
              <a:t>Home  &gt;  Subscriptions</a:t>
            </a:r>
            <a:endParaRPr lang="en-US" sz="750" dirty="0"/>
          </a:p>
        </p:txBody>
      </p:sp>
      <p:sp>
        <p:nvSpPr>
          <p:cNvPr id="24" name="Text 22"/>
          <p:cNvSpPr txBox="1"/>
          <p:nvPr/>
        </p:nvSpPr>
        <p:spPr>
          <a:xfrm>
            <a:off x="6473952" y="1737360"/>
            <a:ext cx="5074920" cy="274320"/>
          </a:xfrm>
          <a:prstGeom prst="rect">
            <a:avLst/>
          </a:prstGeom>
          <a:noFill/>
          <a:ln/>
        </p:spPr>
        <p:txBody>
          <a:bodyPr wrap="square" lIns="0" tIns="0" rIns="0" bIns="0" rtlCol="0" anchor="ctr"/>
          <a:lstStyle/>
          <a:p>
            <a:pPr indent="0" marL="0">
              <a:buNone/>
            </a:pPr>
            <a:r>
              <a:rPr lang="en-US" sz="1300" b="1" dirty="0">
                <a:solidFill>
                  <a:srgbClr val="1B2733"/>
                </a:solidFill>
                <a:latin typeface="Arial" pitchFamily="34" charset="0"/>
                <a:ea typeface="Arial" pitchFamily="34" charset="-122"/>
                <a:cs typeface="Arial" pitchFamily="34" charset="-120"/>
              </a:rPr>
              <a:t>Subscriptions</a:t>
            </a:r>
            <a:endParaRPr lang="en-US" sz="1300" dirty="0"/>
          </a:p>
        </p:txBody>
      </p:sp>
      <p:sp>
        <p:nvSpPr>
          <p:cNvPr id="25" name="Text 23"/>
          <p:cNvSpPr txBox="1"/>
          <p:nvPr/>
        </p:nvSpPr>
        <p:spPr>
          <a:xfrm>
            <a:off x="6473952" y="2286000"/>
            <a:ext cx="2377440" cy="201168"/>
          </a:xfrm>
          <a:prstGeom prst="rect">
            <a:avLst/>
          </a:prstGeom>
          <a:noFill/>
          <a:ln/>
        </p:spPr>
        <p:txBody>
          <a:bodyPr wrap="square" lIns="0" tIns="0" rIns="0" bIns="0" rtlCol="0" anchor="ctr"/>
          <a:lstStyle/>
          <a:p>
            <a:pPr indent="0" marL="0">
              <a:buNone/>
            </a:pPr>
            <a:r>
              <a:rPr lang="en-US" sz="720" b="1" dirty="0">
                <a:solidFill>
                  <a:srgbClr val="1B2733"/>
                </a:solidFill>
                <a:latin typeface="Arial" pitchFamily="34" charset="0"/>
                <a:ea typeface="Arial" pitchFamily="34" charset="-122"/>
                <a:cs typeface="Arial" pitchFamily="34" charset="-120"/>
              </a:rPr>
              <a:t>Subscription name</a:t>
            </a:r>
            <a:endParaRPr lang="en-US" sz="720" dirty="0"/>
          </a:p>
        </p:txBody>
      </p:sp>
      <p:sp>
        <p:nvSpPr>
          <p:cNvPr id="26" name="Text 24"/>
          <p:cNvSpPr txBox="1"/>
          <p:nvPr/>
        </p:nvSpPr>
        <p:spPr>
          <a:xfrm>
            <a:off x="8851392" y="2286000"/>
            <a:ext cx="1280160" cy="201168"/>
          </a:xfrm>
          <a:prstGeom prst="rect">
            <a:avLst/>
          </a:prstGeom>
          <a:noFill/>
          <a:ln/>
        </p:spPr>
        <p:txBody>
          <a:bodyPr wrap="square" lIns="0" tIns="0" rIns="0" bIns="0" rtlCol="0" anchor="ctr"/>
          <a:lstStyle/>
          <a:p>
            <a:pPr indent="0" marL="0">
              <a:buNone/>
            </a:pPr>
            <a:r>
              <a:rPr lang="en-US" sz="720" b="1" dirty="0">
                <a:solidFill>
                  <a:srgbClr val="1B2733"/>
                </a:solidFill>
                <a:latin typeface="Arial" pitchFamily="34" charset="0"/>
                <a:ea typeface="Arial" pitchFamily="34" charset="-122"/>
                <a:cs typeface="Arial" pitchFamily="34" charset="-120"/>
              </a:rPr>
              <a:t>My role</a:t>
            </a:r>
            <a:endParaRPr lang="en-US" sz="720" dirty="0"/>
          </a:p>
        </p:txBody>
      </p:sp>
      <p:sp>
        <p:nvSpPr>
          <p:cNvPr id="27" name="Text 25"/>
          <p:cNvSpPr txBox="1"/>
          <p:nvPr/>
        </p:nvSpPr>
        <p:spPr>
          <a:xfrm>
            <a:off x="10131552" y="2286000"/>
            <a:ext cx="914400" cy="201168"/>
          </a:xfrm>
          <a:prstGeom prst="rect">
            <a:avLst/>
          </a:prstGeom>
          <a:noFill/>
          <a:ln/>
        </p:spPr>
        <p:txBody>
          <a:bodyPr wrap="square" lIns="0" tIns="0" rIns="0" bIns="0" rtlCol="0" anchor="ctr"/>
          <a:lstStyle/>
          <a:p>
            <a:pPr indent="0" marL="0">
              <a:buNone/>
            </a:pPr>
            <a:r>
              <a:rPr lang="en-US" sz="720" b="1" dirty="0">
                <a:solidFill>
                  <a:srgbClr val="1B2733"/>
                </a:solidFill>
                <a:latin typeface="Arial" pitchFamily="34" charset="0"/>
                <a:ea typeface="Arial" pitchFamily="34" charset="-122"/>
                <a:cs typeface="Arial" pitchFamily="34" charset="-120"/>
              </a:rPr>
              <a:t>Status</a:t>
            </a:r>
            <a:endParaRPr lang="en-US" sz="720" dirty="0"/>
          </a:p>
        </p:txBody>
      </p:sp>
      <p:sp>
        <p:nvSpPr>
          <p:cNvPr id="28" name="Shape 26"/>
          <p:cNvSpPr/>
          <p:nvPr/>
        </p:nvSpPr>
        <p:spPr>
          <a:xfrm>
            <a:off x="6473952" y="2487168"/>
            <a:ext cx="4846320" cy="0"/>
          </a:xfrm>
          <a:prstGeom prst="line">
            <a:avLst/>
          </a:prstGeom>
          <a:noFill/>
          <a:ln w="6350">
            <a:solidFill>
              <a:srgbClr val="E2E9F0"/>
            </a:solidFill>
            <a:prstDash val="solid"/>
          </a:ln>
        </p:spPr>
      </p:sp>
      <p:sp>
        <p:nvSpPr>
          <p:cNvPr id="29" name="Text 27"/>
          <p:cNvSpPr txBox="1"/>
          <p:nvPr/>
        </p:nvSpPr>
        <p:spPr>
          <a:xfrm>
            <a:off x="6473952" y="2578608"/>
            <a:ext cx="2377440" cy="274320"/>
          </a:xfrm>
          <a:prstGeom prst="rect">
            <a:avLst/>
          </a:prstGeom>
          <a:noFill/>
          <a:ln/>
        </p:spPr>
        <p:txBody>
          <a:bodyPr wrap="square" lIns="0" tIns="0" rIns="0" bIns="0" rtlCol="0" anchor="ctr"/>
          <a:lstStyle/>
          <a:p>
            <a:pPr indent="0" marL="0">
              <a:buNone/>
            </a:pPr>
            <a:r>
              <a:rPr lang="en-US" sz="800" b="1" dirty="0">
                <a:solidFill>
                  <a:srgbClr val="0078D4"/>
                </a:solidFill>
                <a:latin typeface="Arial" pitchFamily="34" charset="0"/>
                <a:ea typeface="Arial" pitchFamily="34" charset="-122"/>
                <a:cs typeface="Arial" pitchFamily="34" charset="-120"/>
              </a:rPr>
              <a:t>Azure for Students</a:t>
            </a:r>
            <a:endParaRPr lang="en-US" sz="800" dirty="0"/>
          </a:p>
        </p:txBody>
      </p:sp>
      <p:sp>
        <p:nvSpPr>
          <p:cNvPr id="30" name="Text 28"/>
          <p:cNvSpPr txBox="1"/>
          <p:nvPr/>
        </p:nvSpPr>
        <p:spPr>
          <a:xfrm>
            <a:off x="8851392" y="2578608"/>
            <a:ext cx="1280160" cy="274320"/>
          </a:xfrm>
          <a:prstGeom prst="rect">
            <a:avLst/>
          </a:prstGeom>
          <a:noFill/>
          <a:ln/>
        </p:spPr>
        <p:txBody>
          <a:bodyPr wrap="square" lIns="0" tIns="0" rIns="0" bIns="0" rtlCol="0" anchor="ctr"/>
          <a:lstStyle/>
          <a:p>
            <a:pPr indent="0" marL="0">
              <a:buNone/>
            </a:pPr>
            <a:r>
              <a:rPr lang="en-US" sz="800" dirty="0">
                <a:solidFill>
                  <a:srgbClr val="5A6570"/>
                </a:solidFill>
                <a:latin typeface="Arial" pitchFamily="34" charset="0"/>
                <a:ea typeface="Arial" pitchFamily="34" charset="-122"/>
                <a:cs typeface="Arial" pitchFamily="34" charset="-120"/>
              </a:rPr>
              <a:t>Owner</a:t>
            </a:r>
            <a:endParaRPr lang="en-US" sz="800" dirty="0"/>
          </a:p>
        </p:txBody>
      </p:sp>
      <p:sp>
        <p:nvSpPr>
          <p:cNvPr id="31" name="Shape 29"/>
          <p:cNvSpPr/>
          <p:nvPr/>
        </p:nvSpPr>
        <p:spPr>
          <a:xfrm>
            <a:off x="10149840" y="2615184"/>
            <a:ext cx="713232" cy="201168"/>
          </a:xfrm>
          <a:prstGeom prst="rect">
            <a:avLst/>
          </a:prstGeom>
          <a:solidFill>
            <a:srgbClr val="E6F4EA"/>
          </a:solidFill>
          <a:ln w="12700">
            <a:solidFill>
              <a:srgbClr val="3A8F5E"/>
            </a:solidFill>
            <a:prstDash val="solid"/>
          </a:ln>
        </p:spPr>
      </p:sp>
      <p:sp>
        <p:nvSpPr>
          <p:cNvPr id="32" name="Text 30"/>
          <p:cNvSpPr txBox="1"/>
          <p:nvPr/>
        </p:nvSpPr>
        <p:spPr>
          <a:xfrm>
            <a:off x="10149840" y="2615184"/>
            <a:ext cx="713232" cy="201168"/>
          </a:xfrm>
          <a:prstGeom prst="rect">
            <a:avLst/>
          </a:prstGeom>
          <a:noFill/>
          <a:ln/>
        </p:spPr>
        <p:txBody>
          <a:bodyPr wrap="square" lIns="0" tIns="0" rIns="0" bIns="0" rtlCol="0" anchor="ctr"/>
          <a:lstStyle/>
          <a:p>
            <a:pPr algn="ctr" indent="0" marL="0">
              <a:buNone/>
            </a:pPr>
            <a:r>
              <a:rPr lang="en-US" sz="650" b="1" dirty="0">
                <a:solidFill>
                  <a:srgbClr val="27703F"/>
                </a:solidFill>
                <a:latin typeface="Arial" pitchFamily="34" charset="0"/>
                <a:ea typeface="Arial" pitchFamily="34" charset="-122"/>
                <a:cs typeface="Arial" pitchFamily="34" charset="-120"/>
              </a:rPr>
              <a:t>Active</a:t>
            </a:r>
            <a:endParaRPr lang="en-US" sz="650" dirty="0"/>
          </a:p>
        </p:txBody>
      </p:sp>
      <p:sp>
        <p:nvSpPr>
          <p:cNvPr id="33" name="Shape 31"/>
          <p:cNvSpPr/>
          <p:nvPr/>
        </p:nvSpPr>
        <p:spPr>
          <a:xfrm>
            <a:off x="10972800" y="2596896"/>
            <a:ext cx="237744" cy="237744"/>
          </a:xfrm>
          <a:prstGeom prst="ellipse">
            <a:avLst/>
          </a:prstGeom>
          <a:solidFill>
            <a:srgbClr val="E8763A"/>
          </a:solidFill>
          <a:ln w="15875">
            <a:solidFill>
              <a:srgbClr val="FFFFFF"/>
            </a:solidFill>
            <a:prstDash val="solid"/>
          </a:ln>
        </p:spPr>
      </p:sp>
      <p:sp>
        <p:nvSpPr>
          <p:cNvPr id="34" name="Text 32"/>
          <p:cNvSpPr txBox="1"/>
          <p:nvPr/>
        </p:nvSpPr>
        <p:spPr>
          <a:xfrm>
            <a:off x="10972800" y="259689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5" name="Shape 33"/>
          <p:cNvSpPr/>
          <p:nvPr/>
        </p:nvSpPr>
        <p:spPr>
          <a:xfrm>
            <a:off x="6473952" y="2871216"/>
            <a:ext cx="4846320" cy="0"/>
          </a:xfrm>
          <a:prstGeom prst="line">
            <a:avLst/>
          </a:prstGeom>
          <a:noFill/>
          <a:ln w="6350">
            <a:solidFill>
              <a:srgbClr val="E2E9F0"/>
            </a:solidFill>
            <a:prstDash val="solid"/>
          </a:ln>
        </p:spPr>
      </p:sp>
      <p:sp>
        <p:nvSpPr>
          <p:cNvPr id="36" name="Shape 34"/>
          <p:cNvSpPr/>
          <p:nvPr/>
        </p:nvSpPr>
        <p:spPr>
          <a:xfrm>
            <a:off x="6473952" y="3200400"/>
            <a:ext cx="4846320" cy="1234440"/>
          </a:xfrm>
          <a:prstGeom prst="rect">
            <a:avLst/>
          </a:prstGeom>
          <a:solidFill>
            <a:srgbClr val="E8F2FB"/>
          </a:solidFill>
          <a:ln w="9525">
            <a:solidFill>
              <a:srgbClr val="0078D4"/>
            </a:solidFill>
            <a:prstDash val="solid"/>
          </a:ln>
        </p:spPr>
      </p:sp>
      <p:sp>
        <p:nvSpPr>
          <p:cNvPr id="37" name="Text 35"/>
          <p:cNvSpPr txBox="1"/>
          <p:nvPr/>
        </p:nvSpPr>
        <p:spPr>
          <a:xfrm>
            <a:off x="6656832" y="3328416"/>
            <a:ext cx="4480560" cy="219456"/>
          </a:xfrm>
          <a:prstGeom prst="rect">
            <a:avLst/>
          </a:prstGeom>
          <a:noFill/>
          <a:ln/>
        </p:spPr>
        <p:txBody>
          <a:bodyPr wrap="square" lIns="0" tIns="0" rIns="0" bIns="0" rtlCol="0" anchor="ctr"/>
          <a:lstStyle/>
          <a:p>
            <a:pPr indent="0" marL="0">
              <a:buNone/>
            </a:pPr>
            <a:r>
              <a:rPr lang="en-US" sz="850" b="1" dirty="0">
                <a:solidFill>
                  <a:srgbClr val="0078D4"/>
                </a:solidFill>
                <a:latin typeface="Arial" pitchFamily="34" charset="0"/>
                <a:ea typeface="Arial" pitchFamily="34" charset="-122"/>
                <a:cs typeface="Arial" pitchFamily="34" charset="-120"/>
              </a:rPr>
              <a:t>Credit remaining</a:t>
            </a:r>
            <a:endParaRPr lang="en-US" sz="850" dirty="0"/>
          </a:p>
        </p:txBody>
      </p:sp>
      <p:sp>
        <p:nvSpPr>
          <p:cNvPr id="38" name="Text 36"/>
          <p:cNvSpPr txBox="1"/>
          <p:nvPr/>
        </p:nvSpPr>
        <p:spPr>
          <a:xfrm>
            <a:off x="6656832" y="3566160"/>
            <a:ext cx="4480560" cy="420624"/>
          </a:xfrm>
          <a:prstGeom prst="rect">
            <a:avLst/>
          </a:prstGeom>
          <a:noFill/>
          <a:ln/>
        </p:spPr>
        <p:txBody>
          <a:bodyPr wrap="square" lIns="0" tIns="0" rIns="0" bIns="0" rtlCol="0" anchor="ctr"/>
          <a:lstStyle/>
          <a:p>
            <a:pPr indent="0" marL="0">
              <a:buNone/>
            </a:pPr>
            <a:r>
              <a:rPr lang="en-US" sz="2400" b="1" dirty="0">
                <a:solidFill>
                  <a:srgbClr val="1B2733"/>
                </a:solidFill>
                <a:latin typeface="Cambria" pitchFamily="34" charset="0"/>
                <a:ea typeface="Cambria" pitchFamily="34" charset="-122"/>
                <a:cs typeface="Cambria" pitchFamily="34" charset="-120"/>
              </a:rPr>
              <a:t>USD 100.00</a:t>
            </a:r>
            <a:endParaRPr lang="en-US" sz="2400" dirty="0"/>
          </a:p>
        </p:txBody>
      </p:sp>
      <p:sp>
        <p:nvSpPr>
          <p:cNvPr id="39" name="Text 37"/>
          <p:cNvSpPr txBox="1"/>
          <p:nvPr/>
        </p:nvSpPr>
        <p:spPr>
          <a:xfrm>
            <a:off x="6656832" y="4023360"/>
            <a:ext cx="4480560" cy="219456"/>
          </a:xfrm>
          <a:prstGeom prst="rect">
            <a:avLst/>
          </a:prstGeom>
          <a:noFill/>
          <a:ln/>
        </p:spPr>
        <p:txBody>
          <a:bodyPr wrap="square" lIns="0" tIns="0" rIns="0" bIns="0" rtlCol="0" anchor="ctr"/>
          <a:lstStyle/>
          <a:p>
            <a:pPr indent="0" marL="0">
              <a:buNone/>
            </a:pPr>
            <a:r>
              <a:rPr lang="en-US" sz="800" dirty="0">
                <a:solidFill>
                  <a:srgbClr val="5A6570"/>
                </a:solidFill>
                <a:latin typeface="Arial" pitchFamily="34" charset="0"/>
                <a:ea typeface="Arial" pitchFamily="34" charset="-122"/>
                <a:cs typeface="Arial" pitchFamily="34" charset="-120"/>
              </a:rPr>
              <a:t>Expires 12 months from today</a:t>
            </a:r>
            <a:endParaRPr lang="en-US" sz="800" dirty="0"/>
          </a:p>
        </p:txBody>
      </p:sp>
      <p:sp>
        <p:nvSpPr>
          <p:cNvPr id="40" name="Shape 38"/>
          <p:cNvSpPr/>
          <p:nvPr/>
        </p:nvSpPr>
        <p:spPr>
          <a:xfrm>
            <a:off x="10378440" y="1261872"/>
            <a:ext cx="1234440" cy="201168"/>
          </a:xfrm>
          <a:prstGeom prst="rect">
            <a:avLst/>
          </a:prstGeom>
          <a:solidFill>
            <a:srgbClr val="1B4E7A"/>
          </a:solidFill>
          <a:ln w="19050">
            <a:solidFill>
              <a:srgbClr val="E8763A"/>
            </a:solidFill>
            <a:prstDash val="solid"/>
          </a:ln>
        </p:spPr>
      </p:sp>
      <p:sp>
        <p:nvSpPr>
          <p:cNvPr id="41" name="Text 39"/>
          <p:cNvSpPr txBox="1"/>
          <p:nvPr/>
        </p:nvSpPr>
        <p:spPr>
          <a:xfrm>
            <a:off x="10378440" y="1261872"/>
            <a:ext cx="1234440" cy="201168"/>
          </a:xfrm>
          <a:prstGeom prst="rect">
            <a:avLst/>
          </a:prstGeom>
          <a:noFill/>
          <a:ln/>
        </p:spPr>
        <p:txBody>
          <a:bodyPr wrap="square" lIns="0" tIns="0" rIns="0" bIns="0" rtlCol="0" anchor="ctr"/>
          <a:lstStyle/>
          <a:p>
            <a:pPr algn="ctr" indent="0" marL="0">
              <a:buNone/>
            </a:pPr>
            <a:r>
              <a:rPr lang="en-US" sz="650" dirty="0">
                <a:solidFill>
                  <a:srgbClr val="FFFFFF"/>
                </a:solidFill>
                <a:latin typeface="Arial" pitchFamily="34" charset="0"/>
                <a:ea typeface="Arial" pitchFamily="34" charset="-122"/>
                <a:cs typeface="Arial" pitchFamily="34" charset="-120"/>
              </a:rPr>
              <a:t>directory</a:t>
            </a:r>
            <a:endParaRPr lang="en-US" sz="650" dirty="0"/>
          </a:p>
        </p:txBody>
      </p:sp>
      <p:sp>
        <p:nvSpPr>
          <p:cNvPr id="42" name="Shape 40"/>
          <p:cNvSpPr/>
          <p:nvPr/>
        </p:nvSpPr>
        <p:spPr>
          <a:xfrm>
            <a:off x="10076688" y="1243584"/>
            <a:ext cx="237744" cy="237744"/>
          </a:xfrm>
          <a:prstGeom prst="ellipse">
            <a:avLst/>
          </a:prstGeom>
          <a:solidFill>
            <a:srgbClr val="E8763A"/>
          </a:solidFill>
          <a:ln w="15875">
            <a:solidFill>
              <a:srgbClr val="FFFFFF"/>
            </a:solidFill>
            <a:prstDash val="solid"/>
          </a:ln>
        </p:spPr>
      </p:sp>
      <p:sp>
        <p:nvSpPr>
          <p:cNvPr id="43" name="Text 41"/>
          <p:cNvSpPr txBox="1"/>
          <p:nvPr/>
        </p:nvSpPr>
        <p:spPr>
          <a:xfrm>
            <a:off x="10076688" y="12435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44" name="Text 42"/>
          <p:cNvSpPr txBox="1"/>
          <p:nvPr/>
        </p:nvSpPr>
        <p:spPr>
          <a:xfrm>
            <a:off x="6473952" y="4663440"/>
            <a:ext cx="4846320" cy="274320"/>
          </a:xfrm>
          <a:prstGeom prst="rect">
            <a:avLst/>
          </a:prstGeom>
          <a:noFill/>
          <a:ln/>
        </p:spPr>
        <p:txBody>
          <a:bodyPr wrap="square" lIns="0" tIns="0" rIns="0" bIns="0" rtlCol="0" anchor="ctr"/>
          <a:lstStyle/>
          <a:p>
            <a:pPr indent="0" marL="0">
              <a:buNone/>
            </a:pPr>
            <a:r>
              <a:rPr lang="en-US" sz="900" i="1" dirty="0">
                <a:solidFill>
                  <a:srgbClr val="E8763A"/>
                </a:solidFill>
                <a:latin typeface="Arial" pitchFamily="34" charset="0"/>
                <a:ea typeface="Arial" pitchFamily="34" charset="-122"/>
                <a:cs typeface="Arial" pitchFamily="34" charset="-120"/>
              </a:rPr>
              <a:t>Write both of these in your notebook now.</a:t>
            </a:r>
            <a:endParaRPr lang="en-US" sz="900" dirty="0"/>
          </a:p>
        </p:txBody>
      </p:sp>
      <p:sp>
        <p:nvSpPr>
          <p:cNvPr id="45" name="Text 43"/>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Marker 1: Active. Marker 2: the directory you are in. Note both.</a:t>
            </a:r>
            <a:endParaRPr lang="en-US" sz="900" dirty="0"/>
          </a:p>
        </p:txBody>
      </p:sp>
      <p:sp>
        <p:nvSpPr>
          <p:cNvPr id="46" name="Text 44"/>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566928" cy="566928"/>
          </a:xfrm>
          <a:prstGeom prst="ellipse">
            <a:avLst/>
          </a:prstGeom>
          <a:solidFill>
            <a:srgbClr val="0078D4"/>
          </a:solidFill>
          <a:ln w="12700">
            <a:solidFill>
              <a:srgbClr val="0078D4"/>
            </a:solidFill>
            <a:prstDash val="solid"/>
          </a:ln>
        </p:spPr>
      </p:sp>
      <p:sp>
        <p:nvSpPr>
          <p:cNvPr id="3" name="Text 1"/>
          <p:cNvSpPr txBox="1"/>
          <p:nvPr/>
        </p:nvSpPr>
        <p:spPr>
          <a:xfrm>
            <a:off x="548640" y="384048"/>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4" name="Text 2"/>
          <p:cNvSpPr txBox="1"/>
          <p:nvPr/>
        </p:nvSpPr>
        <p:spPr>
          <a:xfrm>
            <a:off x="1261872" y="402336"/>
            <a:ext cx="10332720" cy="548640"/>
          </a:xfrm>
          <a:prstGeom prst="rect">
            <a:avLst/>
          </a:prstGeom>
          <a:noFill/>
          <a:ln/>
        </p:spPr>
        <p:txBody>
          <a:bodyPr wrap="square" lIns="0" tIns="0" rIns="0" bIns="0" rtlCol="0" anchor="ctr"/>
          <a:lstStyle/>
          <a:p>
            <a:pPr indent="0" marL="0">
              <a:buNone/>
            </a:pPr>
            <a:r>
              <a:rPr lang="en-US" sz="2600" b="1" dirty="0">
                <a:solidFill>
                  <a:srgbClr val="0B2E4F"/>
                </a:solidFill>
                <a:latin typeface="Cambria" pitchFamily="34" charset="0"/>
                <a:ea typeface="Cambria" pitchFamily="34" charset="-122"/>
                <a:cs typeface="Cambria" pitchFamily="34" charset="-120"/>
              </a:rPr>
              <a:t>Find the bill before you spend anything</a:t>
            </a:r>
            <a:endParaRPr lang="en-US" sz="2600" dirty="0"/>
          </a:p>
        </p:txBody>
      </p:sp>
      <p:sp>
        <p:nvSpPr>
          <p:cNvPr id="5" name="Text 3"/>
          <p:cNvSpPr txBox="1"/>
          <p:nvPr/>
        </p:nvSpPr>
        <p:spPr>
          <a:xfrm>
            <a:off x="566928" y="1234440"/>
            <a:ext cx="4114800" cy="2743200"/>
          </a:xfrm>
          <a:prstGeom prst="rect">
            <a:avLst/>
          </a:prstGeom>
          <a:noFill/>
          <a:ln/>
        </p:spPr>
        <p:txBody>
          <a:bodyPr wrap="square" rtlCol="0" anchor="t"/>
          <a:lstStyle/>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Search for Cost Management.</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Open Cost analysis and note that today's spend is zero.</a:t>
            </a:r>
            <a:endParaRPr lang="en-US" sz="1300" dirty="0"/>
          </a:p>
          <a:p>
            <a:pPr marL="342900" indent="-342900">
              <a:lnSpc>
                <a:spcPts val="2000"/>
              </a:lnSpc>
              <a:spcAft>
                <a:spcPts val="900"/>
              </a:spcAft>
              <a:buSzPct val="100000"/>
              <a:buChar char="•"/>
            </a:pPr>
            <a:r>
              <a:rPr lang="en-US" sz="1300" dirty="0">
                <a:solidFill>
                  <a:srgbClr val="1B2733"/>
                </a:solidFill>
                <a:latin typeface="Arial" pitchFamily="34" charset="0"/>
                <a:ea typeface="Arial" pitchFamily="34" charset="-122"/>
                <a:cs typeface="Arial" pitchFamily="34" charset="-120"/>
              </a:rPr>
              <a:t>Bookmark this page.</a:t>
            </a:r>
            <a:endParaRPr lang="en-US" sz="1300" dirty="0"/>
          </a:p>
        </p:txBody>
      </p:sp>
      <p:sp>
        <p:nvSpPr>
          <p:cNvPr id="6" name="Shape 4"/>
          <p:cNvSpPr/>
          <p:nvPr/>
        </p:nvSpPr>
        <p:spPr>
          <a:xfrm>
            <a:off x="566928" y="3794760"/>
            <a:ext cx="4114800" cy="1325880"/>
          </a:xfrm>
          <a:prstGeom prst="rect">
            <a:avLst/>
          </a:prstGeom>
          <a:solidFill>
            <a:srgbClr val="E8F2FB"/>
          </a:solidFill>
          <a:ln w="9525">
            <a:solidFill>
              <a:srgbClr val="0078D4"/>
            </a:solidFill>
            <a:prstDash val="solid"/>
          </a:ln>
        </p:spPr>
      </p:sp>
      <p:sp>
        <p:nvSpPr>
          <p:cNvPr id="7" name="Text 5"/>
          <p:cNvSpPr txBox="1"/>
          <p:nvPr/>
        </p:nvSpPr>
        <p:spPr>
          <a:xfrm>
            <a:off x="749808" y="3904488"/>
            <a:ext cx="3749040" cy="182880"/>
          </a:xfrm>
          <a:prstGeom prst="rect">
            <a:avLst/>
          </a:prstGeom>
          <a:noFill/>
          <a:ln/>
        </p:spPr>
        <p:txBody>
          <a:bodyPr wrap="square" lIns="0" tIns="0" rIns="0" bIns="0" rtlCol="0" anchor="ctr"/>
          <a:lstStyle/>
          <a:p>
            <a:pPr indent="0" marL="0">
              <a:buNone/>
            </a:pPr>
            <a:r>
              <a:rPr lang="en-US" sz="850" b="1" spc="100" kern="0" dirty="0">
                <a:solidFill>
                  <a:srgbClr val="0078D4"/>
                </a:solidFill>
                <a:latin typeface="Arial" pitchFamily="34" charset="0"/>
                <a:ea typeface="Arial" pitchFamily="34" charset="-122"/>
                <a:cs typeface="Arial" pitchFamily="34" charset="-120"/>
              </a:rPr>
              <a:t>CHECK BEFORE MOVING ON</a:t>
            </a:r>
            <a:endParaRPr lang="en-US" sz="850" dirty="0"/>
          </a:p>
        </p:txBody>
      </p:sp>
      <p:sp>
        <p:nvSpPr>
          <p:cNvPr id="8" name="Text 6"/>
          <p:cNvSpPr txBox="1"/>
          <p:nvPr/>
        </p:nvSpPr>
        <p:spPr>
          <a:xfrm>
            <a:off x="749808" y="4123944"/>
            <a:ext cx="3749040" cy="914400"/>
          </a:xfrm>
          <a:prstGeom prst="rect">
            <a:avLst/>
          </a:prstGeom>
          <a:noFill/>
          <a:ln/>
        </p:spPr>
        <p:txBody>
          <a:bodyPr wrap="square" lIns="0" tIns="0" rIns="0" bIns="0" rtlCol="0" anchor="t"/>
          <a:lstStyle/>
          <a:p>
            <a:pPr indent="0" marL="0">
              <a:lnSpc>
                <a:spcPts val="1400"/>
              </a:lnSpc>
              <a:buNone/>
            </a:pPr>
            <a:r>
              <a:rPr lang="en-US" sz="1050" dirty="0">
                <a:solidFill>
                  <a:srgbClr val="1B2733"/>
                </a:solidFill>
                <a:latin typeface="Arial" pitchFamily="34" charset="0"/>
                <a:ea typeface="Arial" pitchFamily="34" charset="-122"/>
                <a:cs typeface="Arial" pitchFamily="34" charset="-120"/>
              </a:rPr>
              <a:t>Knowing where the bill lives, before creating a single resource, is the habit that separates careful engineers from expensive ones. Make them open it today.</a:t>
            </a:r>
            <a:endParaRPr lang="en-US" sz="1050" dirty="0"/>
          </a:p>
        </p:txBody>
      </p:sp>
      <p:sp>
        <p:nvSpPr>
          <p:cNvPr id="9" name="Shape 7"/>
          <p:cNvSpPr/>
          <p:nvPr/>
        </p:nvSpPr>
        <p:spPr>
          <a:xfrm>
            <a:off x="5029200" y="1207008"/>
            <a:ext cx="6675120" cy="4709160"/>
          </a:xfrm>
          <a:prstGeom prst="rect">
            <a:avLst/>
          </a:prstGeom>
          <a:solidFill>
            <a:srgbClr val="FFFFFF"/>
          </a:solidFill>
          <a:ln w="12700">
            <a:solidFill>
              <a:srgbClr val="C3D0DC"/>
            </a:solidFill>
            <a:prstDash val="solid"/>
          </a:ln>
          <a:effectLst>
            <a:outerShdw sx="100000" sy="100000" kx="0" ky="0" algn="bl" rotWithShape="0" blurRad="177800" dist="38100" dir="5400000">
              <a:srgbClr val="000000">
                <a:alpha val="13000"/>
              </a:srgbClr>
            </a:outerShdw>
          </a:effectLst>
        </p:spPr>
      </p:sp>
      <p:sp>
        <p:nvSpPr>
          <p:cNvPr id="10" name="Shape 8"/>
          <p:cNvSpPr/>
          <p:nvPr/>
        </p:nvSpPr>
        <p:spPr>
          <a:xfrm>
            <a:off x="5029200" y="1207008"/>
            <a:ext cx="6675120" cy="310896"/>
          </a:xfrm>
          <a:prstGeom prst="rect">
            <a:avLst/>
          </a:prstGeom>
          <a:solidFill>
            <a:srgbClr val="0B2E4F"/>
          </a:solidFill>
          <a:ln w="12700">
            <a:solidFill>
              <a:srgbClr val="0B2E4F"/>
            </a:solidFill>
            <a:prstDash val="solid"/>
          </a:ln>
        </p:spPr>
      </p:sp>
      <p:sp>
        <p:nvSpPr>
          <p:cNvPr id="11" name="Text 9"/>
          <p:cNvSpPr txBox="1"/>
          <p:nvPr/>
        </p:nvSpPr>
        <p:spPr>
          <a:xfrm>
            <a:off x="5148072" y="1225296"/>
            <a:ext cx="1371600" cy="27432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Microsoft Azure</a:t>
            </a:r>
            <a:endParaRPr lang="en-US" sz="900" dirty="0"/>
          </a:p>
        </p:txBody>
      </p:sp>
      <p:sp>
        <p:nvSpPr>
          <p:cNvPr id="12" name="Shape 10"/>
          <p:cNvSpPr/>
          <p:nvPr/>
        </p:nvSpPr>
        <p:spPr>
          <a:xfrm>
            <a:off x="6675120" y="1271016"/>
            <a:ext cx="2377440" cy="192024"/>
          </a:xfrm>
          <a:prstGeom prst="roundRect">
            <a:avLst>
              <a:gd name="adj" fmla="val 14286"/>
            </a:avLst>
          </a:prstGeom>
          <a:solidFill>
            <a:srgbClr val="1B4E7A"/>
          </a:solidFill>
          <a:ln w="6350">
            <a:solidFill>
              <a:srgbClr val="2F6C9E"/>
            </a:solidFill>
            <a:prstDash val="solid"/>
          </a:ln>
        </p:spPr>
      </p:sp>
      <p:sp>
        <p:nvSpPr>
          <p:cNvPr id="13" name="Text 11"/>
          <p:cNvSpPr txBox="1"/>
          <p:nvPr/>
        </p:nvSpPr>
        <p:spPr>
          <a:xfrm>
            <a:off x="6784848" y="1271016"/>
            <a:ext cx="2743200" cy="192024"/>
          </a:xfrm>
          <a:prstGeom prst="rect">
            <a:avLst/>
          </a:prstGeom>
          <a:noFill/>
          <a:ln/>
        </p:spPr>
        <p:txBody>
          <a:bodyPr wrap="square" lIns="0" tIns="0" rIns="0" bIns="0" rtlCol="0" anchor="ctr"/>
          <a:lstStyle/>
          <a:p>
            <a:pPr indent="0" marL="0">
              <a:buNone/>
            </a:pPr>
            <a:r>
              <a:rPr lang="en-US" sz="700" dirty="0">
                <a:solidFill>
                  <a:srgbClr val="B9D4E8"/>
                </a:solidFill>
                <a:latin typeface="Arial" pitchFamily="34" charset="0"/>
                <a:ea typeface="Arial" pitchFamily="34" charset="-122"/>
                <a:cs typeface="Arial" pitchFamily="34" charset="-120"/>
              </a:rPr>
              <a:t>Search resources, services and docs</a:t>
            </a:r>
            <a:endParaRPr lang="en-US" sz="700" dirty="0"/>
          </a:p>
        </p:txBody>
      </p:sp>
      <p:sp>
        <p:nvSpPr>
          <p:cNvPr id="14" name="Shape 12"/>
          <p:cNvSpPr/>
          <p:nvPr/>
        </p:nvSpPr>
        <p:spPr>
          <a:xfrm>
            <a:off x="5029200" y="1517904"/>
            <a:ext cx="1325880" cy="4398264"/>
          </a:xfrm>
          <a:prstGeom prst="rect">
            <a:avLst/>
          </a:prstGeom>
          <a:solidFill>
            <a:srgbClr val="F4F7FA"/>
          </a:solidFill>
          <a:ln w="12700">
            <a:solidFill>
              <a:srgbClr val="F4F7FA"/>
            </a:solidFill>
            <a:prstDash val="solid"/>
          </a:ln>
        </p:spPr>
      </p:sp>
      <p:sp>
        <p:nvSpPr>
          <p:cNvPr id="15" name="Text 13"/>
          <p:cNvSpPr txBox="1"/>
          <p:nvPr/>
        </p:nvSpPr>
        <p:spPr>
          <a:xfrm>
            <a:off x="5120640" y="1627632"/>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Home</a:t>
            </a:r>
            <a:endParaRPr lang="en-US" sz="700" dirty="0"/>
          </a:p>
        </p:txBody>
      </p:sp>
      <p:sp>
        <p:nvSpPr>
          <p:cNvPr id="16" name="Text 14"/>
          <p:cNvSpPr txBox="1"/>
          <p:nvPr/>
        </p:nvSpPr>
        <p:spPr>
          <a:xfrm>
            <a:off x="5120640" y="1847088"/>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Resource groups</a:t>
            </a:r>
            <a:endParaRPr lang="en-US" sz="700" dirty="0"/>
          </a:p>
        </p:txBody>
      </p:sp>
      <p:sp>
        <p:nvSpPr>
          <p:cNvPr id="17" name="Text 15"/>
          <p:cNvSpPr txBox="1"/>
          <p:nvPr/>
        </p:nvSpPr>
        <p:spPr>
          <a:xfrm>
            <a:off x="5120640" y="2066544"/>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Virtual machines</a:t>
            </a:r>
            <a:endParaRPr lang="en-US" sz="700" dirty="0"/>
          </a:p>
        </p:txBody>
      </p:sp>
      <p:sp>
        <p:nvSpPr>
          <p:cNvPr id="18" name="Text 16"/>
          <p:cNvSpPr txBox="1"/>
          <p:nvPr/>
        </p:nvSpPr>
        <p:spPr>
          <a:xfrm>
            <a:off x="5120640" y="2286000"/>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Storage accounts</a:t>
            </a:r>
            <a:endParaRPr lang="en-US" sz="700" dirty="0"/>
          </a:p>
        </p:txBody>
      </p:sp>
      <p:sp>
        <p:nvSpPr>
          <p:cNvPr id="19" name="Text 17"/>
          <p:cNvSpPr txBox="1"/>
          <p:nvPr/>
        </p:nvSpPr>
        <p:spPr>
          <a:xfrm>
            <a:off x="5120640" y="2505456"/>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Virtual networks</a:t>
            </a:r>
            <a:endParaRPr lang="en-US" sz="700" dirty="0"/>
          </a:p>
        </p:txBody>
      </p:sp>
      <p:sp>
        <p:nvSpPr>
          <p:cNvPr id="20" name="Text 18"/>
          <p:cNvSpPr txBox="1"/>
          <p:nvPr/>
        </p:nvSpPr>
        <p:spPr>
          <a:xfrm>
            <a:off x="5120640" y="2724912"/>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Cost Management</a:t>
            </a:r>
            <a:endParaRPr lang="en-US" sz="700" dirty="0"/>
          </a:p>
        </p:txBody>
      </p:sp>
      <p:sp>
        <p:nvSpPr>
          <p:cNvPr id="21" name="Text 19"/>
          <p:cNvSpPr txBox="1"/>
          <p:nvPr/>
        </p:nvSpPr>
        <p:spPr>
          <a:xfrm>
            <a:off x="5120640" y="2944368"/>
            <a:ext cx="1188720" cy="182880"/>
          </a:xfrm>
          <a:prstGeom prst="rect">
            <a:avLst/>
          </a:prstGeom>
          <a:noFill/>
          <a:ln/>
        </p:spPr>
        <p:txBody>
          <a:bodyPr wrap="square" lIns="0" tIns="0" rIns="0" bIns="0" rtlCol="0" anchor="ctr"/>
          <a:lstStyle/>
          <a:p>
            <a:pPr indent="0" marL="0">
              <a:buNone/>
            </a:pPr>
            <a:r>
              <a:rPr lang="en-US" sz="700" dirty="0">
                <a:solidFill>
                  <a:srgbClr val="5A6570"/>
                </a:solidFill>
                <a:latin typeface="Arial" pitchFamily="34" charset="0"/>
                <a:ea typeface="Arial" pitchFamily="34" charset="-122"/>
                <a:cs typeface="Arial" pitchFamily="34" charset="-120"/>
              </a:rPr>
              <a:t>Monitor</a:t>
            </a:r>
            <a:endParaRPr lang="en-US" sz="700" dirty="0"/>
          </a:p>
        </p:txBody>
      </p:sp>
      <p:sp>
        <p:nvSpPr>
          <p:cNvPr id="22" name="Shape 20"/>
          <p:cNvSpPr/>
          <p:nvPr/>
        </p:nvSpPr>
        <p:spPr>
          <a:xfrm>
            <a:off x="6355080" y="1517904"/>
            <a:ext cx="0" cy="4398264"/>
          </a:xfrm>
          <a:prstGeom prst="line">
            <a:avLst/>
          </a:prstGeom>
          <a:noFill/>
          <a:ln w="9525">
            <a:solidFill>
              <a:srgbClr val="C3D0DC"/>
            </a:solidFill>
            <a:prstDash val="solid"/>
          </a:ln>
        </p:spPr>
      </p:sp>
      <p:sp>
        <p:nvSpPr>
          <p:cNvPr id="23" name="Text 21"/>
          <p:cNvSpPr txBox="1"/>
          <p:nvPr/>
        </p:nvSpPr>
        <p:spPr>
          <a:xfrm>
            <a:off x="6473952" y="1591056"/>
            <a:ext cx="5074920" cy="182880"/>
          </a:xfrm>
          <a:prstGeom prst="rect">
            <a:avLst/>
          </a:prstGeom>
          <a:noFill/>
          <a:ln/>
        </p:spPr>
        <p:txBody>
          <a:bodyPr wrap="square" lIns="0" tIns="0" rIns="0" bIns="0" rtlCol="0" anchor="ctr"/>
          <a:lstStyle/>
          <a:p>
            <a:pPr indent="0" marL="0">
              <a:buNone/>
            </a:pPr>
            <a:r>
              <a:rPr lang="en-US" sz="750" dirty="0">
                <a:solidFill>
                  <a:srgbClr val="5A6570"/>
                </a:solidFill>
                <a:latin typeface="Arial" pitchFamily="34" charset="0"/>
                <a:ea typeface="Arial" pitchFamily="34" charset="-122"/>
                <a:cs typeface="Arial" pitchFamily="34" charset="-120"/>
              </a:rPr>
              <a:t>Home  &gt;  Cost Management  &gt;  Cost analysis</a:t>
            </a:r>
            <a:endParaRPr lang="en-US" sz="750" dirty="0"/>
          </a:p>
        </p:txBody>
      </p:sp>
      <p:sp>
        <p:nvSpPr>
          <p:cNvPr id="24" name="Text 22"/>
          <p:cNvSpPr txBox="1"/>
          <p:nvPr/>
        </p:nvSpPr>
        <p:spPr>
          <a:xfrm>
            <a:off x="6473952" y="1737360"/>
            <a:ext cx="5074920" cy="274320"/>
          </a:xfrm>
          <a:prstGeom prst="rect">
            <a:avLst/>
          </a:prstGeom>
          <a:noFill/>
          <a:ln/>
        </p:spPr>
        <p:txBody>
          <a:bodyPr wrap="square" lIns="0" tIns="0" rIns="0" bIns="0" rtlCol="0" anchor="ctr"/>
          <a:lstStyle/>
          <a:p>
            <a:pPr indent="0" marL="0">
              <a:buNone/>
            </a:pPr>
            <a:r>
              <a:rPr lang="en-US" sz="1300" b="1" dirty="0">
                <a:solidFill>
                  <a:srgbClr val="1B2733"/>
                </a:solidFill>
                <a:latin typeface="Arial" pitchFamily="34" charset="0"/>
                <a:ea typeface="Arial" pitchFamily="34" charset="-122"/>
                <a:cs typeface="Arial" pitchFamily="34" charset="-120"/>
              </a:rPr>
              <a:t>Cost analysis</a:t>
            </a:r>
            <a:endParaRPr lang="en-US" sz="1300" dirty="0"/>
          </a:p>
        </p:txBody>
      </p:sp>
      <p:sp>
        <p:nvSpPr>
          <p:cNvPr id="25" name="Shape 23"/>
          <p:cNvSpPr/>
          <p:nvPr/>
        </p:nvSpPr>
        <p:spPr>
          <a:xfrm>
            <a:off x="6473952" y="2121408"/>
            <a:ext cx="2331720" cy="1051560"/>
          </a:xfrm>
          <a:prstGeom prst="rect">
            <a:avLst/>
          </a:prstGeom>
          <a:solidFill>
            <a:srgbClr val="FFFFFF"/>
          </a:solidFill>
          <a:ln w="9525">
            <a:solidFill>
              <a:srgbClr val="C3D0DC"/>
            </a:solidFill>
            <a:prstDash val="solid"/>
          </a:ln>
        </p:spPr>
      </p:sp>
      <p:sp>
        <p:nvSpPr>
          <p:cNvPr id="26" name="Text 24"/>
          <p:cNvSpPr txBox="1"/>
          <p:nvPr/>
        </p:nvSpPr>
        <p:spPr>
          <a:xfrm>
            <a:off x="6620256" y="2231136"/>
            <a:ext cx="2011680" cy="201168"/>
          </a:xfrm>
          <a:prstGeom prst="rect">
            <a:avLst/>
          </a:prstGeom>
          <a:noFill/>
          <a:ln/>
        </p:spPr>
        <p:txBody>
          <a:bodyPr wrap="square" lIns="0" tIns="0" rIns="0" bIns="0" rtlCol="0" anchor="ctr"/>
          <a:lstStyle/>
          <a:p>
            <a:pPr indent="0" marL="0">
              <a:buNone/>
            </a:pPr>
            <a:r>
              <a:rPr lang="en-US" sz="800" dirty="0">
                <a:solidFill>
                  <a:srgbClr val="5A6570"/>
                </a:solidFill>
                <a:latin typeface="Arial" pitchFamily="34" charset="0"/>
                <a:ea typeface="Arial" pitchFamily="34" charset="-122"/>
                <a:cs typeface="Arial" pitchFamily="34" charset="-120"/>
              </a:rPr>
              <a:t>Actual cost</a:t>
            </a:r>
            <a:endParaRPr lang="en-US" sz="800" dirty="0"/>
          </a:p>
        </p:txBody>
      </p:sp>
      <p:sp>
        <p:nvSpPr>
          <p:cNvPr id="27" name="Text 25"/>
          <p:cNvSpPr txBox="1"/>
          <p:nvPr/>
        </p:nvSpPr>
        <p:spPr>
          <a:xfrm>
            <a:off x="6620256" y="2450592"/>
            <a:ext cx="2011680" cy="457200"/>
          </a:xfrm>
          <a:prstGeom prst="rect">
            <a:avLst/>
          </a:prstGeom>
          <a:noFill/>
          <a:ln/>
        </p:spPr>
        <p:txBody>
          <a:bodyPr wrap="square" lIns="0" tIns="0" rIns="0" bIns="0" rtlCol="0" anchor="ctr"/>
          <a:lstStyle/>
          <a:p>
            <a:pPr indent="0" marL="0">
              <a:buNone/>
            </a:pPr>
            <a:r>
              <a:rPr lang="en-US" sz="2200" b="1" dirty="0">
                <a:solidFill>
                  <a:srgbClr val="1B2733"/>
                </a:solidFill>
                <a:latin typeface="Cambria" pitchFamily="34" charset="0"/>
                <a:ea typeface="Cambria" pitchFamily="34" charset="-122"/>
                <a:cs typeface="Cambria" pitchFamily="34" charset="-120"/>
              </a:rPr>
              <a:t>USD 0.00</a:t>
            </a:r>
            <a:endParaRPr lang="en-US" sz="2200" dirty="0"/>
          </a:p>
        </p:txBody>
      </p:sp>
      <p:sp>
        <p:nvSpPr>
          <p:cNvPr id="28" name="Shape 26"/>
          <p:cNvSpPr/>
          <p:nvPr/>
        </p:nvSpPr>
        <p:spPr>
          <a:xfrm>
            <a:off x="8522208" y="2194560"/>
            <a:ext cx="237744" cy="237744"/>
          </a:xfrm>
          <a:prstGeom prst="ellipse">
            <a:avLst/>
          </a:prstGeom>
          <a:solidFill>
            <a:srgbClr val="E8763A"/>
          </a:solidFill>
          <a:ln w="15875">
            <a:solidFill>
              <a:srgbClr val="FFFFFF"/>
            </a:solidFill>
            <a:prstDash val="solid"/>
          </a:ln>
        </p:spPr>
      </p:sp>
      <p:sp>
        <p:nvSpPr>
          <p:cNvPr id="29" name="Text 27"/>
          <p:cNvSpPr txBox="1"/>
          <p:nvPr/>
        </p:nvSpPr>
        <p:spPr>
          <a:xfrm>
            <a:off x="8522208" y="21945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0" name="Shape 28"/>
          <p:cNvSpPr/>
          <p:nvPr/>
        </p:nvSpPr>
        <p:spPr>
          <a:xfrm>
            <a:off x="8988552" y="2121408"/>
            <a:ext cx="2331720" cy="1051560"/>
          </a:xfrm>
          <a:prstGeom prst="rect">
            <a:avLst/>
          </a:prstGeom>
          <a:solidFill>
            <a:srgbClr val="FFFFFF"/>
          </a:solidFill>
          <a:ln w="9525">
            <a:solidFill>
              <a:srgbClr val="C3D0DC"/>
            </a:solidFill>
            <a:prstDash val="solid"/>
          </a:ln>
        </p:spPr>
      </p:sp>
      <p:sp>
        <p:nvSpPr>
          <p:cNvPr id="31" name="Text 29"/>
          <p:cNvSpPr txBox="1"/>
          <p:nvPr/>
        </p:nvSpPr>
        <p:spPr>
          <a:xfrm>
            <a:off x="9134856" y="2231136"/>
            <a:ext cx="2011680" cy="201168"/>
          </a:xfrm>
          <a:prstGeom prst="rect">
            <a:avLst/>
          </a:prstGeom>
          <a:noFill/>
          <a:ln/>
        </p:spPr>
        <p:txBody>
          <a:bodyPr wrap="square" lIns="0" tIns="0" rIns="0" bIns="0" rtlCol="0" anchor="ctr"/>
          <a:lstStyle/>
          <a:p>
            <a:pPr indent="0" marL="0">
              <a:buNone/>
            </a:pPr>
            <a:r>
              <a:rPr lang="en-US" sz="800" dirty="0">
                <a:solidFill>
                  <a:srgbClr val="5A6570"/>
                </a:solidFill>
                <a:latin typeface="Arial" pitchFamily="34" charset="0"/>
                <a:ea typeface="Arial" pitchFamily="34" charset="-122"/>
                <a:cs typeface="Arial" pitchFamily="34" charset="-120"/>
              </a:rPr>
              <a:t>Credit remaining</a:t>
            </a:r>
            <a:endParaRPr lang="en-US" sz="800" dirty="0"/>
          </a:p>
        </p:txBody>
      </p:sp>
      <p:sp>
        <p:nvSpPr>
          <p:cNvPr id="32" name="Text 30"/>
          <p:cNvSpPr txBox="1"/>
          <p:nvPr/>
        </p:nvSpPr>
        <p:spPr>
          <a:xfrm>
            <a:off x="9134856" y="2450592"/>
            <a:ext cx="2011680" cy="457200"/>
          </a:xfrm>
          <a:prstGeom prst="rect">
            <a:avLst/>
          </a:prstGeom>
          <a:noFill/>
          <a:ln/>
        </p:spPr>
        <p:txBody>
          <a:bodyPr wrap="square" lIns="0" tIns="0" rIns="0" bIns="0" rtlCol="0" anchor="ctr"/>
          <a:lstStyle/>
          <a:p>
            <a:pPr indent="0" marL="0">
              <a:buNone/>
            </a:pPr>
            <a:r>
              <a:rPr lang="en-US" sz="2200" b="1" dirty="0">
                <a:solidFill>
                  <a:srgbClr val="27703F"/>
                </a:solidFill>
                <a:latin typeface="Cambria" pitchFamily="34" charset="0"/>
                <a:ea typeface="Cambria" pitchFamily="34" charset="-122"/>
                <a:cs typeface="Cambria" pitchFamily="34" charset="-120"/>
              </a:rPr>
              <a:t>USD 100.00</a:t>
            </a:r>
            <a:endParaRPr lang="en-US" sz="2200" dirty="0"/>
          </a:p>
        </p:txBody>
      </p:sp>
      <p:sp>
        <p:nvSpPr>
          <p:cNvPr id="33" name="Shape 31"/>
          <p:cNvSpPr/>
          <p:nvPr/>
        </p:nvSpPr>
        <p:spPr>
          <a:xfrm>
            <a:off x="6473952" y="3310128"/>
            <a:ext cx="4846320" cy="1965960"/>
          </a:xfrm>
          <a:prstGeom prst="rect">
            <a:avLst/>
          </a:prstGeom>
          <a:solidFill>
            <a:srgbClr val="FBFCFE"/>
          </a:solidFill>
          <a:ln w="9525">
            <a:solidFill>
              <a:srgbClr val="C3D0DC"/>
            </a:solidFill>
            <a:prstDash val="solid"/>
          </a:ln>
        </p:spPr>
      </p:sp>
      <p:sp>
        <p:nvSpPr>
          <p:cNvPr id="34" name="Shape 32"/>
          <p:cNvSpPr/>
          <p:nvPr/>
        </p:nvSpPr>
        <p:spPr>
          <a:xfrm>
            <a:off x="6693408" y="5029200"/>
            <a:ext cx="4389120" cy="0"/>
          </a:xfrm>
          <a:prstGeom prst="line">
            <a:avLst/>
          </a:prstGeom>
          <a:noFill/>
          <a:ln w="12700">
            <a:solidFill>
              <a:srgbClr val="C9D4E0"/>
            </a:solidFill>
            <a:prstDash val="solid"/>
          </a:ln>
        </p:spPr>
      </p:sp>
      <p:sp>
        <p:nvSpPr>
          <p:cNvPr id="35" name="Shape 33"/>
          <p:cNvSpPr/>
          <p:nvPr/>
        </p:nvSpPr>
        <p:spPr>
          <a:xfrm>
            <a:off x="6693408" y="3529584"/>
            <a:ext cx="0" cy="1499616"/>
          </a:xfrm>
          <a:prstGeom prst="line">
            <a:avLst/>
          </a:prstGeom>
          <a:noFill/>
          <a:ln w="12700">
            <a:solidFill>
              <a:srgbClr val="C9D4E0"/>
            </a:solidFill>
            <a:prstDash val="solid"/>
          </a:ln>
        </p:spPr>
      </p:sp>
      <p:sp>
        <p:nvSpPr>
          <p:cNvPr id="36" name="Text 34"/>
          <p:cNvSpPr txBox="1"/>
          <p:nvPr/>
        </p:nvSpPr>
        <p:spPr>
          <a:xfrm>
            <a:off x="6693408" y="4023360"/>
            <a:ext cx="4389120" cy="274320"/>
          </a:xfrm>
          <a:prstGeom prst="rect">
            <a:avLst/>
          </a:prstGeom>
          <a:noFill/>
          <a:ln/>
        </p:spPr>
        <p:txBody>
          <a:bodyPr wrap="square" lIns="0" tIns="0" rIns="0" bIns="0" rtlCol="0" anchor="ctr"/>
          <a:lstStyle/>
          <a:p>
            <a:pPr algn="ctr" indent="0" marL="0">
              <a:buNone/>
            </a:pPr>
            <a:r>
              <a:rPr lang="en-US" sz="1000" i="1" dirty="0">
                <a:solidFill>
                  <a:srgbClr val="5A6570"/>
                </a:solidFill>
                <a:latin typeface="Arial" pitchFamily="34" charset="0"/>
                <a:ea typeface="Arial" pitchFamily="34" charset="-122"/>
                <a:cs typeface="Arial" pitchFamily="34" charset="-120"/>
              </a:rPr>
              <a:t>No usage yet</a:t>
            </a:r>
            <a:endParaRPr lang="en-US" sz="1000" dirty="0"/>
          </a:p>
        </p:txBody>
      </p:sp>
      <p:sp>
        <p:nvSpPr>
          <p:cNvPr id="37" name="Text 35"/>
          <p:cNvSpPr txBox="1"/>
          <p:nvPr/>
        </p:nvSpPr>
        <p:spPr>
          <a:xfrm>
            <a:off x="6473952" y="5394960"/>
            <a:ext cx="4846320" cy="274320"/>
          </a:xfrm>
          <a:prstGeom prst="rect">
            <a:avLst/>
          </a:prstGeom>
          <a:noFill/>
          <a:ln/>
        </p:spPr>
        <p:txBody>
          <a:bodyPr wrap="square" lIns="0" tIns="0" rIns="0" bIns="0" rtlCol="0" anchor="ctr"/>
          <a:lstStyle/>
          <a:p>
            <a:pPr indent="0" marL="0">
              <a:buNone/>
            </a:pPr>
            <a:r>
              <a:rPr lang="en-US" sz="850" i="1" dirty="0">
                <a:solidFill>
                  <a:srgbClr val="E8763A"/>
                </a:solidFill>
                <a:latin typeface="Arial" pitchFamily="34" charset="0"/>
                <a:ea typeface="Arial" pitchFamily="34" charset="-122"/>
                <a:cs typeface="Arial" pitchFamily="34" charset="-120"/>
              </a:rPr>
              <a:t>From Lab 01 onward, this chart stops being empty. Check it after every lab.</a:t>
            </a:r>
            <a:endParaRPr lang="en-US" sz="850" dirty="0"/>
          </a:p>
        </p:txBody>
      </p:sp>
      <p:sp>
        <p:nvSpPr>
          <p:cNvPr id="38" name="Text 36"/>
          <p:cNvSpPr txBox="1"/>
          <p:nvPr/>
        </p:nvSpPr>
        <p:spPr>
          <a:xfrm>
            <a:off x="5029200" y="6053328"/>
            <a:ext cx="6675120" cy="256032"/>
          </a:xfrm>
          <a:prstGeom prst="rect">
            <a:avLst/>
          </a:prstGeom>
          <a:noFill/>
          <a:ln/>
        </p:spPr>
        <p:txBody>
          <a:bodyPr wrap="square" lIns="0" tIns="0" rIns="0" bIns="0" rtlCol="0" anchor="ctr"/>
          <a:lstStyle/>
          <a:p>
            <a:pPr algn="ctr" indent="0" marL="0">
              <a:buNone/>
            </a:pPr>
            <a:r>
              <a:rPr lang="en-US" sz="900" i="1" dirty="0">
                <a:solidFill>
                  <a:srgbClr val="5A6570"/>
                </a:solidFill>
                <a:latin typeface="Arial" pitchFamily="34" charset="0"/>
                <a:ea typeface="Arial" pitchFamily="34" charset="-122"/>
                <a:cs typeface="Arial" pitchFamily="34" charset="-120"/>
              </a:rPr>
              <a:t>Zero spend, full credit. This is what a healthy account looks like on day one.</a:t>
            </a:r>
            <a:endParaRPr lang="en-US" sz="900" dirty="0"/>
          </a:p>
        </p:txBody>
      </p:sp>
      <p:sp>
        <p:nvSpPr>
          <p:cNvPr id="39" name="Text 37"/>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Step 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TROUBLESHOOTING</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What will actually go wrong with sixty students</a:t>
            </a:r>
            <a:endParaRPr lang="en-US" sz="3000" dirty="0"/>
          </a:p>
        </p:txBody>
      </p:sp>
      <p:sp>
        <p:nvSpPr>
          <p:cNvPr id="4" name="Text 2"/>
          <p:cNvSpPr txBox="1"/>
          <p:nvPr/>
        </p:nvSpPr>
        <p:spPr>
          <a:xfrm>
            <a:off x="548640" y="1225296"/>
            <a:ext cx="10881360" cy="274320"/>
          </a:xfrm>
          <a:prstGeom prst="rect">
            <a:avLst/>
          </a:prstGeom>
          <a:noFill/>
          <a:ln/>
        </p:spPr>
        <p:txBody>
          <a:bodyPr wrap="square" lIns="0" tIns="0" rIns="0" bIns="0" rtlCol="0" anchor="ctr"/>
          <a:lstStyle/>
          <a:p>
            <a:pPr indent="0" marL="0">
              <a:buNone/>
            </a:pPr>
            <a:r>
              <a:rPr lang="en-US" sz="1400" dirty="0">
                <a:solidFill>
                  <a:srgbClr val="5A6570"/>
                </a:solidFill>
                <a:latin typeface="Arial" pitchFamily="34" charset="0"/>
                <a:ea typeface="Arial" pitchFamily="34" charset="-122"/>
                <a:cs typeface="Arial" pitchFamily="34" charset="-120"/>
              </a:rPr>
              <a:t>Every one of these will appear today. Recognise them fast and the session stays on schedule.</a:t>
            </a:r>
            <a:endParaRPr lang="en-US" sz="1400" dirty="0"/>
          </a:p>
        </p:txBody>
      </p:sp>
      <p:sp>
        <p:nvSpPr>
          <p:cNvPr id="5" name="Shape 3"/>
          <p:cNvSpPr/>
          <p:nvPr/>
        </p:nvSpPr>
        <p:spPr>
          <a:xfrm>
            <a:off x="548640" y="1719072"/>
            <a:ext cx="11064240" cy="658368"/>
          </a:xfrm>
          <a:prstGeom prst="rect">
            <a:avLst/>
          </a:prstGeom>
          <a:solidFill>
            <a:srgbClr val="FFFFFF"/>
          </a:solidFill>
          <a:ln w="9525">
            <a:solidFill>
              <a:srgbClr val="C3D0DC"/>
            </a:solidFill>
            <a:prstDash val="solid"/>
          </a:ln>
        </p:spPr>
      </p:sp>
      <p:sp>
        <p:nvSpPr>
          <p:cNvPr id="6" name="Shape 4"/>
          <p:cNvSpPr/>
          <p:nvPr/>
        </p:nvSpPr>
        <p:spPr>
          <a:xfrm>
            <a:off x="548640" y="1719072"/>
            <a:ext cx="91440" cy="658368"/>
          </a:xfrm>
          <a:prstGeom prst="rect">
            <a:avLst/>
          </a:prstGeom>
          <a:solidFill>
            <a:srgbClr val="E8763A"/>
          </a:solidFill>
          <a:ln w="12700">
            <a:solidFill>
              <a:srgbClr val="E8763A"/>
            </a:solidFill>
            <a:prstDash val="solid"/>
          </a:ln>
        </p:spPr>
      </p:sp>
      <p:sp>
        <p:nvSpPr>
          <p:cNvPr id="7" name="Text 5"/>
          <p:cNvSpPr txBox="1"/>
          <p:nvPr/>
        </p:nvSpPr>
        <p:spPr>
          <a:xfrm>
            <a:off x="804672" y="1719072"/>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Verification email never arrives</a:t>
            </a:r>
            <a:endParaRPr lang="en-US" sz="1150" dirty="0"/>
          </a:p>
        </p:txBody>
      </p:sp>
      <p:sp>
        <p:nvSpPr>
          <p:cNvPr id="8" name="Text 6"/>
          <p:cNvSpPr txBox="1"/>
          <p:nvPr/>
        </p:nvSpPr>
        <p:spPr>
          <a:xfrm>
            <a:off x="4114800" y="1719072"/>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College mailbox full, filtering external mail, or never activated</a:t>
            </a:r>
            <a:endParaRPr lang="en-US" sz="1050" dirty="0"/>
          </a:p>
        </p:txBody>
      </p:sp>
      <p:sp>
        <p:nvSpPr>
          <p:cNvPr id="9" name="Text 7"/>
          <p:cNvSpPr txBox="1"/>
          <p:nvPr/>
        </p:nvSpPr>
        <p:spPr>
          <a:xfrm>
            <a:off x="7818120" y="1719072"/>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Check spam, confirm the mailbox works by sending a test mail first</a:t>
            </a:r>
            <a:endParaRPr lang="en-US" sz="1050" dirty="0"/>
          </a:p>
        </p:txBody>
      </p:sp>
      <p:sp>
        <p:nvSpPr>
          <p:cNvPr id="10" name="Shape 8"/>
          <p:cNvSpPr/>
          <p:nvPr/>
        </p:nvSpPr>
        <p:spPr>
          <a:xfrm>
            <a:off x="548640" y="2468880"/>
            <a:ext cx="11064240" cy="658368"/>
          </a:xfrm>
          <a:prstGeom prst="rect">
            <a:avLst/>
          </a:prstGeom>
          <a:solidFill>
            <a:srgbClr val="FFFFFF"/>
          </a:solidFill>
          <a:ln w="9525">
            <a:solidFill>
              <a:srgbClr val="C3D0DC"/>
            </a:solidFill>
            <a:prstDash val="solid"/>
          </a:ln>
        </p:spPr>
      </p:sp>
      <p:sp>
        <p:nvSpPr>
          <p:cNvPr id="11" name="Shape 9"/>
          <p:cNvSpPr/>
          <p:nvPr/>
        </p:nvSpPr>
        <p:spPr>
          <a:xfrm>
            <a:off x="548640" y="2468880"/>
            <a:ext cx="91440" cy="658368"/>
          </a:xfrm>
          <a:prstGeom prst="rect">
            <a:avLst/>
          </a:prstGeom>
          <a:solidFill>
            <a:srgbClr val="E8763A"/>
          </a:solidFill>
          <a:ln w="12700">
            <a:solidFill>
              <a:srgbClr val="E8763A"/>
            </a:solidFill>
            <a:prstDash val="solid"/>
          </a:ln>
        </p:spPr>
      </p:sp>
      <p:sp>
        <p:nvSpPr>
          <p:cNvPr id="12" name="Text 10"/>
          <p:cNvSpPr txBox="1"/>
          <p:nvPr/>
        </p:nvSpPr>
        <p:spPr>
          <a:xfrm>
            <a:off x="804672" y="2468880"/>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Your institution is not recognised</a:t>
            </a:r>
            <a:endParaRPr lang="en-US" sz="1150" dirty="0"/>
          </a:p>
        </p:txBody>
      </p:sp>
      <p:sp>
        <p:nvSpPr>
          <p:cNvPr id="13" name="Text 11"/>
          <p:cNvSpPr txBox="1"/>
          <p:nvPr/>
        </p:nvSpPr>
        <p:spPr>
          <a:xfrm>
            <a:off x="4114800" y="2468880"/>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The domain is not matched automatically</a:t>
            </a:r>
            <a:endParaRPr lang="en-US" sz="1050" dirty="0"/>
          </a:p>
        </p:txBody>
      </p:sp>
      <p:sp>
        <p:nvSpPr>
          <p:cNvPr id="14" name="Text 12"/>
          <p:cNvSpPr txBox="1"/>
          <p:nvPr/>
        </p:nvSpPr>
        <p:spPr>
          <a:xfrm>
            <a:off x="7818120" y="2468880"/>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Use the alternative verification route - student ID or institution check</a:t>
            </a:r>
            <a:endParaRPr lang="en-US" sz="1050" dirty="0"/>
          </a:p>
        </p:txBody>
      </p:sp>
      <p:sp>
        <p:nvSpPr>
          <p:cNvPr id="15" name="Shape 13"/>
          <p:cNvSpPr/>
          <p:nvPr/>
        </p:nvSpPr>
        <p:spPr>
          <a:xfrm>
            <a:off x="548640" y="3218688"/>
            <a:ext cx="11064240" cy="658368"/>
          </a:xfrm>
          <a:prstGeom prst="rect">
            <a:avLst/>
          </a:prstGeom>
          <a:solidFill>
            <a:srgbClr val="FFFFFF"/>
          </a:solidFill>
          <a:ln w="9525">
            <a:solidFill>
              <a:srgbClr val="C3D0DC"/>
            </a:solidFill>
            <a:prstDash val="solid"/>
          </a:ln>
        </p:spPr>
      </p:sp>
      <p:sp>
        <p:nvSpPr>
          <p:cNvPr id="16" name="Shape 14"/>
          <p:cNvSpPr/>
          <p:nvPr/>
        </p:nvSpPr>
        <p:spPr>
          <a:xfrm>
            <a:off x="548640" y="3218688"/>
            <a:ext cx="91440" cy="658368"/>
          </a:xfrm>
          <a:prstGeom prst="rect">
            <a:avLst/>
          </a:prstGeom>
          <a:solidFill>
            <a:srgbClr val="E8763A"/>
          </a:solidFill>
          <a:ln w="12700">
            <a:solidFill>
              <a:srgbClr val="E8763A"/>
            </a:solidFill>
            <a:prstDash val="solid"/>
          </a:ln>
        </p:spPr>
      </p:sp>
      <p:sp>
        <p:nvSpPr>
          <p:cNvPr id="17" name="Text 15"/>
          <p:cNvSpPr txBox="1"/>
          <p:nvPr/>
        </p:nvSpPr>
        <p:spPr>
          <a:xfrm>
            <a:off x="804672" y="3218688"/>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Sign-in blocked by your organisation</a:t>
            </a:r>
            <a:endParaRPr lang="en-US" sz="1150" dirty="0"/>
          </a:p>
        </p:txBody>
      </p:sp>
      <p:sp>
        <p:nvSpPr>
          <p:cNvPr id="18" name="Text 16"/>
          <p:cNvSpPr txBox="1"/>
          <p:nvPr/>
        </p:nvSpPr>
        <p:spPr>
          <a:xfrm>
            <a:off x="4114800" y="3218688"/>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The college tenant blocks self-service sign-ups</a:t>
            </a:r>
            <a:endParaRPr lang="en-US" sz="1050" dirty="0"/>
          </a:p>
        </p:txBody>
      </p:sp>
      <p:sp>
        <p:nvSpPr>
          <p:cNvPr id="19" name="Text 17"/>
          <p:cNvSpPr txBox="1"/>
          <p:nvPr/>
        </p:nvSpPr>
        <p:spPr>
          <a:xfrm>
            <a:off x="7818120" y="3218688"/>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Use a personal Microsoft account and verify with the college email</a:t>
            </a:r>
            <a:endParaRPr lang="en-US" sz="1050" dirty="0"/>
          </a:p>
        </p:txBody>
      </p:sp>
      <p:sp>
        <p:nvSpPr>
          <p:cNvPr id="20" name="Shape 18"/>
          <p:cNvSpPr/>
          <p:nvPr/>
        </p:nvSpPr>
        <p:spPr>
          <a:xfrm>
            <a:off x="548640" y="3968496"/>
            <a:ext cx="11064240" cy="658368"/>
          </a:xfrm>
          <a:prstGeom prst="rect">
            <a:avLst/>
          </a:prstGeom>
          <a:solidFill>
            <a:srgbClr val="FFFFFF"/>
          </a:solidFill>
          <a:ln w="9525">
            <a:solidFill>
              <a:srgbClr val="C3D0DC"/>
            </a:solidFill>
            <a:prstDash val="solid"/>
          </a:ln>
        </p:spPr>
      </p:sp>
      <p:sp>
        <p:nvSpPr>
          <p:cNvPr id="21" name="Shape 19"/>
          <p:cNvSpPr/>
          <p:nvPr/>
        </p:nvSpPr>
        <p:spPr>
          <a:xfrm>
            <a:off x="548640" y="3968496"/>
            <a:ext cx="91440" cy="658368"/>
          </a:xfrm>
          <a:prstGeom prst="rect">
            <a:avLst/>
          </a:prstGeom>
          <a:solidFill>
            <a:srgbClr val="E8763A"/>
          </a:solidFill>
          <a:ln w="12700">
            <a:solidFill>
              <a:srgbClr val="E8763A"/>
            </a:solidFill>
            <a:prstDash val="solid"/>
          </a:ln>
        </p:spPr>
      </p:sp>
      <p:sp>
        <p:nvSpPr>
          <p:cNvPr id="22" name="Text 20"/>
          <p:cNvSpPr txBox="1"/>
          <p:nvPr/>
        </p:nvSpPr>
        <p:spPr>
          <a:xfrm>
            <a:off x="804672" y="3968496"/>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This account already used the offer</a:t>
            </a:r>
            <a:endParaRPr lang="en-US" sz="1150" dirty="0"/>
          </a:p>
        </p:txBody>
      </p:sp>
      <p:sp>
        <p:nvSpPr>
          <p:cNvPr id="23" name="Text 21"/>
          <p:cNvSpPr txBox="1"/>
          <p:nvPr/>
        </p:nvSpPr>
        <p:spPr>
          <a:xfrm>
            <a:off x="4114800" y="3968496"/>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One student offer per person</a:t>
            </a:r>
            <a:endParaRPr lang="en-US" sz="1050" dirty="0"/>
          </a:p>
        </p:txBody>
      </p:sp>
      <p:sp>
        <p:nvSpPr>
          <p:cNvPr id="24" name="Text 22"/>
          <p:cNvSpPr txBox="1"/>
          <p:nvPr/>
        </p:nvSpPr>
        <p:spPr>
          <a:xfrm>
            <a:off x="7818120" y="3968496"/>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Check whether they already have a subscription before creating another</a:t>
            </a:r>
            <a:endParaRPr lang="en-US" sz="1050" dirty="0"/>
          </a:p>
        </p:txBody>
      </p:sp>
      <p:sp>
        <p:nvSpPr>
          <p:cNvPr id="25" name="Shape 23"/>
          <p:cNvSpPr/>
          <p:nvPr/>
        </p:nvSpPr>
        <p:spPr>
          <a:xfrm>
            <a:off x="548640" y="4718304"/>
            <a:ext cx="11064240" cy="658368"/>
          </a:xfrm>
          <a:prstGeom prst="rect">
            <a:avLst/>
          </a:prstGeom>
          <a:solidFill>
            <a:srgbClr val="FFFFFF"/>
          </a:solidFill>
          <a:ln w="9525">
            <a:solidFill>
              <a:srgbClr val="C3D0DC"/>
            </a:solidFill>
            <a:prstDash val="solid"/>
          </a:ln>
        </p:spPr>
      </p:sp>
      <p:sp>
        <p:nvSpPr>
          <p:cNvPr id="26" name="Shape 24"/>
          <p:cNvSpPr/>
          <p:nvPr/>
        </p:nvSpPr>
        <p:spPr>
          <a:xfrm>
            <a:off x="548640" y="4718304"/>
            <a:ext cx="91440" cy="658368"/>
          </a:xfrm>
          <a:prstGeom prst="rect">
            <a:avLst/>
          </a:prstGeom>
          <a:solidFill>
            <a:srgbClr val="E8763A"/>
          </a:solidFill>
          <a:ln w="12700">
            <a:solidFill>
              <a:srgbClr val="E8763A"/>
            </a:solidFill>
            <a:prstDash val="solid"/>
          </a:ln>
        </p:spPr>
      </p:sp>
      <p:sp>
        <p:nvSpPr>
          <p:cNvPr id="27" name="Text 25"/>
          <p:cNvSpPr txBox="1"/>
          <p:nvPr/>
        </p:nvSpPr>
        <p:spPr>
          <a:xfrm>
            <a:off x="804672" y="4718304"/>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Under 18</a:t>
            </a:r>
            <a:endParaRPr lang="en-US" sz="1150" dirty="0"/>
          </a:p>
        </p:txBody>
      </p:sp>
      <p:sp>
        <p:nvSpPr>
          <p:cNvPr id="28" name="Text 26"/>
          <p:cNvSpPr txBox="1"/>
          <p:nvPr/>
        </p:nvSpPr>
        <p:spPr>
          <a:xfrm>
            <a:off x="4114800" y="4718304"/>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Not eligible for this offer</a:t>
            </a:r>
            <a:endParaRPr lang="en-US" sz="1050" dirty="0"/>
          </a:p>
        </p:txBody>
      </p:sp>
      <p:sp>
        <p:nvSpPr>
          <p:cNvPr id="29" name="Text 27"/>
          <p:cNvSpPr txBox="1"/>
          <p:nvPr/>
        </p:nvSpPr>
        <p:spPr>
          <a:xfrm>
            <a:off x="7818120" y="4718304"/>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Instructor-provided access or pair working - see the next slide</a:t>
            </a:r>
            <a:endParaRPr lang="en-US" sz="1050" dirty="0"/>
          </a:p>
        </p:txBody>
      </p:sp>
      <p:sp>
        <p:nvSpPr>
          <p:cNvPr id="30" name="Shape 28"/>
          <p:cNvSpPr/>
          <p:nvPr/>
        </p:nvSpPr>
        <p:spPr>
          <a:xfrm>
            <a:off x="548640" y="5468112"/>
            <a:ext cx="11064240" cy="658368"/>
          </a:xfrm>
          <a:prstGeom prst="rect">
            <a:avLst/>
          </a:prstGeom>
          <a:solidFill>
            <a:srgbClr val="FFFFFF"/>
          </a:solidFill>
          <a:ln w="9525">
            <a:solidFill>
              <a:srgbClr val="C3D0DC"/>
            </a:solidFill>
            <a:prstDash val="solid"/>
          </a:ln>
        </p:spPr>
      </p:sp>
      <p:sp>
        <p:nvSpPr>
          <p:cNvPr id="31" name="Shape 29"/>
          <p:cNvSpPr/>
          <p:nvPr/>
        </p:nvSpPr>
        <p:spPr>
          <a:xfrm>
            <a:off x="548640" y="5468112"/>
            <a:ext cx="91440" cy="658368"/>
          </a:xfrm>
          <a:prstGeom prst="rect">
            <a:avLst/>
          </a:prstGeom>
          <a:solidFill>
            <a:srgbClr val="E8763A"/>
          </a:solidFill>
          <a:ln w="12700">
            <a:solidFill>
              <a:srgbClr val="E8763A"/>
            </a:solidFill>
            <a:prstDash val="solid"/>
          </a:ln>
        </p:spPr>
      </p:sp>
      <p:sp>
        <p:nvSpPr>
          <p:cNvPr id="32" name="Text 30"/>
          <p:cNvSpPr txBox="1"/>
          <p:nvPr/>
        </p:nvSpPr>
        <p:spPr>
          <a:xfrm>
            <a:off x="804672" y="5468112"/>
            <a:ext cx="3200400" cy="658368"/>
          </a:xfrm>
          <a:prstGeom prst="rect">
            <a:avLst/>
          </a:prstGeom>
          <a:noFill/>
          <a:ln/>
        </p:spPr>
        <p:txBody>
          <a:bodyPr wrap="square" lIns="0" tIns="0" rIns="0" bIns="0" rtlCol="0" anchor="ctr"/>
          <a:lstStyle/>
          <a:p>
            <a:pPr indent="0" marL="0">
              <a:buNone/>
            </a:pPr>
            <a:r>
              <a:rPr lang="en-US" sz="1150" b="1" dirty="0">
                <a:solidFill>
                  <a:srgbClr val="1B2733"/>
                </a:solidFill>
                <a:latin typeface="Arial" pitchFamily="34" charset="0"/>
                <a:ea typeface="Arial" pitchFamily="34" charset="-122"/>
                <a:cs typeface="Arial" pitchFamily="34" charset="-120"/>
              </a:rPr>
              <a:t>Signed up but no subscription appears</a:t>
            </a:r>
            <a:endParaRPr lang="en-US" sz="1150" dirty="0"/>
          </a:p>
        </p:txBody>
      </p:sp>
      <p:sp>
        <p:nvSpPr>
          <p:cNvPr id="33" name="Text 31"/>
          <p:cNvSpPr txBox="1"/>
          <p:nvPr/>
        </p:nvSpPr>
        <p:spPr>
          <a:xfrm>
            <a:off x="4114800" y="5468112"/>
            <a:ext cx="3566160" cy="658368"/>
          </a:xfrm>
          <a:prstGeom prst="rect">
            <a:avLst/>
          </a:prstGeom>
          <a:noFill/>
          <a:ln/>
        </p:spPr>
        <p:txBody>
          <a:bodyPr wrap="square" lIns="0" tIns="0" rIns="0" bIns="0" rtlCol="0" anchor="ctr"/>
          <a:lstStyle/>
          <a:p>
            <a:pPr indent="0" marL="0">
              <a:buNone/>
            </a:pPr>
            <a:r>
              <a:rPr lang="en-US" sz="1050" dirty="0">
                <a:solidFill>
                  <a:srgbClr val="5A6570"/>
                </a:solidFill>
                <a:latin typeface="Arial" pitchFamily="34" charset="0"/>
                <a:ea typeface="Arial" pitchFamily="34" charset="-122"/>
                <a:cs typeface="Arial" pitchFamily="34" charset="-120"/>
              </a:rPr>
              <a:t>Created in a different directory</a:t>
            </a:r>
            <a:endParaRPr lang="en-US" sz="1050" dirty="0"/>
          </a:p>
        </p:txBody>
      </p:sp>
      <p:sp>
        <p:nvSpPr>
          <p:cNvPr id="34" name="Text 32"/>
          <p:cNvSpPr txBox="1"/>
          <p:nvPr/>
        </p:nvSpPr>
        <p:spPr>
          <a:xfrm>
            <a:off x="7818120" y="5468112"/>
            <a:ext cx="3611880" cy="658368"/>
          </a:xfrm>
          <a:prstGeom prst="rect">
            <a:avLst/>
          </a:prstGeom>
          <a:noFill/>
          <a:ln/>
        </p:spPr>
        <p:txBody>
          <a:bodyPr wrap="square" lIns="0" tIns="0" rIns="0" bIns="0" rtlCol="0" anchor="ctr"/>
          <a:lstStyle/>
          <a:p>
            <a:pPr indent="0" marL="0">
              <a:buNone/>
            </a:pPr>
            <a:r>
              <a:rPr lang="en-US" sz="1050" dirty="0">
                <a:solidFill>
                  <a:srgbClr val="0078D4"/>
                </a:solidFill>
                <a:latin typeface="Arial" pitchFamily="34" charset="0"/>
                <a:ea typeface="Arial" pitchFamily="34" charset="-122"/>
                <a:cs typeface="Arial" pitchFamily="34" charset="-120"/>
              </a:rPr>
              <a:t>Switch directory from the top-right corner of the portal</a:t>
            </a:r>
            <a:endParaRPr lang="en-US" sz="1050" dirty="0"/>
          </a:p>
        </p:txBody>
      </p:sp>
      <p:sp>
        <p:nvSpPr>
          <p:cNvPr id="35" name="Text 33"/>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Problems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PLAN B</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For students the student offer rejects</a:t>
            </a:r>
            <a:endParaRPr lang="en-US" sz="3000" dirty="0"/>
          </a:p>
        </p:txBody>
      </p:sp>
      <p:sp>
        <p:nvSpPr>
          <p:cNvPr id="4" name="Text 2"/>
          <p:cNvSpPr txBox="1"/>
          <p:nvPr/>
        </p:nvSpPr>
        <p:spPr>
          <a:xfrm>
            <a:off x="548640" y="1225296"/>
            <a:ext cx="10881360" cy="274320"/>
          </a:xfrm>
          <a:prstGeom prst="rect">
            <a:avLst/>
          </a:prstGeom>
          <a:noFill/>
          <a:ln/>
        </p:spPr>
        <p:txBody>
          <a:bodyPr wrap="square" lIns="0" tIns="0" rIns="0" bIns="0" rtlCol="0" anchor="ctr"/>
          <a:lstStyle/>
          <a:p>
            <a:pPr indent="0" marL="0">
              <a:buNone/>
            </a:pPr>
            <a:r>
              <a:rPr lang="en-US" sz="1400" dirty="0">
                <a:solidFill>
                  <a:srgbClr val="5A6570"/>
                </a:solidFill>
                <a:latin typeface="Arial" pitchFamily="34" charset="0"/>
                <a:ea typeface="Arial" pitchFamily="34" charset="-122"/>
                <a:cs typeface="Arial" pitchFamily="34" charset="-120"/>
              </a:rPr>
              <a:t>In a room of sixty, expect a handful. Have the answer ready rather than inventing it on the spot.</a:t>
            </a:r>
            <a:endParaRPr lang="en-US" sz="1400" dirty="0"/>
          </a:p>
        </p:txBody>
      </p:sp>
      <p:sp>
        <p:nvSpPr>
          <p:cNvPr id="5" name="Shape 3"/>
          <p:cNvSpPr/>
          <p:nvPr/>
        </p:nvSpPr>
        <p:spPr>
          <a:xfrm>
            <a:off x="548640" y="1737360"/>
            <a:ext cx="5349240" cy="2011680"/>
          </a:xfrm>
          <a:prstGeom prst="rect">
            <a:avLst/>
          </a:prstGeom>
          <a:solidFill>
            <a:srgbClr val="FFFFFF"/>
          </a:solidFill>
          <a:ln w="19050">
            <a:solidFill>
              <a:srgbClr val="0078D4"/>
            </a:solidFill>
            <a:prstDash val="solid"/>
          </a:ln>
        </p:spPr>
      </p:sp>
      <p:sp>
        <p:nvSpPr>
          <p:cNvPr id="6" name="Shape 4"/>
          <p:cNvSpPr/>
          <p:nvPr/>
        </p:nvSpPr>
        <p:spPr>
          <a:xfrm>
            <a:off x="777240" y="1956816"/>
            <a:ext cx="310896" cy="310896"/>
          </a:xfrm>
          <a:prstGeom prst="ellipse">
            <a:avLst/>
          </a:prstGeom>
          <a:solidFill>
            <a:srgbClr val="0078D4"/>
          </a:solidFill>
          <a:ln w="12700">
            <a:solidFill>
              <a:srgbClr val="0078D4"/>
            </a:solidFill>
            <a:prstDash val="solid"/>
          </a:ln>
        </p:spPr>
      </p:sp>
      <p:sp>
        <p:nvSpPr>
          <p:cNvPr id="7" name="Text 5"/>
          <p:cNvSpPr txBox="1"/>
          <p:nvPr/>
        </p:nvSpPr>
        <p:spPr>
          <a:xfrm>
            <a:off x="777240" y="19568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207008" y="1938528"/>
            <a:ext cx="4480560" cy="329184"/>
          </a:xfrm>
          <a:prstGeom prst="rect">
            <a:avLst/>
          </a:prstGeom>
          <a:noFill/>
          <a:ln/>
        </p:spPr>
        <p:txBody>
          <a:bodyPr wrap="square" lIns="0" tIns="0" rIns="0" bIns="0" rtlCol="0" anchor="ctr"/>
          <a:lstStyle/>
          <a:p>
            <a:pPr indent="0" marL="0">
              <a:buNone/>
            </a:pPr>
            <a:r>
              <a:rPr lang="en-US" sz="1500" b="1" dirty="0">
                <a:solidFill>
                  <a:srgbClr val="1B2733"/>
                </a:solidFill>
                <a:latin typeface="Arial" pitchFamily="34" charset="0"/>
                <a:ea typeface="Arial" pitchFamily="34" charset="-122"/>
                <a:cs typeface="Arial" pitchFamily="34" charset="-120"/>
              </a:rPr>
              <a:t>Azure Pass promo code</a:t>
            </a:r>
            <a:endParaRPr lang="en-US" sz="1500" dirty="0"/>
          </a:p>
        </p:txBody>
      </p:sp>
      <p:sp>
        <p:nvSpPr>
          <p:cNvPr id="9" name="Text 7"/>
          <p:cNvSpPr txBox="1"/>
          <p:nvPr/>
        </p:nvSpPr>
        <p:spPr>
          <a:xfrm>
            <a:off x="1207008" y="2340864"/>
            <a:ext cx="4480560" cy="73152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Handed out through Microsoft academic programmes and events. Redeemable without a card.</a:t>
            </a:r>
            <a:endParaRPr lang="en-US" sz="1150" dirty="0"/>
          </a:p>
        </p:txBody>
      </p:sp>
      <p:sp>
        <p:nvSpPr>
          <p:cNvPr id="10" name="Text 8"/>
          <p:cNvSpPr txBox="1"/>
          <p:nvPr/>
        </p:nvSpPr>
        <p:spPr>
          <a:xfrm>
            <a:off x="1207008" y="3127248"/>
            <a:ext cx="4480560" cy="457200"/>
          </a:xfrm>
          <a:prstGeom prst="rect">
            <a:avLst/>
          </a:prstGeom>
          <a:noFill/>
          <a:ln/>
        </p:spPr>
        <p:txBody>
          <a:bodyPr wrap="square" lIns="0" tIns="0" rIns="0" bIns="0" rtlCol="0" anchor="t"/>
          <a:lstStyle/>
          <a:p>
            <a:pPr indent="0" marL="0">
              <a:lnSpc>
                <a:spcPts val="1400"/>
              </a:lnSpc>
              <a:buNone/>
            </a:pPr>
            <a:r>
              <a:rPr lang="en-US" sz="1100" i="1" dirty="0">
                <a:solidFill>
                  <a:srgbClr val="0078D4"/>
                </a:solidFill>
                <a:latin typeface="Arial" pitchFamily="34" charset="0"/>
                <a:ea typeface="Arial" pitchFamily="34" charset="-122"/>
                <a:cs typeface="Arial" pitchFamily="34" charset="-120"/>
              </a:rPr>
              <a:t>Ask the department whether the college holds any.</a:t>
            </a:r>
            <a:endParaRPr lang="en-US" sz="1100" dirty="0"/>
          </a:p>
        </p:txBody>
      </p:sp>
      <p:sp>
        <p:nvSpPr>
          <p:cNvPr id="11" name="Shape 9"/>
          <p:cNvSpPr/>
          <p:nvPr/>
        </p:nvSpPr>
        <p:spPr>
          <a:xfrm>
            <a:off x="6263640" y="1737360"/>
            <a:ext cx="5349240" cy="2011680"/>
          </a:xfrm>
          <a:prstGeom prst="rect">
            <a:avLst/>
          </a:prstGeom>
          <a:solidFill>
            <a:srgbClr val="FFFFFF"/>
          </a:solidFill>
          <a:ln w="19050">
            <a:solidFill>
              <a:srgbClr val="0078D4"/>
            </a:solidFill>
            <a:prstDash val="solid"/>
          </a:ln>
        </p:spPr>
      </p:sp>
      <p:sp>
        <p:nvSpPr>
          <p:cNvPr id="12" name="Shape 10"/>
          <p:cNvSpPr/>
          <p:nvPr/>
        </p:nvSpPr>
        <p:spPr>
          <a:xfrm>
            <a:off x="6492240" y="1956816"/>
            <a:ext cx="310896" cy="310896"/>
          </a:xfrm>
          <a:prstGeom prst="ellipse">
            <a:avLst/>
          </a:prstGeom>
          <a:solidFill>
            <a:srgbClr val="0078D4"/>
          </a:solidFill>
          <a:ln w="12700">
            <a:solidFill>
              <a:srgbClr val="0078D4"/>
            </a:solidFill>
            <a:prstDash val="solid"/>
          </a:ln>
        </p:spPr>
      </p:sp>
      <p:sp>
        <p:nvSpPr>
          <p:cNvPr id="13" name="Text 11"/>
          <p:cNvSpPr txBox="1"/>
          <p:nvPr/>
        </p:nvSpPr>
        <p:spPr>
          <a:xfrm>
            <a:off x="6492240" y="19568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2"/>
          <p:cNvSpPr txBox="1"/>
          <p:nvPr/>
        </p:nvSpPr>
        <p:spPr>
          <a:xfrm>
            <a:off x="6922008" y="1938528"/>
            <a:ext cx="4480560" cy="329184"/>
          </a:xfrm>
          <a:prstGeom prst="rect">
            <a:avLst/>
          </a:prstGeom>
          <a:noFill/>
          <a:ln/>
        </p:spPr>
        <p:txBody>
          <a:bodyPr wrap="square" lIns="0" tIns="0" rIns="0" bIns="0" rtlCol="0" anchor="ctr"/>
          <a:lstStyle/>
          <a:p>
            <a:pPr indent="0" marL="0">
              <a:buNone/>
            </a:pPr>
            <a:r>
              <a:rPr lang="en-US" sz="1500" b="1" dirty="0">
                <a:solidFill>
                  <a:srgbClr val="1B2733"/>
                </a:solidFill>
                <a:latin typeface="Arial" pitchFamily="34" charset="0"/>
                <a:ea typeface="Arial" pitchFamily="34" charset="-122"/>
                <a:cs typeface="Arial" pitchFamily="34" charset="-120"/>
              </a:rPr>
              <a:t>Institutional access</a:t>
            </a:r>
            <a:endParaRPr lang="en-US" sz="1500" dirty="0"/>
          </a:p>
        </p:txBody>
      </p:sp>
      <p:sp>
        <p:nvSpPr>
          <p:cNvPr id="15" name="Text 13"/>
          <p:cNvSpPr txBox="1"/>
          <p:nvPr/>
        </p:nvSpPr>
        <p:spPr>
          <a:xfrm>
            <a:off x="6922008" y="2340864"/>
            <a:ext cx="4480560" cy="73152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Some institutions provide Azure access to classes centrally through the education programme.</a:t>
            </a:r>
            <a:endParaRPr lang="en-US" sz="1150" dirty="0"/>
          </a:p>
        </p:txBody>
      </p:sp>
      <p:sp>
        <p:nvSpPr>
          <p:cNvPr id="16" name="Text 14"/>
          <p:cNvSpPr txBox="1"/>
          <p:nvPr/>
        </p:nvSpPr>
        <p:spPr>
          <a:xfrm>
            <a:off x="6922008" y="3127248"/>
            <a:ext cx="4480560" cy="457200"/>
          </a:xfrm>
          <a:prstGeom prst="rect">
            <a:avLst/>
          </a:prstGeom>
          <a:noFill/>
          <a:ln/>
        </p:spPr>
        <p:txBody>
          <a:bodyPr wrap="square" lIns="0" tIns="0" rIns="0" bIns="0" rtlCol="0" anchor="t"/>
          <a:lstStyle/>
          <a:p>
            <a:pPr indent="0" marL="0">
              <a:lnSpc>
                <a:spcPts val="1400"/>
              </a:lnSpc>
              <a:buNone/>
            </a:pPr>
            <a:r>
              <a:rPr lang="en-US" sz="1100" i="1" dirty="0">
                <a:solidFill>
                  <a:srgbClr val="0078D4"/>
                </a:solidFill>
                <a:latin typeface="Arial" pitchFamily="34" charset="0"/>
                <a:ea typeface="Arial" pitchFamily="34" charset="-122"/>
                <a:cs typeface="Arial" pitchFamily="34" charset="-120"/>
              </a:rPr>
              <a:t>Worth raising with college IT before the course goes further.</a:t>
            </a:r>
            <a:endParaRPr lang="en-US" sz="1100" dirty="0"/>
          </a:p>
        </p:txBody>
      </p:sp>
      <p:sp>
        <p:nvSpPr>
          <p:cNvPr id="17" name="Shape 15"/>
          <p:cNvSpPr/>
          <p:nvPr/>
        </p:nvSpPr>
        <p:spPr>
          <a:xfrm>
            <a:off x="548640" y="3950208"/>
            <a:ext cx="5349240" cy="2011680"/>
          </a:xfrm>
          <a:prstGeom prst="rect">
            <a:avLst/>
          </a:prstGeom>
          <a:solidFill>
            <a:srgbClr val="FFFFFF"/>
          </a:solidFill>
          <a:ln w="19050">
            <a:solidFill>
              <a:srgbClr val="0078D4"/>
            </a:solidFill>
            <a:prstDash val="solid"/>
          </a:ln>
        </p:spPr>
      </p:sp>
      <p:sp>
        <p:nvSpPr>
          <p:cNvPr id="18" name="Shape 16"/>
          <p:cNvSpPr/>
          <p:nvPr/>
        </p:nvSpPr>
        <p:spPr>
          <a:xfrm>
            <a:off x="777240" y="4169664"/>
            <a:ext cx="310896" cy="310896"/>
          </a:xfrm>
          <a:prstGeom prst="ellipse">
            <a:avLst/>
          </a:prstGeom>
          <a:solidFill>
            <a:srgbClr val="0078D4"/>
          </a:solidFill>
          <a:ln w="12700">
            <a:solidFill>
              <a:srgbClr val="0078D4"/>
            </a:solidFill>
            <a:prstDash val="solid"/>
          </a:ln>
        </p:spPr>
      </p:sp>
      <p:sp>
        <p:nvSpPr>
          <p:cNvPr id="19" name="Text 17"/>
          <p:cNvSpPr txBox="1"/>
          <p:nvPr/>
        </p:nvSpPr>
        <p:spPr>
          <a:xfrm>
            <a:off x="77724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txBox="1"/>
          <p:nvPr/>
        </p:nvSpPr>
        <p:spPr>
          <a:xfrm>
            <a:off x="1207008" y="4151376"/>
            <a:ext cx="4480560" cy="329184"/>
          </a:xfrm>
          <a:prstGeom prst="rect">
            <a:avLst/>
          </a:prstGeom>
          <a:noFill/>
          <a:ln/>
        </p:spPr>
        <p:txBody>
          <a:bodyPr wrap="square" lIns="0" tIns="0" rIns="0" bIns="0" rtlCol="0" anchor="ctr"/>
          <a:lstStyle/>
          <a:p>
            <a:pPr indent="0" marL="0">
              <a:buNone/>
            </a:pPr>
            <a:r>
              <a:rPr lang="en-US" sz="1500" b="1" dirty="0">
                <a:solidFill>
                  <a:srgbClr val="1B2733"/>
                </a:solidFill>
                <a:latin typeface="Arial" pitchFamily="34" charset="0"/>
                <a:ea typeface="Arial" pitchFamily="34" charset="-122"/>
                <a:cs typeface="Arial" pitchFamily="34" charset="-120"/>
              </a:rPr>
              <a:t>Pair working</a:t>
            </a:r>
            <a:endParaRPr lang="en-US" sz="1500" dirty="0"/>
          </a:p>
        </p:txBody>
      </p:sp>
      <p:sp>
        <p:nvSpPr>
          <p:cNvPr id="21" name="Text 19"/>
          <p:cNvSpPr txBox="1"/>
          <p:nvPr/>
        </p:nvSpPr>
        <p:spPr>
          <a:xfrm>
            <a:off x="1207008" y="4553712"/>
            <a:ext cx="4480560" cy="73152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Two students, one subscription. The second student watches and runs the CLI parts.</a:t>
            </a:r>
            <a:endParaRPr lang="en-US" sz="1150" dirty="0"/>
          </a:p>
        </p:txBody>
      </p:sp>
      <p:sp>
        <p:nvSpPr>
          <p:cNvPr id="22" name="Text 20"/>
          <p:cNvSpPr txBox="1"/>
          <p:nvPr/>
        </p:nvSpPr>
        <p:spPr>
          <a:xfrm>
            <a:off x="1207008" y="5340096"/>
            <a:ext cx="4480560" cy="457200"/>
          </a:xfrm>
          <a:prstGeom prst="rect">
            <a:avLst/>
          </a:prstGeom>
          <a:noFill/>
          <a:ln/>
        </p:spPr>
        <p:txBody>
          <a:bodyPr wrap="square" lIns="0" tIns="0" rIns="0" bIns="0" rtlCol="0" anchor="t"/>
          <a:lstStyle/>
          <a:p>
            <a:pPr indent="0" marL="0">
              <a:lnSpc>
                <a:spcPts val="1400"/>
              </a:lnSpc>
              <a:buNone/>
            </a:pPr>
            <a:r>
              <a:rPr lang="en-US" sz="1100" i="1" dirty="0">
                <a:solidFill>
                  <a:srgbClr val="0078D4"/>
                </a:solidFill>
                <a:latin typeface="Arial" pitchFamily="34" charset="0"/>
                <a:ea typeface="Arial" pitchFamily="34" charset="-122"/>
                <a:cs typeface="Arial" pitchFamily="34" charset="-120"/>
              </a:rPr>
              <a:t>Not ideal, but far better than sitting out the lab.</a:t>
            </a:r>
            <a:endParaRPr lang="en-US" sz="1100" dirty="0"/>
          </a:p>
        </p:txBody>
      </p:sp>
      <p:sp>
        <p:nvSpPr>
          <p:cNvPr id="23" name="Shape 21"/>
          <p:cNvSpPr/>
          <p:nvPr/>
        </p:nvSpPr>
        <p:spPr>
          <a:xfrm>
            <a:off x="6263640" y="3950208"/>
            <a:ext cx="5349240" cy="2011680"/>
          </a:xfrm>
          <a:prstGeom prst="rect">
            <a:avLst/>
          </a:prstGeom>
          <a:solidFill>
            <a:srgbClr val="FBFCFE"/>
          </a:solidFill>
          <a:ln w="12700">
            <a:solidFill>
              <a:srgbClr val="C3D0DC"/>
            </a:solidFill>
            <a:prstDash val="solid"/>
          </a:ln>
        </p:spPr>
      </p:sp>
      <p:sp>
        <p:nvSpPr>
          <p:cNvPr id="24" name="Shape 22"/>
          <p:cNvSpPr/>
          <p:nvPr/>
        </p:nvSpPr>
        <p:spPr>
          <a:xfrm>
            <a:off x="6492240" y="4169664"/>
            <a:ext cx="310896" cy="310896"/>
          </a:xfrm>
          <a:prstGeom prst="ellipse">
            <a:avLst/>
          </a:prstGeom>
          <a:solidFill>
            <a:srgbClr val="5A6570"/>
          </a:solidFill>
          <a:ln w="12700">
            <a:solidFill>
              <a:srgbClr val="5A6570"/>
            </a:solidFill>
            <a:prstDash val="solid"/>
          </a:ln>
        </p:spPr>
      </p:sp>
      <p:sp>
        <p:nvSpPr>
          <p:cNvPr id="25" name="Text 23"/>
          <p:cNvSpPr txBox="1"/>
          <p:nvPr/>
        </p:nvSpPr>
        <p:spPr>
          <a:xfrm>
            <a:off x="649224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6" name="Text 24"/>
          <p:cNvSpPr txBox="1"/>
          <p:nvPr/>
        </p:nvSpPr>
        <p:spPr>
          <a:xfrm>
            <a:off x="6922008" y="4151376"/>
            <a:ext cx="4480560" cy="329184"/>
          </a:xfrm>
          <a:prstGeom prst="rect">
            <a:avLst/>
          </a:prstGeom>
          <a:noFill/>
          <a:ln/>
        </p:spPr>
        <p:txBody>
          <a:bodyPr wrap="square" lIns="0" tIns="0" rIns="0" bIns="0" rtlCol="0" anchor="ctr"/>
          <a:lstStyle/>
          <a:p>
            <a:pPr indent="0" marL="0">
              <a:buNone/>
            </a:pPr>
            <a:r>
              <a:rPr lang="en-US" sz="1500" b="1" dirty="0">
                <a:solidFill>
                  <a:srgbClr val="1B2733"/>
                </a:solidFill>
                <a:latin typeface="Arial" pitchFamily="34" charset="0"/>
                <a:ea typeface="Arial" pitchFamily="34" charset="-122"/>
                <a:cs typeface="Arial" pitchFamily="34" charset="-120"/>
              </a:rPr>
              <a:t>Standard free account</a:t>
            </a:r>
            <a:endParaRPr lang="en-US" sz="1500" dirty="0"/>
          </a:p>
        </p:txBody>
      </p:sp>
      <p:sp>
        <p:nvSpPr>
          <p:cNvPr id="27" name="Text 25"/>
          <p:cNvSpPr txBox="1"/>
          <p:nvPr/>
        </p:nvSpPr>
        <p:spPr>
          <a:xfrm>
            <a:off x="6922008" y="4553712"/>
            <a:ext cx="4480560" cy="731520"/>
          </a:xfrm>
          <a:prstGeom prst="rect">
            <a:avLst/>
          </a:prstGeom>
          <a:noFill/>
          <a:ln/>
        </p:spPr>
        <p:txBody>
          <a:bodyPr wrap="square" lIns="0" tIns="0" rIns="0" bIns="0" rtlCol="0" anchor="t"/>
          <a:lstStyle/>
          <a:p>
            <a:pPr indent="0" marL="0">
              <a:lnSpc>
                <a:spcPts val="1500"/>
              </a:lnSpc>
              <a:buNone/>
            </a:pPr>
            <a:r>
              <a:rPr lang="en-US" sz="1150" dirty="0">
                <a:solidFill>
                  <a:srgbClr val="5A6570"/>
                </a:solidFill>
                <a:latin typeface="Arial" pitchFamily="34" charset="0"/>
                <a:ea typeface="Arial" pitchFamily="34" charset="-122"/>
                <a:cs typeface="Arial" pitchFamily="34" charset="-120"/>
              </a:rPr>
              <a:t>Works, but needs a real credit or debit card and the window is only 30 days.</a:t>
            </a:r>
            <a:endParaRPr lang="en-US" sz="1150" dirty="0"/>
          </a:p>
        </p:txBody>
      </p:sp>
      <p:sp>
        <p:nvSpPr>
          <p:cNvPr id="28" name="Text 26"/>
          <p:cNvSpPr txBox="1"/>
          <p:nvPr/>
        </p:nvSpPr>
        <p:spPr>
          <a:xfrm>
            <a:off x="6922008" y="5340096"/>
            <a:ext cx="4480560" cy="457200"/>
          </a:xfrm>
          <a:prstGeom prst="rect">
            <a:avLst/>
          </a:prstGeom>
          <a:noFill/>
          <a:ln/>
        </p:spPr>
        <p:txBody>
          <a:bodyPr wrap="square" lIns="0" tIns="0" rIns="0" bIns="0" rtlCol="0" anchor="t"/>
          <a:lstStyle/>
          <a:p>
            <a:pPr indent="0" marL="0">
              <a:lnSpc>
                <a:spcPts val="1400"/>
              </a:lnSpc>
              <a:buNone/>
            </a:pPr>
            <a:r>
              <a:rPr lang="en-US" sz="1100" i="1" dirty="0">
                <a:solidFill>
                  <a:srgbClr val="5A6570"/>
                </a:solidFill>
                <a:latin typeface="Arial" pitchFamily="34" charset="0"/>
                <a:ea typeface="Arial" pitchFamily="34" charset="-122"/>
                <a:cs typeface="Arial" pitchFamily="34" charset="-120"/>
              </a:rPr>
              <a:t>Last resort. Do not push students toward entering card details.</a:t>
            </a:r>
            <a:endParaRPr lang="en-US" sz="1100" dirty="0"/>
          </a:p>
        </p:txBody>
      </p:sp>
      <p:sp>
        <p:nvSpPr>
          <p:cNvPr id="29" name="Text 27"/>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Plan B</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7315200" cy="219456"/>
          </a:xfrm>
          <a:prstGeom prst="rect">
            <a:avLst/>
          </a:prstGeom>
          <a:noFill/>
          <a:ln/>
        </p:spPr>
        <p:txBody>
          <a:bodyPr wrap="square" lIns="0" tIns="0" rIns="0" bIns="0" rtlCol="0" anchor="ctr"/>
          <a:lstStyle/>
          <a:p>
            <a:pPr indent="0" marL="0">
              <a:buNone/>
            </a:pPr>
            <a:r>
              <a:rPr lang="en-US" sz="1000" b="1" spc="150" kern="0" dirty="0">
                <a:solidFill>
                  <a:srgbClr val="E8763A"/>
                </a:solidFill>
                <a:latin typeface="Arial" pitchFamily="34" charset="0"/>
                <a:ea typeface="Arial" pitchFamily="34" charset="-122"/>
                <a:cs typeface="Arial" pitchFamily="34" charset="-120"/>
              </a:rPr>
              <a:t>BEFORE YOU LEAVE THE ROOM</a:t>
            </a:r>
            <a:endParaRPr lang="en-US" sz="1000" dirty="0"/>
          </a:p>
        </p:txBody>
      </p:sp>
      <p:sp>
        <p:nvSpPr>
          <p:cNvPr id="3" name="Text 1"/>
          <p:cNvSpPr txBox="1"/>
          <p:nvPr/>
        </p:nvSpPr>
        <p:spPr>
          <a:xfrm>
            <a:off x="548640" y="530352"/>
            <a:ext cx="11064240" cy="566928"/>
          </a:xfrm>
          <a:prstGeom prst="rect">
            <a:avLst/>
          </a:prstGeom>
          <a:noFill/>
          <a:ln/>
        </p:spPr>
        <p:txBody>
          <a:bodyPr wrap="square" lIns="0" tIns="0" rIns="0" bIns="0" rtlCol="0" anchor="ctr"/>
          <a:lstStyle/>
          <a:p>
            <a:pPr indent="0" marL="0">
              <a:buNone/>
            </a:pPr>
            <a:r>
              <a:rPr lang="en-US" sz="3000" b="1" dirty="0">
                <a:solidFill>
                  <a:srgbClr val="0B2E4F"/>
                </a:solidFill>
                <a:latin typeface="Cambria" pitchFamily="34" charset="0"/>
                <a:ea typeface="Cambria" pitchFamily="34" charset="-122"/>
                <a:cs typeface="Cambria" pitchFamily="34" charset="-120"/>
              </a:rPr>
              <a:t>Five things that must be true</a:t>
            </a:r>
            <a:endParaRPr lang="en-US" sz="3000" dirty="0"/>
          </a:p>
        </p:txBody>
      </p:sp>
      <p:sp>
        <p:nvSpPr>
          <p:cNvPr id="4" name="Shape 2"/>
          <p:cNvSpPr/>
          <p:nvPr/>
        </p:nvSpPr>
        <p:spPr>
          <a:xfrm>
            <a:off x="548640" y="1691640"/>
            <a:ext cx="11064240" cy="658368"/>
          </a:xfrm>
          <a:prstGeom prst="rect">
            <a:avLst/>
          </a:prstGeom>
          <a:solidFill>
            <a:srgbClr val="FFFFFF"/>
          </a:solidFill>
          <a:ln w="9525">
            <a:solidFill>
              <a:srgbClr val="C3D0DC"/>
            </a:solidFill>
            <a:prstDash val="solid"/>
          </a:ln>
        </p:spPr>
      </p:sp>
      <p:sp>
        <p:nvSpPr>
          <p:cNvPr id="5" name="Shape 3"/>
          <p:cNvSpPr/>
          <p:nvPr/>
        </p:nvSpPr>
        <p:spPr>
          <a:xfrm>
            <a:off x="777240" y="1874520"/>
            <a:ext cx="292608" cy="292608"/>
          </a:xfrm>
          <a:prstGeom prst="rect">
            <a:avLst/>
          </a:prstGeom>
          <a:solidFill>
            <a:srgbClr val="FFFFFF"/>
          </a:solidFill>
          <a:ln w="19050">
            <a:solidFill>
              <a:srgbClr val="0078D4"/>
            </a:solidFill>
            <a:prstDash val="solid"/>
          </a:ln>
        </p:spPr>
      </p:sp>
      <p:sp>
        <p:nvSpPr>
          <p:cNvPr id="6" name="Text 4"/>
          <p:cNvSpPr txBox="1"/>
          <p:nvPr/>
        </p:nvSpPr>
        <p:spPr>
          <a:xfrm>
            <a:off x="1234440" y="1691640"/>
            <a:ext cx="10149840" cy="658368"/>
          </a:xfrm>
          <a:prstGeom prst="rect">
            <a:avLst/>
          </a:prstGeom>
          <a:noFill/>
          <a:ln/>
        </p:spPr>
        <p:txBody>
          <a:bodyPr wrap="square" lIns="0" tIns="0" rIns="0" bIns="0" rtlCol="0" anchor="ctr"/>
          <a:lstStyle/>
          <a:p>
            <a:pPr indent="0" marL="0">
              <a:buNone/>
            </a:pPr>
            <a:r>
              <a:rPr lang="en-US" sz="1400" dirty="0">
                <a:solidFill>
                  <a:srgbClr val="1B2733"/>
                </a:solidFill>
                <a:latin typeface="Arial" pitchFamily="34" charset="0"/>
                <a:ea typeface="Arial" pitchFamily="34" charset="-122"/>
                <a:cs typeface="Arial" pitchFamily="34" charset="-120"/>
              </a:rPr>
              <a:t>You can sign in to the Azure portal.</a:t>
            </a:r>
            <a:endParaRPr lang="en-US" sz="1400" dirty="0"/>
          </a:p>
        </p:txBody>
      </p:sp>
      <p:sp>
        <p:nvSpPr>
          <p:cNvPr id="7" name="Shape 5"/>
          <p:cNvSpPr/>
          <p:nvPr/>
        </p:nvSpPr>
        <p:spPr>
          <a:xfrm>
            <a:off x="548640" y="2478024"/>
            <a:ext cx="11064240" cy="658368"/>
          </a:xfrm>
          <a:prstGeom prst="rect">
            <a:avLst/>
          </a:prstGeom>
          <a:solidFill>
            <a:srgbClr val="F4F7FA"/>
          </a:solidFill>
          <a:ln w="9525">
            <a:solidFill>
              <a:srgbClr val="C3D0DC"/>
            </a:solidFill>
            <a:prstDash val="solid"/>
          </a:ln>
        </p:spPr>
      </p:sp>
      <p:sp>
        <p:nvSpPr>
          <p:cNvPr id="8" name="Shape 6"/>
          <p:cNvSpPr/>
          <p:nvPr/>
        </p:nvSpPr>
        <p:spPr>
          <a:xfrm>
            <a:off x="777240" y="2660904"/>
            <a:ext cx="292608" cy="292608"/>
          </a:xfrm>
          <a:prstGeom prst="rect">
            <a:avLst/>
          </a:prstGeom>
          <a:solidFill>
            <a:srgbClr val="FFFFFF"/>
          </a:solidFill>
          <a:ln w="19050">
            <a:solidFill>
              <a:srgbClr val="0078D4"/>
            </a:solidFill>
            <a:prstDash val="solid"/>
          </a:ln>
        </p:spPr>
      </p:sp>
      <p:sp>
        <p:nvSpPr>
          <p:cNvPr id="9" name="Text 7"/>
          <p:cNvSpPr txBox="1"/>
          <p:nvPr/>
        </p:nvSpPr>
        <p:spPr>
          <a:xfrm>
            <a:off x="1234440" y="2478024"/>
            <a:ext cx="10149840" cy="658368"/>
          </a:xfrm>
          <a:prstGeom prst="rect">
            <a:avLst/>
          </a:prstGeom>
          <a:noFill/>
          <a:ln/>
        </p:spPr>
        <p:txBody>
          <a:bodyPr wrap="square" lIns="0" tIns="0" rIns="0" bIns="0" rtlCol="0" anchor="ctr"/>
          <a:lstStyle/>
          <a:p>
            <a:pPr indent="0" marL="0">
              <a:buNone/>
            </a:pPr>
            <a:r>
              <a:rPr lang="en-US" sz="1400" dirty="0">
                <a:solidFill>
                  <a:srgbClr val="1B2733"/>
                </a:solidFill>
                <a:latin typeface="Arial" pitchFamily="34" charset="0"/>
                <a:ea typeface="Arial" pitchFamily="34" charset="-122"/>
                <a:cs typeface="Arial" pitchFamily="34" charset="-120"/>
              </a:rPr>
              <a:t>Subscriptions shows one subscription with the status Active.</a:t>
            </a:r>
            <a:endParaRPr lang="en-US" sz="1400" dirty="0"/>
          </a:p>
        </p:txBody>
      </p:sp>
      <p:sp>
        <p:nvSpPr>
          <p:cNvPr id="10" name="Shape 8"/>
          <p:cNvSpPr/>
          <p:nvPr/>
        </p:nvSpPr>
        <p:spPr>
          <a:xfrm>
            <a:off x="548640" y="3264408"/>
            <a:ext cx="11064240" cy="658368"/>
          </a:xfrm>
          <a:prstGeom prst="rect">
            <a:avLst/>
          </a:prstGeom>
          <a:solidFill>
            <a:srgbClr val="FFFFFF"/>
          </a:solidFill>
          <a:ln w="9525">
            <a:solidFill>
              <a:srgbClr val="C3D0DC"/>
            </a:solidFill>
            <a:prstDash val="solid"/>
          </a:ln>
        </p:spPr>
      </p:sp>
      <p:sp>
        <p:nvSpPr>
          <p:cNvPr id="11" name="Shape 9"/>
          <p:cNvSpPr/>
          <p:nvPr/>
        </p:nvSpPr>
        <p:spPr>
          <a:xfrm>
            <a:off x="777240" y="3447288"/>
            <a:ext cx="292608" cy="292608"/>
          </a:xfrm>
          <a:prstGeom prst="rect">
            <a:avLst/>
          </a:prstGeom>
          <a:solidFill>
            <a:srgbClr val="FFFFFF"/>
          </a:solidFill>
          <a:ln w="19050">
            <a:solidFill>
              <a:srgbClr val="0078D4"/>
            </a:solidFill>
            <a:prstDash val="solid"/>
          </a:ln>
        </p:spPr>
      </p:sp>
      <p:sp>
        <p:nvSpPr>
          <p:cNvPr id="12" name="Text 10"/>
          <p:cNvSpPr txBox="1"/>
          <p:nvPr/>
        </p:nvSpPr>
        <p:spPr>
          <a:xfrm>
            <a:off x="1234440" y="3264408"/>
            <a:ext cx="10149840" cy="658368"/>
          </a:xfrm>
          <a:prstGeom prst="rect">
            <a:avLst/>
          </a:prstGeom>
          <a:noFill/>
          <a:ln/>
        </p:spPr>
        <p:txBody>
          <a:bodyPr wrap="square" lIns="0" tIns="0" rIns="0" bIns="0" rtlCol="0" anchor="ctr"/>
          <a:lstStyle/>
          <a:p>
            <a:pPr indent="0" marL="0">
              <a:buNone/>
            </a:pPr>
            <a:r>
              <a:rPr lang="en-US" sz="1400" dirty="0">
                <a:solidFill>
                  <a:srgbClr val="1B2733"/>
                </a:solidFill>
                <a:latin typeface="Arial" pitchFamily="34" charset="0"/>
                <a:ea typeface="Arial" pitchFamily="34" charset="-122"/>
                <a:cs typeface="Arial" pitchFamily="34" charset="-120"/>
              </a:rPr>
              <a:t>You have written down which account you signed in with.</a:t>
            </a:r>
            <a:endParaRPr lang="en-US" sz="1400" dirty="0"/>
          </a:p>
        </p:txBody>
      </p:sp>
      <p:sp>
        <p:nvSpPr>
          <p:cNvPr id="13" name="Shape 11"/>
          <p:cNvSpPr/>
          <p:nvPr/>
        </p:nvSpPr>
        <p:spPr>
          <a:xfrm>
            <a:off x="548640" y="4050792"/>
            <a:ext cx="11064240" cy="658368"/>
          </a:xfrm>
          <a:prstGeom prst="rect">
            <a:avLst/>
          </a:prstGeom>
          <a:solidFill>
            <a:srgbClr val="F4F7FA"/>
          </a:solidFill>
          <a:ln w="9525">
            <a:solidFill>
              <a:srgbClr val="C3D0DC"/>
            </a:solidFill>
            <a:prstDash val="solid"/>
          </a:ln>
        </p:spPr>
      </p:sp>
      <p:sp>
        <p:nvSpPr>
          <p:cNvPr id="14" name="Shape 12"/>
          <p:cNvSpPr/>
          <p:nvPr/>
        </p:nvSpPr>
        <p:spPr>
          <a:xfrm>
            <a:off x="777240" y="4233672"/>
            <a:ext cx="292608" cy="292608"/>
          </a:xfrm>
          <a:prstGeom prst="rect">
            <a:avLst/>
          </a:prstGeom>
          <a:solidFill>
            <a:srgbClr val="FFFFFF"/>
          </a:solidFill>
          <a:ln w="19050">
            <a:solidFill>
              <a:srgbClr val="0078D4"/>
            </a:solidFill>
            <a:prstDash val="solid"/>
          </a:ln>
        </p:spPr>
      </p:sp>
      <p:sp>
        <p:nvSpPr>
          <p:cNvPr id="15" name="Text 13"/>
          <p:cNvSpPr txBox="1"/>
          <p:nvPr/>
        </p:nvSpPr>
        <p:spPr>
          <a:xfrm>
            <a:off x="1234440" y="4050792"/>
            <a:ext cx="10149840" cy="658368"/>
          </a:xfrm>
          <a:prstGeom prst="rect">
            <a:avLst/>
          </a:prstGeom>
          <a:noFill/>
          <a:ln/>
        </p:spPr>
        <p:txBody>
          <a:bodyPr wrap="square" lIns="0" tIns="0" rIns="0" bIns="0" rtlCol="0" anchor="ctr"/>
          <a:lstStyle/>
          <a:p>
            <a:pPr indent="0" marL="0">
              <a:buNone/>
            </a:pPr>
            <a:r>
              <a:rPr lang="en-US" sz="1400" dirty="0">
                <a:solidFill>
                  <a:srgbClr val="1B2733"/>
                </a:solidFill>
                <a:latin typeface="Arial" pitchFamily="34" charset="0"/>
                <a:ea typeface="Arial" pitchFamily="34" charset="-122"/>
                <a:cs typeface="Arial" pitchFamily="34" charset="-120"/>
              </a:rPr>
              <a:t>You have written down which directory you are in.</a:t>
            </a:r>
            <a:endParaRPr lang="en-US" sz="1400" dirty="0"/>
          </a:p>
        </p:txBody>
      </p:sp>
      <p:sp>
        <p:nvSpPr>
          <p:cNvPr id="16" name="Shape 14"/>
          <p:cNvSpPr/>
          <p:nvPr/>
        </p:nvSpPr>
        <p:spPr>
          <a:xfrm>
            <a:off x="548640" y="4837176"/>
            <a:ext cx="11064240" cy="658368"/>
          </a:xfrm>
          <a:prstGeom prst="rect">
            <a:avLst/>
          </a:prstGeom>
          <a:solidFill>
            <a:srgbClr val="FFFFFF"/>
          </a:solidFill>
          <a:ln w="9525">
            <a:solidFill>
              <a:srgbClr val="C3D0DC"/>
            </a:solidFill>
            <a:prstDash val="solid"/>
          </a:ln>
        </p:spPr>
      </p:sp>
      <p:sp>
        <p:nvSpPr>
          <p:cNvPr id="17" name="Shape 15"/>
          <p:cNvSpPr/>
          <p:nvPr/>
        </p:nvSpPr>
        <p:spPr>
          <a:xfrm>
            <a:off x="777240" y="5020056"/>
            <a:ext cx="292608" cy="292608"/>
          </a:xfrm>
          <a:prstGeom prst="rect">
            <a:avLst/>
          </a:prstGeom>
          <a:solidFill>
            <a:srgbClr val="FFFFFF"/>
          </a:solidFill>
          <a:ln w="19050">
            <a:solidFill>
              <a:srgbClr val="0078D4"/>
            </a:solidFill>
            <a:prstDash val="solid"/>
          </a:ln>
        </p:spPr>
      </p:sp>
      <p:sp>
        <p:nvSpPr>
          <p:cNvPr id="18" name="Text 16"/>
          <p:cNvSpPr txBox="1"/>
          <p:nvPr/>
        </p:nvSpPr>
        <p:spPr>
          <a:xfrm>
            <a:off x="1234440" y="4837176"/>
            <a:ext cx="10149840" cy="658368"/>
          </a:xfrm>
          <a:prstGeom prst="rect">
            <a:avLst/>
          </a:prstGeom>
          <a:noFill/>
          <a:ln/>
        </p:spPr>
        <p:txBody>
          <a:bodyPr wrap="square" lIns="0" tIns="0" rIns="0" bIns="0" rtlCol="0" anchor="ctr"/>
          <a:lstStyle/>
          <a:p>
            <a:pPr indent="0" marL="0">
              <a:buNone/>
            </a:pPr>
            <a:r>
              <a:rPr lang="en-US" sz="1400" dirty="0">
                <a:solidFill>
                  <a:srgbClr val="1B2733"/>
                </a:solidFill>
                <a:latin typeface="Arial" pitchFamily="34" charset="0"/>
                <a:ea typeface="Arial" pitchFamily="34" charset="-122"/>
                <a:cs typeface="Arial" pitchFamily="34" charset="-120"/>
              </a:rPr>
              <a:t>You have opened Cost Management once and seen a zero.</a:t>
            </a:r>
            <a:endParaRPr lang="en-US" sz="1400" dirty="0"/>
          </a:p>
        </p:txBody>
      </p:sp>
      <p:sp>
        <p:nvSpPr>
          <p:cNvPr id="19" name="Shape 17"/>
          <p:cNvSpPr/>
          <p:nvPr/>
        </p:nvSpPr>
        <p:spPr>
          <a:xfrm>
            <a:off x="548640" y="5715000"/>
            <a:ext cx="11064240" cy="713232"/>
          </a:xfrm>
          <a:prstGeom prst="rect">
            <a:avLst/>
          </a:prstGeom>
          <a:solidFill>
            <a:srgbClr val="FDF0E7"/>
          </a:solidFill>
          <a:ln w="12700">
            <a:solidFill>
              <a:srgbClr val="E8763A"/>
            </a:solidFill>
            <a:prstDash val="solid"/>
          </a:ln>
        </p:spPr>
      </p:sp>
      <p:sp>
        <p:nvSpPr>
          <p:cNvPr id="20" name="Text 18"/>
          <p:cNvSpPr txBox="1"/>
          <p:nvPr/>
        </p:nvSpPr>
        <p:spPr>
          <a:xfrm>
            <a:off x="804672" y="5715000"/>
            <a:ext cx="10515600" cy="713232"/>
          </a:xfrm>
          <a:prstGeom prst="rect">
            <a:avLst/>
          </a:prstGeom>
          <a:noFill/>
          <a:ln/>
        </p:spPr>
        <p:txBody>
          <a:bodyPr wrap="square" lIns="0" tIns="0" rIns="0" bIns="0" rtlCol="0" anchor="ctr"/>
          <a:lstStyle/>
          <a:p>
            <a:pPr indent="0" marL="0">
              <a:buNone/>
            </a:pPr>
            <a:r>
              <a:rPr lang="en-US" sz="1300" b="1" dirty="0">
                <a:solidFill>
                  <a:srgbClr val="E8763A"/>
                </a:solidFill>
                <a:latin typeface="Arial" pitchFamily="34" charset="0"/>
                <a:ea typeface="Arial" pitchFamily="34" charset="-122"/>
                <a:cs typeface="Arial" pitchFamily="34" charset="-120"/>
              </a:rPr>
              <a:t>Next lab:  create a resource group and your first virtual machine - through the portal, then the same thing in three CLI commands.</a:t>
            </a:r>
            <a:endParaRPr lang="en-US" sz="1300" dirty="0"/>
          </a:p>
        </p:txBody>
      </p:sp>
      <p:sp>
        <p:nvSpPr>
          <p:cNvPr id="21" name="Text 19"/>
          <p:cNvSpPr txBox="1"/>
          <p:nvPr/>
        </p:nvSpPr>
        <p:spPr>
          <a:xfrm>
            <a:off x="9509760" y="6419088"/>
            <a:ext cx="2194560" cy="219456"/>
          </a:xfrm>
          <a:prstGeom prst="rect">
            <a:avLst/>
          </a:prstGeom>
          <a:noFill/>
          <a:ln/>
        </p:spPr>
        <p:txBody>
          <a:bodyPr wrap="square" lIns="0" tIns="0" rIns="0" bIns="0" rtlCol="0" anchor="ctr"/>
          <a:lstStyle/>
          <a:p>
            <a:pPr algn="r" indent="0" marL="0">
              <a:buNone/>
            </a:pPr>
            <a:r>
              <a:rPr lang="en-US" sz="800" dirty="0">
                <a:solidFill>
                  <a:srgbClr val="5A6570"/>
                </a:solidFill>
                <a:latin typeface="Arial" pitchFamily="34" charset="0"/>
                <a:ea typeface="Arial" pitchFamily="34" charset="-122"/>
                <a:cs typeface="Arial" pitchFamily="34" charset="-120"/>
              </a:rPr>
              <a:t>Lab 00  |  Checklist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Lab 00 - Create Your Azure Account</dc:title>
  <dc:subject>PptxGenJS Presentation</dc:subject>
  <dc:creator>IIMT University, Meerut</dc:creator>
  <cp:lastModifiedBy>IIMT University, Meerut</cp:lastModifiedBy>
  <cp:revision>1</cp:revision>
  <dcterms:created xsi:type="dcterms:W3CDTF">2026-09-14T13:12:02Z</dcterms:created>
  <dcterms:modified xsi:type="dcterms:W3CDTF">2026-09-14T13:12:02Z</dcterms:modified>
</cp:coreProperties>
</file>